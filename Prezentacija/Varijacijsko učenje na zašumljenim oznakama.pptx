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60" r:id="rId1"/>
  </p:sldMasterIdLst>
  <p:notesMasterIdLst>
    <p:notesMasterId r:id="rId27"/>
  </p:notesMasterIdLst>
  <p:sldIdLst>
    <p:sldId id="256" r:id="rId2"/>
    <p:sldId id="257" r:id="rId3"/>
    <p:sldId id="258" r:id="rId4"/>
    <p:sldId id="263" r:id="rId5"/>
    <p:sldId id="275" r:id="rId6"/>
    <p:sldId id="288" r:id="rId7"/>
    <p:sldId id="276" r:id="rId8"/>
    <p:sldId id="265" r:id="rId9"/>
    <p:sldId id="289" r:id="rId10"/>
    <p:sldId id="286" r:id="rId11"/>
    <p:sldId id="274" r:id="rId12"/>
    <p:sldId id="277" r:id="rId13"/>
    <p:sldId id="266" r:id="rId14"/>
    <p:sldId id="267" r:id="rId15"/>
    <p:sldId id="278" r:id="rId16"/>
    <p:sldId id="279" r:id="rId17"/>
    <p:sldId id="287" r:id="rId18"/>
    <p:sldId id="270" r:id="rId19"/>
    <p:sldId id="283" r:id="rId20"/>
    <p:sldId id="282" r:id="rId21"/>
    <p:sldId id="284" r:id="rId22"/>
    <p:sldId id="280" r:id="rId23"/>
    <p:sldId id="271" r:id="rId24"/>
    <p:sldId id="285" r:id="rId25"/>
    <p:sldId id="273" r:id="rId2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CB937"/>
    <a:srgbClr val="31B0E9"/>
    <a:srgbClr val="AE73B1"/>
    <a:srgbClr val="B898D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92" d="100"/>
          <a:sy n="92" d="100"/>
        </p:scale>
        <p:origin x="2224" y="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notesMaster" Target="notesMasters/notesMaster1.xml"/><Relationship Id="rId30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hr-HR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EC22A23-FA0E-43FF-AD6A-5A9DC9E7A77F}" type="datetimeFigureOut">
              <a:rPr lang="hr-HR" smtClean="0"/>
              <a:t>11.7.2025.</a:t>
            </a:fld>
            <a:endParaRPr lang="hr-HR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hr-HR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r-H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hr-H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9F8539C-3157-43D8-9A64-3BC58E37B14C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187912311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FA3594-D166-D4D2-F3A3-9C129E1499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57D4C0A-C4CA-F5FF-D87B-10990B3FFFC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CF559EC-C54B-7F0A-B51F-F3816D52698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r-HR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C40772C-CF73-BD09-0D50-D14304D81B6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F8539C-3157-43D8-9A64-3BC58E37B14C}" type="slidenum">
              <a:rPr lang="hr-HR" smtClean="0"/>
              <a:t>6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328995030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r-H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F8539C-3157-43D8-9A64-3BC58E37B14C}" type="slidenum">
              <a:rPr lang="hr-HR" smtClean="0"/>
              <a:t>7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147275370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r-H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F8539C-3157-43D8-9A64-3BC58E37B14C}" type="slidenum">
              <a:rPr lang="hr-HR" smtClean="0"/>
              <a:t>15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413316023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r-H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F8539C-3157-43D8-9A64-3BC58E37B14C}" type="slidenum">
              <a:rPr lang="hr-HR" smtClean="0"/>
              <a:t>18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254152298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261872" y="758952"/>
            <a:ext cx="9418320" cy="4041648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7200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61872" y="4800600"/>
            <a:ext cx="9418320" cy="1691640"/>
          </a:xfrm>
        </p:spPr>
        <p:txBody>
          <a:bodyPr>
            <a:normAutofit/>
          </a:bodyPr>
          <a:lstStyle>
            <a:lvl1pPr marL="0" indent="0" algn="l">
              <a:buNone/>
              <a:defRPr sz="2200" spc="30" baseline="0">
                <a:solidFill>
                  <a:schemeClr val="tx1">
                    <a:lumMod val="75000"/>
                  </a:schemeClr>
                </a:solidFill>
              </a:defRPr>
            </a:lvl1pPr>
            <a:lvl2pPr marL="457200" indent="0" algn="ctr">
              <a:buNone/>
              <a:defRPr sz="2200"/>
            </a:lvl2pPr>
            <a:lvl3pPr marL="914400" indent="0" algn="ctr">
              <a:buNone/>
              <a:defRPr sz="22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chemeClr val="bg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F0DB6F-6EB1-4D7D-9BCC-E96C905FFC52}" type="datetime1">
              <a:rPr lang="hr-HR" smtClean="0"/>
              <a:t>11.7.2025.</a:t>
            </a:fld>
            <a:endParaRPr lang="hr-HR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44E4AE-4F6C-4F0B-AD47-A5E219CBC21D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165030736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657D9C-C0AF-48FA-BBAF-7CAA57C23F8E}" type="datetime1">
              <a:rPr lang="hr-HR" smtClean="0"/>
              <a:t>11.7.2025.</a:t>
            </a:fld>
            <a:endParaRPr lang="hr-H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44E4AE-4F6C-4F0B-AD47-A5E219CBC21D}" type="slidenum">
              <a:rPr lang="hr-HR" smtClean="0"/>
              <a:t>‹#›</a:t>
            </a:fld>
            <a:endParaRPr lang="hr-HR"/>
          </a:p>
        </p:txBody>
      </p:sp>
      <p:sp>
        <p:nvSpPr>
          <p:cNvPr id="8" name="Rectangle 7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chemeClr val="tx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266500305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61872" y="758952"/>
            <a:ext cx="9418320" cy="4041648"/>
          </a:xfrm>
        </p:spPr>
        <p:txBody>
          <a:bodyPr anchor="b">
            <a:normAutofit/>
          </a:bodyPr>
          <a:lstStyle>
            <a:lvl1pPr>
              <a:lnSpc>
                <a:spcPct val="85000"/>
              </a:lnSpc>
              <a:defRPr sz="7200" b="1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61872" y="4800600"/>
            <a:ext cx="9418320" cy="1691640"/>
          </a:xfrm>
        </p:spPr>
        <p:txBody>
          <a:bodyPr anchor="t">
            <a:normAutofit/>
          </a:bodyPr>
          <a:lstStyle>
            <a:lvl1pPr marL="0" indent="0">
              <a:buNone/>
              <a:defRPr sz="2200" spc="30" baseline="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E6B098-981F-45CA-83FF-788349BDC294}" type="datetime1">
              <a:rPr lang="hr-HR" smtClean="0"/>
              <a:t>11.7.2025.</a:t>
            </a:fld>
            <a:endParaRPr lang="hr-H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44E4AE-4F6C-4F0B-AD47-A5E219CBC21D}" type="slidenum">
              <a:rPr lang="hr-HR" smtClean="0"/>
              <a:t>‹#›</a:t>
            </a:fld>
            <a:endParaRPr lang="hr-HR"/>
          </a:p>
        </p:txBody>
      </p:sp>
      <p:sp>
        <p:nvSpPr>
          <p:cNvPr id="8" name="Rectangle 7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chemeClr val="tx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22980580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261872" y="1828800"/>
            <a:ext cx="4480560" cy="43513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6480" y="1828800"/>
            <a:ext cx="4480560" cy="43513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06E4C2-5A97-4809-9A3F-0AD2CD797138}" type="datetime1">
              <a:rPr lang="hr-HR" smtClean="0"/>
              <a:t>11.7.2025.</a:t>
            </a:fld>
            <a:endParaRPr lang="hr-H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44E4AE-4F6C-4F0B-AD47-A5E219CBC21D}" type="slidenum">
              <a:rPr lang="hr-HR" smtClean="0"/>
              <a:t>‹#›</a:t>
            </a:fld>
            <a:endParaRPr lang="hr-HR"/>
          </a:p>
        </p:txBody>
      </p:sp>
      <p:sp>
        <p:nvSpPr>
          <p:cNvPr id="8" name="Rectangle 7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chemeClr val="tx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112519315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61872" y="1713655"/>
            <a:ext cx="4480560" cy="731520"/>
          </a:xfrm>
        </p:spPr>
        <p:txBody>
          <a:bodyPr anchor="b">
            <a:normAutofit/>
          </a:bodyPr>
          <a:lstStyle>
            <a:lvl1pPr marL="0" indent="0">
              <a:spcBef>
                <a:spcPts val="0"/>
              </a:spcBef>
              <a:buNone/>
              <a:defRPr sz="2000" b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261872" y="2507550"/>
            <a:ext cx="4480560" cy="3664650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26480" y="1713655"/>
            <a:ext cx="4480560" cy="731520"/>
          </a:xfrm>
        </p:spPr>
        <p:txBody>
          <a:bodyPr anchor="b">
            <a:normAutofit/>
          </a:bodyPr>
          <a:lstStyle>
            <a:lvl1pPr marL="0" indent="0">
              <a:lnSpc>
                <a:spcPct val="95000"/>
              </a:lnSpc>
              <a:spcBef>
                <a:spcPts val="0"/>
              </a:spcBef>
              <a:buNone/>
              <a:defRPr lang="en-US" sz="2000" b="0" kern="120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2000"/>
              </a:spcBef>
              <a:buFontTx/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26480" y="2507550"/>
            <a:ext cx="4480560" cy="3664650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60B546-6293-4D30-BD97-A6B6A01C90BF}" type="datetime1">
              <a:rPr lang="hr-HR" smtClean="0"/>
              <a:t>11.7.2025.</a:t>
            </a:fld>
            <a:endParaRPr lang="hr-H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44E4AE-4F6C-4F0B-AD47-A5E219CBC21D}" type="slidenum">
              <a:rPr lang="hr-HR" smtClean="0"/>
              <a:t>‹#›</a:t>
            </a:fld>
            <a:endParaRPr lang="hr-HR"/>
          </a:p>
        </p:txBody>
      </p:sp>
      <p:sp>
        <p:nvSpPr>
          <p:cNvPr id="11" name="Rectangle 10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chemeClr val="tx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343202005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F7632D-88EC-4C5E-9269-EEF5AECE77DB}" type="datetime1">
              <a:rPr lang="hr-HR" smtClean="0"/>
              <a:t>11.7.2025.</a:t>
            </a:fld>
            <a:endParaRPr lang="hr-H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44E4AE-4F6C-4F0B-AD47-A5E219CBC21D}" type="slidenum">
              <a:rPr lang="hr-HR" smtClean="0"/>
              <a:t>‹#›</a:t>
            </a:fld>
            <a:endParaRPr lang="hr-HR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chemeClr val="tx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28365205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E43FE3-F849-413C-9C82-49701E1B3EF3}" type="datetime1">
              <a:rPr lang="hr-HR" smtClean="0"/>
              <a:t>11.7.2025.</a:t>
            </a:fld>
            <a:endParaRPr lang="hr-HR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44E4AE-4F6C-4F0B-AD47-A5E219CBC21D}" type="slidenum">
              <a:rPr lang="hr-HR" smtClean="0"/>
              <a:t>‹#›</a:t>
            </a:fld>
            <a:endParaRPr lang="hr-H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chemeClr val="tx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36756685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1248" y="457200"/>
            <a:ext cx="3200400" cy="1600197"/>
          </a:xfrm>
        </p:spPr>
        <p:txBody>
          <a:bodyPr anchor="b">
            <a:normAutofit/>
          </a:bodyPr>
          <a:lstStyle>
            <a:lvl1pPr>
              <a:defRPr sz="2800" b="1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04267" y="685800"/>
            <a:ext cx="6079066" cy="548640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41248" y="2099734"/>
            <a:ext cx="3200400" cy="3810001"/>
          </a:xfrm>
        </p:spPr>
        <p:txBody>
          <a:bodyPr>
            <a:normAutofit/>
          </a:bodyPr>
          <a:lstStyle>
            <a:lvl1pPr marL="0" indent="0">
              <a:lnSpc>
                <a:spcPct val="114000"/>
              </a:lnSpc>
              <a:spcBef>
                <a:spcPts val="800"/>
              </a:spcBef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8D4826-6613-4A6F-B53D-11761422A9FC}" type="datetime1">
              <a:rPr lang="hr-HR" smtClean="0"/>
              <a:t>11.7.2025.</a:t>
            </a:fld>
            <a:endParaRPr lang="hr-H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44E4AE-4F6C-4F0B-AD47-A5E219CBC21D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98855406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5105400"/>
            <a:ext cx="11292840" cy="17526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4400" y="5257800"/>
            <a:ext cx="9982200" cy="914400"/>
          </a:xfrm>
        </p:spPr>
        <p:txBody>
          <a:bodyPr anchor="b">
            <a:normAutofit/>
          </a:bodyPr>
          <a:lstStyle>
            <a:lvl1pPr>
              <a:defRPr sz="2800" b="1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0" y="0"/>
            <a:ext cx="11292840" cy="5128923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4400" y="6108589"/>
            <a:ext cx="9982200" cy="597011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800"/>
              </a:spcBef>
              <a:buNone/>
              <a:defRPr sz="1400" baseline="0">
                <a:solidFill>
                  <a:schemeClr val="bg1">
                    <a:lumMod val="75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3A042B-28D4-4EE9-A191-0F90C01EB3D9}" type="datetime1">
              <a:rPr lang="hr-HR" smtClean="0"/>
              <a:t>11.7.2025.</a:t>
            </a:fld>
            <a:endParaRPr lang="hr-H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44E4AE-4F6C-4F0B-AD47-A5E219CBC21D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279311118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897EE-C1D5-4E52-876C-358FABA2E6DD}" type="datetime1">
              <a:rPr lang="hr-HR" smtClean="0"/>
              <a:t>11.7.2025.</a:t>
            </a:fld>
            <a:endParaRPr lang="hr-H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44E4AE-4F6C-4F0B-AD47-A5E219CBC21D}" type="slidenum">
              <a:rPr lang="hr-HR" smtClean="0"/>
              <a:t>‹#›</a:t>
            </a:fld>
            <a:endParaRPr lang="hr-HR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chemeClr val="tx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292573334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648700" y="381000"/>
            <a:ext cx="2476500" cy="5897562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62000" y="381000"/>
            <a:ext cx="7734300" cy="5897562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F014D-1E5A-4CE6-87B2-A696E1D2C514}" type="datetime1">
              <a:rPr lang="hr-HR" smtClean="0"/>
              <a:t>11.7.2025.</a:t>
            </a:fld>
            <a:endParaRPr lang="hr-H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44E4AE-4F6C-4F0B-AD47-A5E219CBC21D}" type="slidenum">
              <a:rPr lang="hr-HR" smtClean="0"/>
              <a:t>‹#›</a:t>
            </a:fld>
            <a:endParaRPr lang="hr-HR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chemeClr val="tx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276468438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1292840" y="0"/>
            <a:ext cx="9144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261872" y="294198"/>
            <a:ext cx="9692640" cy="1397124"/>
          </a:xfrm>
          <a:prstGeom prst="rect">
            <a:avLst/>
          </a:prstGeom>
        </p:spPr>
        <p:txBody>
          <a:bodyPr vert="horz" lIns="91440" tIns="27432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61872" y="1828800"/>
            <a:ext cx="8595360" cy="435133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16200000">
            <a:off x="10797542" y="998537"/>
            <a:ext cx="19049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 b="0">
                <a:solidFill>
                  <a:schemeClr val="accent1">
                    <a:lumMod val="40000"/>
                    <a:lumOff val="60000"/>
                  </a:schemeClr>
                </a:solidFill>
              </a:defRPr>
            </a:lvl1pPr>
          </a:lstStyle>
          <a:p>
            <a:fld id="{DE49A88E-18D6-498E-8265-50D671D76CD0}" type="datetime1">
              <a:rPr lang="hr-HR" smtClean="0"/>
              <a:t>11.7.2025.</a:t>
            </a:fld>
            <a:endParaRPr lang="hr-H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16200000">
            <a:off x="9959341" y="4046537"/>
            <a:ext cx="3581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accent1">
                    <a:lumMod val="40000"/>
                    <a:lumOff val="60000"/>
                  </a:schemeClr>
                </a:solidFill>
              </a:defRPr>
            </a:lvl1pPr>
          </a:lstStyle>
          <a:p>
            <a:endParaRPr lang="hr-H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292840" y="6172200"/>
            <a:ext cx="914400" cy="593725"/>
          </a:xfrm>
          <a:prstGeom prst="rect">
            <a:avLst/>
          </a:prstGeom>
        </p:spPr>
        <p:txBody>
          <a:bodyPr vert="horz" lIns="45720" tIns="45720" rIns="45720" bIns="45720" rtlCol="0" anchor="ctr">
            <a:normAutofit/>
          </a:bodyPr>
          <a:lstStyle>
            <a:lvl1pPr algn="ctr">
              <a:defRPr sz="3600">
                <a:solidFill>
                  <a:schemeClr val="accent1">
                    <a:lumMod val="60000"/>
                    <a:lumOff val="40000"/>
                  </a:schemeClr>
                </a:solidFill>
                <a:latin typeface="+mj-lt"/>
              </a:defRPr>
            </a:lvl1pPr>
          </a:lstStyle>
          <a:p>
            <a:fld id="{CF44E4AE-4F6C-4F0B-AD47-A5E219CBC21D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253755301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1" kern="1200" spc="-50" baseline="0">
          <a:solidFill>
            <a:schemeClr val="accent1"/>
          </a:solidFill>
          <a:latin typeface="+mj-lt"/>
          <a:ea typeface="+mj-ea"/>
          <a:cs typeface="+mj-cs"/>
        </a:defRPr>
      </a:lvl1pPr>
    </p:titleStyle>
    <p:bodyStyle>
      <a:lvl1pPr marL="182880" indent="-182880" algn="l" defTabSz="914400" rtl="0" eaLnBrk="1" latinLnBrk="0" hangingPunct="1">
        <a:lnSpc>
          <a:spcPct val="95000"/>
        </a:lnSpc>
        <a:spcBef>
          <a:spcPts val="1400"/>
        </a:spcBef>
        <a:spcAft>
          <a:spcPts val="200"/>
        </a:spcAft>
        <a:buClr>
          <a:schemeClr val="accent1"/>
        </a:buClr>
        <a:buSzPct val="80000"/>
        <a:buFont typeface="Arial" pitchFamily="34" charset="0"/>
        <a:buChar char="•"/>
        <a:defRPr sz="2000" kern="1200" spc="10" baseline="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1pPr>
      <a:lvl2pPr marL="457200" indent="-18288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8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2pPr>
      <a:lvl3pPr marL="731520" indent="-18288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6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3pPr>
      <a:lvl4pPr marL="1005840" indent="-18288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4pPr>
      <a:lvl5pPr marL="1280160" indent="-18288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5pPr>
      <a:lvl6pPr marL="1600000" indent="-22860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6pPr>
      <a:lvl7pPr marL="1900000" indent="-22860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7pPr>
      <a:lvl8pPr marL="2200000" indent="-22860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8pPr>
      <a:lvl9pPr marL="2500000" indent="-22860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abs/2503.08829" TargetMode="External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proceedings.neurips.cc/paper_files/paper/2024/hash/6de71272e0be559af3f76b884e94794b-Abstract-Conference.html" TargetMode="External"/><Relationship Id="rId4" Type="http://schemas.openxmlformats.org/officeDocument/2006/relationships/image" Target="../media/image18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hyperlink" Target="https://arxiv.org/abs/2503.08829" TargetMode="Externa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545EDA-9C80-8E20-925A-0489CE3EA2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03177" y="758952"/>
            <a:ext cx="10315851" cy="4041648"/>
          </a:xfrm>
        </p:spPr>
        <p:txBody>
          <a:bodyPr anchor="b">
            <a:normAutofit/>
          </a:bodyPr>
          <a:lstStyle/>
          <a:p>
            <a:r>
              <a:rPr lang="hr-HR" noProof="0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Varijacijsko učenje na zašumljenim oznakama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2C22362-F1A1-CF1A-E4F9-C24BDB89C5E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003178" y="4800600"/>
            <a:ext cx="10315851" cy="1691640"/>
          </a:xfrm>
        </p:spPr>
        <p:txBody>
          <a:bodyPr anchor="t">
            <a:normAutofit/>
          </a:bodyPr>
          <a:lstStyle/>
          <a:p>
            <a:endParaRPr lang="hr-HR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Autor: Dominik </a:t>
            </a:r>
            <a:r>
              <a:rPr lang="hr-HR" noProof="0" dirty="0">
                <a:latin typeface="Arial" panose="020B0604020202020204" pitchFamily="34" charset="0"/>
                <a:cs typeface="Arial" panose="020B0604020202020204" pitchFamily="34" charset="0"/>
              </a:rPr>
              <a:t>Jambrovi</a:t>
            </a:r>
            <a:r>
              <a:rPr lang="hr-HR" dirty="0">
                <a:latin typeface="Arial" panose="020B0604020202020204" pitchFamily="34" charset="0"/>
                <a:cs typeface="Arial" panose="020B0604020202020204" pitchFamily="34" charset="0"/>
              </a:rPr>
              <a:t>ć</a:t>
            </a:r>
          </a:p>
          <a:p>
            <a:r>
              <a:rPr lang="hr-HR" dirty="0">
                <a:latin typeface="Arial" panose="020B0604020202020204" pitchFamily="34" charset="0"/>
                <a:cs typeface="Arial" panose="020B0604020202020204" pitchFamily="34" charset="0"/>
              </a:rPr>
              <a:t>Voditelji: Ivan Sabolić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hr-HR" dirty="0">
                <a:latin typeface="Arial" panose="020B0604020202020204" pitchFamily="34" charset="0"/>
                <a:cs typeface="Arial" panose="020B0604020202020204" pitchFamily="34" charset="0"/>
              </a:rPr>
              <a:t>Siniša Šegvić</a:t>
            </a:r>
          </a:p>
        </p:txBody>
      </p:sp>
    </p:spTree>
    <p:extLst>
      <p:ext uri="{BB962C8B-B14F-4D97-AF65-F5344CB8AC3E}">
        <p14:creationId xmlns:p14="http://schemas.microsoft.com/office/powerpoint/2010/main" val="280581743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C517BC-F7BD-0701-56EA-D6A1FE2163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dirty="0">
                <a:latin typeface="Arial" panose="020B0604020202020204" pitchFamily="34" charset="0"/>
                <a:cs typeface="Arial" panose="020B0604020202020204" pitchFamily="34" charset="0"/>
              </a:rPr>
              <a:t>Sadržaj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14F33C4-ED8A-1EB1-D91E-FFB64A9A2C1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61872" y="1593668"/>
            <a:ext cx="8595360" cy="4735002"/>
          </a:xfrm>
        </p:spPr>
        <p:txBody>
          <a:bodyPr>
            <a:normAutofit fontScale="92500" lnSpcReduction="10000"/>
          </a:bodyPr>
          <a:lstStyle/>
          <a:p>
            <a:pPr marL="514350" indent="-514350">
              <a:buFont typeface="+mj-lt"/>
              <a:buAutoNum type="arabicPeriod"/>
            </a:pPr>
            <a:endParaRPr lang="hr-HR" sz="2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14350" indent="-514350">
              <a:buFont typeface="+mj-lt"/>
              <a:buAutoNum type="arabicPeriod"/>
            </a:pPr>
            <a:r>
              <a:rPr lang="hr-HR" sz="2800" dirty="0">
                <a:latin typeface="Arial" panose="020B0604020202020204" pitchFamily="34" charset="0"/>
                <a:cs typeface="Arial" panose="020B0604020202020204" pitchFamily="34" charset="0"/>
              </a:rPr>
              <a:t>Uvod</a:t>
            </a:r>
          </a:p>
          <a:p>
            <a:pPr marL="514350" indent="-514350">
              <a:buFont typeface="+mj-lt"/>
              <a:buAutoNum type="arabicPeriod"/>
            </a:pPr>
            <a:r>
              <a:rPr lang="hr-HR" sz="2800" dirty="0">
                <a:latin typeface="Arial" panose="020B0604020202020204" pitchFamily="34" charset="0"/>
                <a:cs typeface="Arial" panose="020B0604020202020204" pitchFamily="34" charset="0"/>
              </a:rPr>
              <a:t>Napadi umetanjem stražnjih vrata</a:t>
            </a:r>
          </a:p>
          <a:p>
            <a:pPr marL="514350" indent="-514350">
              <a:buFont typeface="+mj-lt"/>
              <a:buAutoNum type="arabicPeriod"/>
            </a:pPr>
            <a:r>
              <a:rPr lang="hr-HR" sz="2800" dirty="0">
                <a:latin typeface="Arial" panose="020B0604020202020204" pitchFamily="34" charset="0"/>
                <a:cs typeface="Arial" panose="020B0604020202020204" pitchFamily="34" charset="0"/>
              </a:rPr>
              <a:t>Zašumljene oznake</a:t>
            </a:r>
          </a:p>
          <a:p>
            <a:pPr marL="514350" indent="-514350">
              <a:buFont typeface="+mj-lt"/>
              <a:buAutoNum type="arabicPeriod"/>
            </a:pPr>
            <a:r>
              <a:rPr lang="hr-HR" sz="2800" noProof="0" dirty="0">
                <a:latin typeface="Arial" panose="020B0604020202020204" pitchFamily="34" charset="0"/>
                <a:cs typeface="Arial" panose="020B0604020202020204" pitchFamily="34" charset="0"/>
              </a:rPr>
              <a:t>Okvir VIBE</a:t>
            </a:r>
          </a:p>
          <a:p>
            <a:pPr marL="514350" indent="-514350">
              <a:buFont typeface="+mj-lt"/>
              <a:buAutoNum type="arabicPeriod"/>
            </a:pPr>
            <a:r>
              <a:rPr lang="hr-HR" sz="2800" noProof="0" dirty="0">
                <a:latin typeface="Arial" panose="020B0604020202020204" pitchFamily="34" charset="0"/>
                <a:cs typeface="Arial" panose="020B0604020202020204" pitchFamily="34" charset="0"/>
              </a:rPr>
              <a:t>Konzistencijski gubitak</a:t>
            </a:r>
          </a:p>
          <a:p>
            <a:pPr marL="514350" indent="-514350">
              <a:buFont typeface="+mj-lt"/>
              <a:buAutoNum type="arabicPeriod"/>
            </a:pPr>
            <a:r>
              <a:rPr lang="hr-HR" sz="2800" dirty="0">
                <a:latin typeface="Arial" panose="020B0604020202020204" pitchFamily="34" charset="0"/>
                <a:cs typeface="Arial" panose="020B0604020202020204" pitchFamily="34" charset="0"/>
              </a:rPr>
              <a:t>Eksperimenti</a:t>
            </a:r>
          </a:p>
          <a:p>
            <a:pPr marL="514350" indent="-514350">
              <a:buFont typeface="+mj-lt"/>
              <a:buAutoNum type="arabicPeriod"/>
            </a:pPr>
            <a:r>
              <a:rPr lang="hr-HR" sz="2800" dirty="0">
                <a:latin typeface="Arial" panose="020B0604020202020204" pitchFamily="34" charset="0"/>
                <a:cs typeface="Arial" panose="020B0604020202020204" pitchFamily="34" charset="0"/>
              </a:rPr>
              <a:t>Zaključak i budući rad</a:t>
            </a:r>
          </a:p>
          <a:p>
            <a:pPr marL="514350" indent="-514350">
              <a:buFont typeface="+mj-lt"/>
              <a:buAutoNum type="arabicPeriod"/>
            </a:pPr>
            <a:r>
              <a:rPr lang="hr-HR" sz="2800" dirty="0">
                <a:latin typeface="Arial" panose="020B0604020202020204" pitchFamily="34" charset="0"/>
                <a:cs typeface="Arial" panose="020B0604020202020204" pitchFamily="34" charset="0"/>
              </a:rPr>
              <a:t>Diskusija</a:t>
            </a:r>
          </a:p>
        </p:txBody>
      </p:sp>
    </p:spTree>
    <p:extLst>
      <p:ext uri="{BB962C8B-B14F-4D97-AF65-F5344CB8AC3E}">
        <p14:creationId xmlns:p14="http://schemas.microsoft.com/office/powerpoint/2010/main" val="88811408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891540-0D18-8AC0-3086-5E721DFCE0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0411E8-3F26-E20F-3BDD-E742F4DD4D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noProof="0" dirty="0">
                <a:latin typeface="Arial" panose="020B0604020202020204" pitchFamily="34" charset="0"/>
                <a:cs typeface="Arial" panose="020B0604020202020204" pitchFamily="34" charset="0"/>
              </a:rPr>
              <a:t>Uvod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49C59D-E496-9CBA-0635-771803DBB25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endParaRPr lang="en-US" sz="26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>
              <a:buNone/>
            </a:pPr>
            <a:r>
              <a:rPr lang="hr-HR" sz="2600" noProof="0" dirty="0">
                <a:latin typeface="Arial" panose="020B0604020202020204" pitchFamily="34" charset="0"/>
                <a:cs typeface="Arial" panose="020B0604020202020204" pitchFamily="34" charset="0"/>
              </a:rPr>
              <a:t>Odluke pri</a:t>
            </a:r>
            <a:r>
              <a:rPr lang="en-US" sz="2600" noProof="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hr-HR" sz="2600" noProof="0" dirty="0">
                <a:latin typeface="Arial" panose="020B0604020202020204" pitchFamily="34" charset="0"/>
                <a:cs typeface="Arial" panose="020B0604020202020204" pitchFamily="34" charset="0"/>
              </a:rPr>
              <a:t>nadziranom učenju </a:t>
            </a:r>
            <a:r>
              <a:rPr lang="hr-HR" sz="2600" b="1" noProof="0" dirty="0">
                <a:latin typeface="Arial" panose="020B0604020202020204" pitchFamily="34" charset="0"/>
                <a:cs typeface="Arial" panose="020B0604020202020204" pitchFamily="34" charset="0"/>
              </a:rPr>
              <a:t>dubokih modela</a:t>
            </a:r>
          </a:p>
          <a:p>
            <a:pPr lvl="1"/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arhitektura </a:t>
            </a:r>
            <a:endParaRPr lang="en-US" sz="26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1"/>
            <a:r>
              <a:rPr lang="hr-HR" sz="2600" noProof="0" dirty="0">
                <a:latin typeface="Arial" panose="020B0604020202020204" pitchFamily="34" charset="0"/>
                <a:cs typeface="Arial" panose="020B0604020202020204" pitchFamily="34" charset="0"/>
              </a:rPr>
              <a:t>algoritam učenja</a:t>
            </a:r>
          </a:p>
          <a:p>
            <a:pPr lvl="1"/>
            <a:r>
              <a:rPr lang="hr-HR" sz="2600" noProof="0" dirty="0">
                <a:latin typeface="Arial" panose="020B0604020202020204" pitchFamily="34" charset="0"/>
                <a:cs typeface="Arial" panose="020B0604020202020204" pitchFamily="34" charset="0"/>
              </a:rPr>
              <a:t>hiperparametri</a:t>
            </a:r>
          </a:p>
          <a:p>
            <a:pPr lvl="1"/>
            <a:r>
              <a:rPr lang="hr-HR" sz="2600" b="1" dirty="0">
                <a:latin typeface="Arial" panose="020B0604020202020204" pitchFamily="34" charset="0"/>
                <a:cs typeface="Arial" panose="020B0604020202020204" pitchFamily="34" charset="0"/>
              </a:rPr>
              <a:t>skup podataka</a:t>
            </a:r>
          </a:p>
          <a:p>
            <a:pPr lvl="1"/>
            <a:endParaRPr lang="hr-HR" sz="2600" b="1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>
              <a:buNone/>
            </a:pPr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Opasnosti pri </a:t>
            </a:r>
            <a:r>
              <a:rPr lang="hr-HR" sz="2600" b="1" dirty="0">
                <a:latin typeface="Arial" panose="020B0604020202020204" pitchFamily="34" charset="0"/>
                <a:cs typeface="Arial" panose="020B0604020202020204" pitchFamily="34" charset="0"/>
              </a:rPr>
              <a:t>stvaranju</a:t>
            </a:r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 skupa podataka</a:t>
            </a:r>
            <a:endParaRPr lang="hr-HR" sz="26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1"/>
            <a:r>
              <a:rPr lang="hr-HR" sz="2600" noProof="0" dirty="0">
                <a:latin typeface="Arial" panose="020B0604020202020204" pitchFamily="34" charset="0"/>
                <a:cs typeface="Arial" panose="020B0604020202020204" pitchFamily="34" charset="0"/>
              </a:rPr>
              <a:t>napadi umetanjem stražnjih vrata</a:t>
            </a:r>
          </a:p>
          <a:p>
            <a:pPr lvl="1"/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pogreške označivača</a:t>
            </a:r>
            <a:r>
              <a:rPr lang="en-US" sz="26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600" dirty="0">
                <a:latin typeface="Arial" panose="020B0604020202020204" pitchFamily="34" charset="0"/>
                <a:cs typeface="Arial" panose="020B0604020202020204" pitchFamily="34" charset="0"/>
              </a:rPr>
              <a:t>    </a:t>
            </a:r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zašumljene oznake</a:t>
            </a:r>
            <a:endParaRPr lang="hr-HR" sz="26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1"/>
            <a:endParaRPr lang="hr-HR" sz="2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411C4EE-5BF9-DF3A-185E-3ADED1E4AE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rmAutofit lnSpcReduction="10000"/>
          </a:bodyPr>
          <a:lstStyle/>
          <a:p>
            <a:r>
              <a:rPr lang="hr-HR" dirty="0"/>
              <a:t>1</a:t>
            </a:r>
          </a:p>
        </p:txBody>
      </p:sp>
      <p:sp>
        <p:nvSpPr>
          <p:cNvPr id="4" name="Arrow: Right 3">
            <a:extLst>
              <a:ext uri="{FF2B5EF4-FFF2-40B4-BE49-F238E27FC236}">
                <a16:creationId xmlns:a16="http://schemas.microsoft.com/office/drawing/2014/main" id="{7C05C61E-BA12-0A1F-0003-1040242DC829}"/>
              </a:ext>
            </a:extLst>
          </p:cNvPr>
          <p:cNvSpPr/>
          <p:nvPr/>
        </p:nvSpPr>
        <p:spPr>
          <a:xfrm>
            <a:off x="5043054" y="5762484"/>
            <a:ext cx="332509" cy="194971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r-HR"/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F59CC490-5A2B-CD99-4C5B-6CA557D31CE8}"/>
              </a:ext>
            </a:extLst>
          </p:cNvPr>
          <p:cNvGrpSpPr/>
          <p:nvPr/>
        </p:nvGrpSpPr>
        <p:grpSpPr>
          <a:xfrm>
            <a:off x="8835507" y="292040"/>
            <a:ext cx="2274918" cy="6271763"/>
            <a:chOff x="8835507" y="292040"/>
            <a:chExt cx="2274918" cy="6271763"/>
          </a:xfrm>
        </p:grpSpPr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C36B0E66-67A3-4D69-77BC-5C0C2C3501A9}"/>
                </a:ext>
              </a:extLst>
            </p:cNvPr>
            <p:cNvGrpSpPr/>
            <p:nvPr/>
          </p:nvGrpSpPr>
          <p:grpSpPr>
            <a:xfrm>
              <a:off x="8835507" y="292040"/>
              <a:ext cx="2274918" cy="6271763"/>
              <a:chOff x="8835507" y="292040"/>
              <a:chExt cx="2274918" cy="6271763"/>
            </a:xfrm>
          </p:grpSpPr>
          <p:grpSp>
            <p:nvGrpSpPr>
              <p:cNvPr id="14" name="Group 13">
                <a:extLst>
                  <a:ext uri="{FF2B5EF4-FFF2-40B4-BE49-F238E27FC236}">
                    <a16:creationId xmlns:a16="http://schemas.microsoft.com/office/drawing/2014/main" id="{349323C5-A5B5-FB34-A9F0-E140754BA5F0}"/>
                  </a:ext>
                </a:extLst>
              </p:cNvPr>
              <p:cNvGrpSpPr/>
              <p:nvPr/>
            </p:nvGrpSpPr>
            <p:grpSpPr>
              <a:xfrm>
                <a:off x="8835507" y="292040"/>
                <a:ext cx="2274918" cy="2849543"/>
                <a:chOff x="8835507" y="236779"/>
                <a:chExt cx="2274918" cy="2849543"/>
              </a:xfrm>
            </p:grpSpPr>
            <p:pic>
              <p:nvPicPr>
                <p:cNvPr id="7" name="Picture 6" descr="A red and white sign with black numbers&#10;&#10;AI-generated content may be incorrect.">
                  <a:extLst>
                    <a:ext uri="{FF2B5EF4-FFF2-40B4-BE49-F238E27FC236}">
                      <a16:creationId xmlns:a16="http://schemas.microsoft.com/office/drawing/2014/main" id="{3BA65250-7AF4-B6B3-4FC4-2DA30F9E7FBF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8835507" y="236779"/>
                  <a:ext cx="2274918" cy="2274918"/>
                </a:xfrm>
                <a:prstGeom prst="rect">
                  <a:avLst/>
                </a:prstGeom>
              </p:spPr>
            </p:pic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89A66E9C-5D94-EDC8-9AFF-BF658C2A8036}"/>
                    </a:ext>
                  </a:extLst>
                </p:cNvPr>
                <p:cNvSpPr txBox="1"/>
                <p:nvPr/>
              </p:nvSpPr>
              <p:spPr>
                <a:xfrm>
                  <a:off x="8951245" y="2593879"/>
                  <a:ext cx="2043443" cy="492443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2600" dirty="0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latin typeface="Arial" panose="020B0604020202020204" pitchFamily="34" charset="0"/>
                      <a:cs typeface="Arial" panose="020B0604020202020204" pitchFamily="34" charset="0"/>
                    </a:rPr>
                    <a:t>20 km/h</a:t>
                  </a:r>
                  <a:endParaRPr lang="hr-HR" sz="2600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</p:grpSp>
          <p:grpSp>
            <p:nvGrpSpPr>
              <p:cNvPr id="15" name="Group 14">
                <a:extLst>
                  <a:ext uri="{FF2B5EF4-FFF2-40B4-BE49-F238E27FC236}">
                    <a16:creationId xmlns:a16="http://schemas.microsoft.com/office/drawing/2014/main" id="{FB277D70-9095-1555-79CC-8B87BE8BF8E5}"/>
                  </a:ext>
                </a:extLst>
              </p:cNvPr>
              <p:cNvGrpSpPr/>
              <p:nvPr/>
            </p:nvGrpSpPr>
            <p:grpSpPr>
              <a:xfrm>
                <a:off x="8835507" y="3716418"/>
                <a:ext cx="2274918" cy="2847385"/>
                <a:chOff x="8835507" y="3602514"/>
                <a:chExt cx="2274918" cy="2847385"/>
              </a:xfrm>
            </p:grpSpPr>
            <p:pic>
              <p:nvPicPr>
                <p:cNvPr id="9" name="Picture 8" descr="A red circle with black numbers and a spider-person's head on it&#10;&#10;AI-generated content may be incorrect.">
                  <a:extLst>
                    <a:ext uri="{FF2B5EF4-FFF2-40B4-BE49-F238E27FC236}">
                      <a16:creationId xmlns:a16="http://schemas.microsoft.com/office/drawing/2014/main" id="{8763FC55-191C-12D3-6D65-2BF25ACA9EFA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8835507" y="3602514"/>
                  <a:ext cx="2274918" cy="2274918"/>
                </a:xfrm>
                <a:prstGeom prst="rect">
                  <a:avLst/>
                </a:prstGeom>
              </p:spPr>
            </p:pic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FDED9361-2DFC-5CE0-8E4C-A6C99C53330E}"/>
                    </a:ext>
                  </a:extLst>
                </p:cNvPr>
                <p:cNvSpPr txBox="1"/>
                <p:nvPr/>
              </p:nvSpPr>
              <p:spPr>
                <a:xfrm>
                  <a:off x="8951245" y="5957456"/>
                  <a:ext cx="2043443" cy="492443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2600" dirty="0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latin typeface="Arial" panose="020B0604020202020204" pitchFamily="34" charset="0"/>
                      <a:cs typeface="Arial" panose="020B0604020202020204" pitchFamily="34" charset="0"/>
                    </a:rPr>
                    <a:t>100 km/h</a:t>
                  </a:r>
                  <a:endParaRPr lang="hr-HR" sz="2600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</p:grpSp>
        </p:grpSp>
        <p:sp>
          <p:nvSpPr>
            <p:cNvPr id="17" name="Arrow: Right 16">
              <a:extLst>
                <a:ext uri="{FF2B5EF4-FFF2-40B4-BE49-F238E27FC236}">
                  <a16:creationId xmlns:a16="http://schemas.microsoft.com/office/drawing/2014/main" id="{3A4D28DA-9AAE-AD35-16D9-7BD04D0DB1E6}"/>
                </a:ext>
              </a:extLst>
            </p:cNvPr>
            <p:cNvSpPr/>
            <p:nvPr/>
          </p:nvSpPr>
          <p:spPr>
            <a:xfrm rot="5400000">
              <a:off x="9806711" y="3290376"/>
              <a:ext cx="332509" cy="194971"/>
            </a:xfrm>
            <a:prstGeom prst="rightArrow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r-HR"/>
            </a:p>
          </p:txBody>
        </p:sp>
      </p:grpSp>
    </p:spTree>
    <p:extLst>
      <p:ext uri="{BB962C8B-B14F-4D97-AF65-F5344CB8AC3E}">
        <p14:creationId xmlns:p14="http://schemas.microsoft.com/office/powerpoint/2010/main" val="320932411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BFE524-DAAF-CC17-77CC-AC8D87E5C4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0DA391-9BF3-F25A-A23D-C9C8F0E5E7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dirty="0">
                <a:latin typeface="Arial" panose="020B0604020202020204" pitchFamily="34" charset="0"/>
                <a:cs typeface="Arial" panose="020B0604020202020204" pitchFamily="34" charset="0"/>
              </a:rPr>
              <a:t>Napadi umetanjem stražnjih vrata</a:t>
            </a:r>
            <a:endParaRPr lang="hr-HR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B019CD-35B9-6690-5D9E-5958859F73C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61871" y="1970844"/>
            <a:ext cx="9572383" cy="4795082"/>
          </a:xfrm>
        </p:spPr>
        <p:txBody>
          <a:bodyPr>
            <a:normAutofit/>
          </a:bodyPr>
          <a:lstStyle/>
          <a:p>
            <a:r>
              <a:rPr lang="hr-HR" sz="2600" b="1" dirty="0">
                <a:latin typeface="Arial" panose="020B0604020202020204" pitchFamily="34" charset="0"/>
                <a:cs typeface="Arial" panose="020B0604020202020204" pitchFamily="34" charset="0"/>
              </a:rPr>
              <a:t>zatrovani podatci </a:t>
            </a:r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– izmijenjeni podatci za učenje koji navode optimizaciju da u model ugradi </a:t>
            </a:r>
            <a:r>
              <a:rPr lang="hr-HR" sz="2600" b="1" dirty="0">
                <a:latin typeface="Arial" panose="020B0604020202020204" pitchFamily="34" charset="0"/>
                <a:cs typeface="Arial" panose="020B0604020202020204" pitchFamily="34" charset="0"/>
              </a:rPr>
              <a:t>stražnja vrata</a:t>
            </a:r>
          </a:p>
          <a:p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stražnja vrata omogućavaju manipuliranje naučenim modelom</a:t>
            </a:r>
            <a:endParaRPr lang="hr-HR" sz="2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trovanje uvijek uključuje </a:t>
            </a:r>
            <a:r>
              <a:rPr lang="hr-HR" sz="2600" b="1" dirty="0">
                <a:latin typeface="Arial" panose="020B0604020202020204" pitchFamily="34" charset="0"/>
                <a:cs typeface="Arial" panose="020B0604020202020204" pitchFamily="34" charset="0"/>
              </a:rPr>
              <a:t>dodavanje okidača u podatke</a:t>
            </a:r>
          </a:p>
          <a:p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većina metoda </a:t>
            </a:r>
            <a:r>
              <a:rPr lang="hr-HR" sz="2600" b="1" dirty="0">
                <a:latin typeface="Arial" panose="020B0604020202020204" pitchFamily="34" charset="0"/>
                <a:cs typeface="Arial" panose="020B0604020202020204" pitchFamily="34" charset="0"/>
              </a:rPr>
              <a:t>mijenja i oznake</a:t>
            </a:r>
            <a:endParaRPr lang="hr-HR" sz="2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neke metode ne mijenjaju oznake, već dodatno perturbiraju podatke</a:t>
            </a:r>
          </a:p>
          <a:p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tijekom zaključivanja, model daje </a:t>
            </a:r>
            <a:r>
              <a:rPr lang="hr-HR" sz="2600" b="1" dirty="0">
                <a:latin typeface="Arial" panose="020B0604020202020204" pitchFamily="34" charset="0"/>
                <a:cs typeface="Arial" panose="020B0604020202020204" pitchFamily="34" charset="0"/>
              </a:rPr>
              <a:t>krivo predviđanje </a:t>
            </a:r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ako je na ulazu ispitna slika s okidačem</a:t>
            </a:r>
            <a:endParaRPr lang="hr-HR" sz="26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23D51F9-CE2A-DACE-DD0D-EFEAC0D456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rmAutofit lnSpcReduction="10000"/>
          </a:bodyPr>
          <a:lstStyle/>
          <a:p>
            <a:r>
              <a:rPr lang="hr-HR" dirty="0"/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29489324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BA845E-584B-E7F9-46E8-C6E7BCFAD8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F249BC-9A5C-3340-A93D-3768CE088B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dirty="0">
                <a:latin typeface="Arial" panose="020B0604020202020204" pitchFamily="34" charset="0"/>
                <a:cs typeface="Arial" panose="020B0604020202020204" pitchFamily="34" charset="0"/>
              </a:rPr>
              <a:t>Neke vrste okidača</a:t>
            </a:r>
            <a:endParaRPr lang="hr-HR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DF5D638-E42E-8EE2-74C9-7EB279A96A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rmAutofit lnSpcReduction="10000"/>
          </a:bodyPr>
          <a:lstStyle/>
          <a:p>
            <a:r>
              <a:rPr lang="hr-HR" dirty="0"/>
              <a:t>3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9C5B7D69-C76C-9024-181C-95521077BA96}"/>
              </a:ext>
            </a:extLst>
          </p:cNvPr>
          <p:cNvGrpSpPr/>
          <p:nvPr/>
        </p:nvGrpSpPr>
        <p:grpSpPr>
          <a:xfrm>
            <a:off x="461639" y="2322608"/>
            <a:ext cx="10831201" cy="3178313"/>
            <a:chOff x="461639" y="2597816"/>
            <a:chExt cx="10831201" cy="3178313"/>
          </a:xfrm>
        </p:grpSpPr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5D9E099A-28CD-E388-B4B7-4E538E2A0F11}"/>
                </a:ext>
              </a:extLst>
            </p:cNvPr>
            <p:cNvGrpSpPr/>
            <p:nvPr/>
          </p:nvGrpSpPr>
          <p:grpSpPr>
            <a:xfrm>
              <a:off x="461639" y="2597816"/>
              <a:ext cx="10831201" cy="2622254"/>
              <a:chOff x="0" y="2117315"/>
              <a:chExt cx="11259607" cy="2859293"/>
            </a:xfrm>
          </p:grpSpPr>
          <p:pic>
            <p:nvPicPr>
              <p:cNvPr id="9" name="Picture 8" descr="A blue bird on a branch&#10;&#10;AI-generated content may be incorrect.">
                <a:extLst>
                  <a:ext uri="{FF2B5EF4-FFF2-40B4-BE49-F238E27FC236}">
                    <a16:creationId xmlns:a16="http://schemas.microsoft.com/office/drawing/2014/main" id="{8962D0FF-52B5-A0C0-C7DE-3836406A9CB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5541028" y="2117315"/>
                <a:ext cx="5718579" cy="2859289"/>
              </a:xfrm>
              <a:prstGeom prst="rect">
                <a:avLst/>
              </a:prstGeom>
            </p:spPr>
          </p:pic>
          <p:pic>
            <p:nvPicPr>
              <p:cNvPr id="6" name="Picture 5" descr="A blue bird sitting on a branch&#10;&#10;AI-generated content may be incorrect.">
                <a:extLst>
                  <a:ext uri="{FF2B5EF4-FFF2-40B4-BE49-F238E27FC236}">
                    <a16:creationId xmlns:a16="http://schemas.microsoft.com/office/drawing/2014/main" id="{B51E7BE8-BFEF-2DBC-18D9-88F1A1A905E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2770514" y="2117315"/>
                <a:ext cx="5718579" cy="2859289"/>
              </a:xfrm>
              <a:prstGeom prst="rect">
                <a:avLst/>
              </a:prstGeom>
            </p:spPr>
          </p:pic>
          <p:pic>
            <p:nvPicPr>
              <p:cNvPr id="11" name="Picture 10" descr="A blue bird on a branch&#10;&#10;AI-generated content may be incorrect.">
                <a:extLst>
                  <a:ext uri="{FF2B5EF4-FFF2-40B4-BE49-F238E27FC236}">
                    <a16:creationId xmlns:a16="http://schemas.microsoft.com/office/drawing/2014/main" id="{200E2F04-BB54-C967-B1A2-F6841A70A05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0" y="2117319"/>
                <a:ext cx="5718580" cy="2859289"/>
              </a:xfrm>
              <a:prstGeom prst="rect">
                <a:avLst/>
              </a:prstGeom>
            </p:spPr>
          </p:pic>
        </p:grp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9116AEF6-FB61-0CEF-AC2A-459967475680}"/>
                </a:ext>
              </a:extLst>
            </p:cNvPr>
            <p:cNvSpPr txBox="1"/>
            <p:nvPr/>
          </p:nvSpPr>
          <p:spPr>
            <a:xfrm>
              <a:off x="6422043" y="5283686"/>
              <a:ext cx="1447060" cy="4924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hr-HR" sz="26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Blend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CBFB0EF2-2199-4259-092A-6A3DDD8915CE}"/>
                </a:ext>
              </a:extLst>
            </p:cNvPr>
            <p:cNvSpPr txBox="1"/>
            <p:nvPr/>
          </p:nvSpPr>
          <p:spPr>
            <a:xfrm>
              <a:off x="1180517" y="5283685"/>
              <a:ext cx="1447060" cy="4924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hr-HR" sz="26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Original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E60B18B9-0AA9-C329-187C-D431F7BD99A4}"/>
                </a:ext>
              </a:extLst>
            </p:cNvPr>
            <p:cNvSpPr txBox="1"/>
            <p:nvPr/>
          </p:nvSpPr>
          <p:spPr>
            <a:xfrm>
              <a:off x="3693111" y="5283685"/>
              <a:ext cx="1660124" cy="4924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hr-HR" sz="26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BadNets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FF602169-BFD0-767F-6026-2EAE02807DFC}"/>
                </a:ext>
              </a:extLst>
            </p:cNvPr>
            <p:cNvSpPr txBox="1"/>
            <p:nvPr/>
          </p:nvSpPr>
          <p:spPr>
            <a:xfrm>
              <a:off x="9042806" y="5283686"/>
              <a:ext cx="1447060" cy="4924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hr-HR" sz="26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WaNet</a:t>
              </a:r>
            </a:p>
          </p:txBody>
        </p: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2CF8755A-AEFA-1C94-F7F5-B733BD7C0C19}"/>
              </a:ext>
            </a:extLst>
          </p:cNvPr>
          <p:cNvGrpSpPr/>
          <p:nvPr/>
        </p:nvGrpSpPr>
        <p:grpSpPr>
          <a:xfrm>
            <a:off x="3675355" y="5576510"/>
            <a:ext cx="6206589" cy="892552"/>
            <a:chOff x="3693111" y="5479702"/>
            <a:chExt cx="6206589" cy="892552"/>
          </a:xfrm>
        </p:grpSpPr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0BF14803-9D3D-F402-5D50-2DC9EAF336A3}"/>
                </a:ext>
              </a:extLst>
            </p:cNvPr>
            <p:cNvSpPr txBox="1"/>
            <p:nvPr/>
          </p:nvSpPr>
          <p:spPr>
            <a:xfrm>
              <a:off x="7220494" y="5479702"/>
              <a:ext cx="2679206" cy="89255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hr-HR" sz="26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teže primjenjivi u stvarnom svijetu</a:t>
              </a: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73A88C3A-D218-8B54-F54A-8B9BAB8E718E}"/>
                </a:ext>
              </a:extLst>
            </p:cNvPr>
            <p:cNvSpPr txBox="1"/>
            <p:nvPr/>
          </p:nvSpPr>
          <p:spPr>
            <a:xfrm>
              <a:off x="3693111" y="5679757"/>
              <a:ext cx="1660124" cy="4924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hr-HR" sz="26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vidljiv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00399101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A62D88-F735-0A72-5B13-4D9F9E86F6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68A173-6C0A-A0AF-B45F-D3616DF9D1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dirty="0">
                <a:latin typeface="Arial" panose="020B0604020202020204" pitchFamily="34" charset="0"/>
                <a:cs typeface="Arial" panose="020B0604020202020204" pitchFamily="34" charset="0"/>
              </a:rPr>
              <a:t>Zašumljene oznake</a:t>
            </a:r>
            <a:endParaRPr lang="hr-HR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D787326-0161-8597-96C4-E8C2DDB694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61871" y="1593274"/>
            <a:ext cx="9692639" cy="4586864"/>
          </a:xfrm>
        </p:spPr>
        <p:txBody>
          <a:bodyPr>
            <a:normAutofit/>
          </a:bodyPr>
          <a:lstStyle/>
          <a:p>
            <a:endParaRPr lang="hr-HR" sz="2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posljedica </a:t>
            </a:r>
            <a:r>
              <a:rPr lang="hr-HR" sz="2600" b="1" dirty="0">
                <a:latin typeface="Arial" panose="020B0604020202020204" pitchFamily="34" charset="0"/>
                <a:cs typeface="Arial" panose="020B0604020202020204" pitchFamily="34" charset="0"/>
              </a:rPr>
              <a:t>netočnog označavanja </a:t>
            </a:r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podataka</a:t>
            </a:r>
          </a:p>
          <a:p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razlikujemo</a:t>
            </a:r>
            <a:r>
              <a:rPr lang="hr-HR" sz="2600" b="1" dirty="0">
                <a:latin typeface="Arial" panose="020B0604020202020204" pitchFamily="34" charset="0"/>
                <a:cs typeface="Arial" panose="020B0604020202020204" pitchFamily="34" charset="0"/>
              </a:rPr>
              <a:t> simetrično</a:t>
            </a:r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 (gore) i </a:t>
            </a:r>
            <a:r>
              <a:rPr lang="hr-HR" sz="2600" b="1" dirty="0">
                <a:latin typeface="Arial" panose="020B0604020202020204" pitchFamily="34" charset="0"/>
                <a:cs typeface="Arial" panose="020B0604020202020204" pitchFamily="34" charset="0"/>
              </a:rPr>
              <a:t>asimetrično</a:t>
            </a:r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 (dolje) zašumljivanje</a:t>
            </a:r>
          </a:p>
          <a:p>
            <a:endParaRPr lang="hr-HR" sz="2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CCA5E71-1363-CC3F-C9A5-B347620C81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rmAutofit lnSpcReduction="10000"/>
          </a:bodyPr>
          <a:lstStyle/>
          <a:p>
            <a:r>
              <a:rPr lang="hr-HR" dirty="0"/>
              <a:t>4</a:t>
            </a:r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00A3F132-5972-DCEA-4E2E-CF8FF7EFEE9A}"/>
              </a:ext>
            </a:extLst>
          </p:cNvPr>
          <p:cNvGrpSpPr/>
          <p:nvPr/>
        </p:nvGrpSpPr>
        <p:grpSpPr>
          <a:xfrm>
            <a:off x="1268796" y="4034407"/>
            <a:ext cx="9184404" cy="2200582"/>
            <a:chOff x="1268796" y="4034407"/>
            <a:chExt cx="9184404" cy="2200582"/>
          </a:xfrm>
        </p:grpSpPr>
        <p:pic>
          <p:nvPicPr>
            <p:cNvPr id="20" name="Picture 19">
              <a:extLst>
                <a:ext uri="{FF2B5EF4-FFF2-40B4-BE49-F238E27FC236}">
                  <a16:creationId xmlns:a16="http://schemas.microsoft.com/office/drawing/2014/main" id="{6A6CCD26-D81E-8563-89FC-7412B7A60EB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890353" y="4034407"/>
              <a:ext cx="3562847" cy="2200582"/>
            </a:xfrm>
            <a:prstGeom prst="rect">
              <a:avLst/>
            </a:prstGeom>
          </p:spPr>
        </p:pic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E6135454-1FE9-7786-EDCF-10A0C05C5BD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268796" y="4434611"/>
              <a:ext cx="4581525" cy="1400175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62346506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A9D117-7D22-8750-1092-9150437546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B2BC3D2F-E58C-3601-066F-41AACCEE71F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5266" y="3803412"/>
            <a:ext cx="9692639" cy="277517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F57F1AA-F26C-3A7E-4BDD-34358BB4E7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dirty="0">
                <a:latin typeface="Arial" panose="020B0604020202020204" pitchFamily="34" charset="0"/>
                <a:cs typeface="Arial" panose="020B0604020202020204" pitchFamily="34" charset="0"/>
              </a:rPr>
              <a:t>Zašumljene oznake</a:t>
            </a:r>
            <a:endParaRPr lang="hr-HR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C430A64-8E96-6C8E-3459-65E1BE2C3D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61871" y="1593274"/>
            <a:ext cx="9692639" cy="4586864"/>
          </a:xfrm>
        </p:spPr>
        <p:txBody>
          <a:bodyPr>
            <a:normAutofit/>
          </a:bodyPr>
          <a:lstStyle/>
          <a:p>
            <a:endParaRPr lang="hr-HR" sz="2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posljedica </a:t>
            </a:r>
            <a:r>
              <a:rPr lang="hr-HR" sz="2600" b="1" dirty="0">
                <a:latin typeface="Arial" panose="020B0604020202020204" pitchFamily="34" charset="0"/>
                <a:cs typeface="Arial" panose="020B0604020202020204" pitchFamily="34" charset="0"/>
              </a:rPr>
              <a:t>netočnog označavanja </a:t>
            </a:r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podataka</a:t>
            </a:r>
          </a:p>
          <a:p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razlikujemo</a:t>
            </a:r>
            <a:r>
              <a:rPr lang="hr-HR" sz="2600" b="1" dirty="0">
                <a:latin typeface="Arial" panose="020B0604020202020204" pitchFamily="34" charset="0"/>
                <a:cs typeface="Arial" panose="020B0604020202020204" pitchFamily="34" charset="0"/>
              </a:rPr>
              <a:t> simetrično</a:t>
            </a:r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 (gore) i </a:t>
            </a:r>
            <a:r>
              <a:rPr lang="hr-HR" sz="2600" b="1" dirty="0">
                <a:latin typeface="Arial" panose="020B0604020202020204" pitchFamily="34" charset="0"/>
                <a:cs typeface="Arial" panose="020B0604020202020204" pitchFamily="34" charset="0"/>
              </a:rPr>
              <a:t>asimetrično</a:t>
            </a:r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 (dolje) zašumljivanje</a:t>
            </a:r>
          </a:p>
          <a:p>
            <a:endParaRPr lang="hr-HR" sz="2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49CEE37-3FD2-7B31-A0A9-1C19FBC24C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rmAutofit lnSpcReduction="10000"/>
          </a:bodyPr>
          <a:lstStyle/>
          <a:p>
            <a:r>
              <a:rPr lang="hr-HR" dirty="0"/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1538165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A6228C-2389-9170-82D2-915D8DAA7A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895551-D168-4FC9-FE63-A5BF6A6BCF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noProof="0" dirty="0">
                <a:latin typeface="Arial" panose="020B0604020202020204" pitchFamily="34" charset="0"/>
                <a:cs typeface="Arial" panose="020B0604020202020204" pitchFamily="34" charset="0"/>
              </a:rPr>
              <a:t>Okvir VIBE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58ACFC-6758-DE29-7509-8ACE824B04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61872" y="1828800"/>
            <a:ext cx="9692640" cy="4735002"/>
          </a:xfrm>
        </p:spPr>
        <p:txBody>
          <a:bodyPr>
            <a:normAutofit/>
          </a:bodyPr>
          <a:lstStyle/>
          <a:p>
            <a:endParaRPr lang="hr-HR" sz="26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hr-HR" sz="2600" noProof="0" dirty="0">
                <a:latin typeface="Arial" panose="020B0604020202020204" pitchFamily="34" charset="0"/>
                <a:cs typeface="Arial" panose="020B0604020202020204" pitchFamily="34" charset="0"/>
              </a:rPr>
              <a:t>cilj: </a:t>
            </a:r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učenje modela </a:t>
            </a:r>
            <a:r>
              <a:rPr lang="hr-HR" sz="2600" b="1" dirty="0">
                <a:latin typeface="Arial" panose="020B0604020202020204" pitchFamily="34" charset="0"/>
                <a:cs typeface="Arial" panose="020B0604020202020204" pitchFamily="34" charset="0"/>
              </a:rPr>
              <a:t>bez stražnjih vrata </a:t>
            </a:r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na zatrovanim podatcima</a:t>
            </a:r>
            <a:endParaRPr lang="hr-HR" sz="26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hr-HR" sz="2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hr-HR" sz="26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hr-HR" sz="2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optimizacija varijacijskog cilja koristeći </a:t>
            </a:r>
            <a:r>
              <a:rPr lang="hr-HR" sz="2600" b="1" dirty="0">
                <a:latin typeface="Arial" panose="020B0604020202020204" pitchFamily="34" charset="0"/>
                <a:cs typeface="Arial" panose="020B0604020202020204" pitchFamily="34" charset="0"/>
              </a:rPr>
              <a:t>algoritam maksimizacije očekivanja</a:t>
            </a:r>
            <a:endParaRPr lang="hr-HR" sz="2600" b="1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>
              <a:buNone/>
            </a:pPr>
            <a:endParaRPr lang="hr-HR" sz="26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hr-HR" sz="28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44D508C-DA53-CDC2-E637-76AC9FD973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rmAutofit lnSpcReduction="10000"/>
          </a:bodyPr>
          <a:lstStyle/>
          <a:p>
            <a:r>
              <a:rPr lang="hr-HR" dirty="0"/>
              <a:t>5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E0E1422-5D01-8D22-F793-7D7B997C074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9528" y="3517221"/>
            <a:ext cx="9842352" cy="13581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2491453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2FB05E-7C65-84C2-ADAF-4D88B897A3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BF32F2-366D-A638-ABAC-A39EB1B268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noProof="0" dirty="0">
                <a:latin typeface="Arial" panose="020B0604020202020204" pitchFamily="34" charset="0"/>
                <a:cs typeface="Arial" panose="020B0604020202020204" pitchFamily="34" charset="0"/>
              </a:rPr>
              <a:t>Okvir VIBE</a:t>
            </a:r>
            <a:r>
              <a:rPr lang="hr-HR" dirty="0">
                <a:latin typeface="Arial" panose="020B0604020202020204" pitchFamily="34" charset="0"/>
                <a:cs typeface="Arial" panose="020B0604020202020204" pitchFamily="34" charset="0"/>
              </a:rPr>
              <a:t>, algoritam EM</a:t>
            </a:r>
            <a:endParaRPr lang="hr-HR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B168722-F2C2-6B8C-38F4-A172A46699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61871" y="1925782"/>
            <a:ext cx="9925674" cy="4724399"/>
          </a:xfrm>
        </p:spPr>
        <p:txBody>
          <a:bodyPr>
            <a:normAutofit fontScale="92500"/>
          </a:bodyPr>
          <a:lstStyle/>
          <a:p>
            <a:r>
              <a:rPr lang="hr-HR" sz="2800" dirty="0">
                <a:latin typeface="Arial" panose="020B0604020202020204" pitchFamily="34" charset="0"/>
                <a:cs typeface="Arial" panose="020B0604020202020204" pitchFamily="34" charset="0"/>
              </a:rPr>
              <a:t>iterativan algoritam za učenje uz </a:t>
            </a:r>
            <a:r>
              <a:rPr lang="hr-HR" sz="2800" b="1" dirty="0">
                <a:latin typeface="Arial" panose="020B0604020202020204" pitchFamily="34" charset="0"/>
                <a:cs typeface="Arial" panose="020B0604020202020204" pitchFamily="34" charset="0"/>
              </a:rPr>
              <a:t>prisutnost skrivenih varijabli </a:t>
            </a:r>
          </a:p>
          <a:p>
            <a:r>
              <a:rPr lang="hr-HR" sz="2800" dirty="0">
                <a:latin typeface="Arial" panose="020B0604020202020204" pitchFamily="34" charset="0"/>
                <a:cs typeface="Arial" panose="020B0604020202020204" pitchFamily="34" charset="0"/>
              </a:rPr>
              <a:t>naizmjenično provođenje </a:t>
            </a:r>
            <a:r>
              <a:rPr lang="hr-HR" sz="2800" b="1" dirty="0">
                <a:latin typeface="Arial" panose="020B0604020202020204" pitchFamily="34" charset="0"/>
                <a:cs typeface="Arial" panose="020B0604020202020204" pitchFamily="34" charset="0"/>
              </a:rPr>
              <a:t>E koraka </a:t>
            </a:r>
            <a:r>
              <a:rPr lang="hr-HR" sz="2800" dirty="0">
                <a:latin typeface="Arial" panose="020B0604020202020204" pitchFamily="34" charset="0"/>
                <a:cs typeface="Arial" panose="020B0604020202020204" pitchFamily="34" charset="0"/>
              </a:rPr>
              <a:t>i </a:t>
            </a:r>
            <a:r>
              <a:rPr lang="hr-HR" sz="2800" b="1" dirty="0">
                <a:latin typeface="Arial" panose="020B0604020202020204" pitchFamily="34" charset="0"/>
                <a:cs typeface="Arial" panose="020B0604020202020204" pitchFamily="34" charset="0"/>
              </a:rPr>
              <a:t>M koraka </a:t>
            </a:r>
            <a:endParaRPr lang="hr-HR" sz="28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hr-HR" sz="2800" dirty="0">
                <a:latin typeface="Arial" panose="020B0604020202020204" pitchFamily="34" charset="0"/>
                <a:cs typeface="Arial" panose="020B0604020202020204" pitchFamily="34" charset="0"/>
              </a:rPr>
              <a:t>M korak se može provoditi više puta zaredom</a:t>
            </a:r>
          </a:p>
          <a:p>
            <a:endParaRPr lang="hr-HR" sz="28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hr-HR" sz="28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hr-HR" sz="2800" dirty="0">
                <a:latin typeface="Arial" panose="020B0604020202020204" pitchFamily="34" charset="0"/>
                <a:cs typeface="Arial" panose="020B0604020202020204" pitchFamily="34" charset="0"/>
              </a:rPr>
              <a:t>E korak: </a:t>
            </a:r>
            <a:r>
              <a:rPr lang="hr-HR" sz="2800" b="1" dirty="0">
                <a:latin typeface="Arial" panose="020B0604020202020204" pitchFamily="34" charset="0"/>
                <a:cs typeface="Arial" panose="020B0604020202020204" pitchFamily="34" charset="0"/>
              </a:rPr>
              <a:t>aproksimacija čistih pseudooznaka </a:t>
            </a:r>
            <a:r>
              <a:rPr lang="hr-HR" sz="2800" dirty="0">
                <a:latin typeface="Arial" panose="020B0604020202020204" pitchFamily="34" charset="0"/>
                <a:cs typeface="Arial" panose="020B0604020202020204" pitchFamily="34" charset="0"/>
              </a:rPr>
              <a:t>(algoritam SK</a:t>
            </a:r>
            <a:r>
              <a:rPr lang="en-US" sz="2800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  <a:p>
            <a:pPr marL="0" indent="0">
              <a:buNone/>
            </a:pPr>
            <a:r>
              <a:rPr lang="en-US" sz="2800" dirty="0">
                <a:latin typeface="Arial" panose="020B0604020202020204" pitchFamily="34" charset="0"/>
                <a:cs typeface="Arial" panose="020B0604020202020204" pitchFamily="34" charset="0"/>
              </a:rPr>
              <a:t>                </a:t>
            </a:r>
            <a:r>
              <a:rPr lang="hr-HR" sz="2800" dirty="0">
                <a:latin typeface="Arial" panose="020B0604020202020204" pitchFamily="34" charset="0"/>
                <a:cs typeface="Arial" panose="020B0604020202020204" pitchFamily="34" charset="0"/>
              </a:rPr>
              <a:t>alternativno, korištenje modela iz prethodne iteracije</a:t>
            </a:r>
          </a:p>
          <a:p>
            <a:r>
              <a:rPr lang="hr-HR" sz="2800" dirty="0">
                <a:latin typeface="Arial" panose="020B0604020202020204" pitchFamily="34" charset="0"/>
                <a:cs typeface="Arial" panose="020B0604020202020204" pitchFamily="34" charset="0"/>
              </a:rPr>
              <a:t>M korak: </a:t>
            </a:r>
            <a:r>
              <a:rPr lang="hr-HR" sz="2800" b="1" dirty="0">
                <a:latin typeface="Arial" panose="020B0604020202020204" pitchFamily="34" charset="0"/>
                <a:cs typeface="Arial" panose="020B0604020202020204" pitchFamily="34" charset="0"/>
              </a:rPr>
              <a:t>ažuriranje parametara modela</a:t>
            </a:r>
            <a:r>
              <a:rPr lang="hr-HR" sz="2800" dirty="0">
                <a:latin typeface="Arial" panose="020B0604020202020204" pitchFamily="34" charset="0"/>
                <a:cs typeface="Arial" panose="020B0604020202020204" pitchFamily="34" charset="0"/>
              </a:rPr>
              <a:t> (gradijentni spust)</a:t>
            </a:r>
          </a:p>
          <a:p>
            <a:pPr marL="0" indent="0">
              <a:buNone/>
            </a:pPr>
            <a:endParaRPr lang="hr-HR" sz="28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70290D0-B6F6-1491-D341-87C4703651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rmAutofit lnSpcReduction="10000"/>
          </a:bodyPr>
          <a:lstStyle/>
          <a:p>
            <a:r>
              <a:rPr lang="hr-HR" dirty="0"/>
              <a:t>6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482D868-98EC-393A-81F4-F3375AD394C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48696" y="3800425"/>
            <a:ext cx="7411484" cy="7811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352422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88D621-C0C9-42FB-03CD-313BB353C5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FF9997-24F3-C098-A02E-FA0EFB9B656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61872" y="1641764"/>
            <a:ext cx="9692640" cy="5124161"/>
          </a:xfrm>
        </p:spPr>
        <p:txBody>
          <a:bodyPr>
            <a:normAutofit/>
          </a:bodyPr>
          <a:lstStyle/>
          <a:p>
            <a:endParaRPr lang="hr-HR" sz="26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2600" noProof="0" dirty="0">
                <a:latin typeface="Arial" panose="020B0604020202020204" pitchFamily="34" charset="0"/>
                <a:cs typeface="Arial" panose="020B0604020202020204" pitchFamily="34" charset="0"/>
              </a:rPr>
              <a:t>model: </a:t>
            </a:r>
            <a:r>
              <a:rPr lang="hr-HR" sz="2600" b="1" noProof="0" dirty="0">
                <a:latin typeface="Arial" panose="020B0604020202020204" pitchFamily="34" charset="0"/>
                <a:cs typeface="Arial" panose="020B0604020202020204" pitchFamily="34" charset="0"/>
              </a:rPr>
              <a:t>ekstraktor značajki</a:t>
            </a:r>
            <a:r>
              <a:rPr lang="en-US" sz="2600" b="1" noProof="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600" b="1" i="1" noProof="0" dirty="0">
                <a:solidFill>
                  <a:srgbClr val="AE73B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</a:t>
            </a:r>
            <a:r>
              <a:rPr lang="en-US" sz="2600" b="1" i="1" baseline="-25000" dirty="0">
                <a:solidFill>
                  <a:srgbClr val="AE73B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θ</a:t>
            </a:r>
            <a:r>
              <a:rPr lang="hr-HR" sz="2600" noProof="0" dirty="0">
                <a:latin typeface="Arial" panose="020B0604020202020204" pitchFamily="34" charset="0"/>
                <a:cs typeface="Arial" panose="020B0604020202020204" pitchFamily="34" charset="0"/>
              </a:rPr>
              <a:t>, skup</a:t>
            </a:r>
            <a:r>
              <a:rPr lang="en-US" sz="2600" noProof="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l-GR" sz="2600" b="1" i="1" noProof="0" dirty="0">
                <a:solidFill>
                  <a:srgbClr val="31B0E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ϕ</a:t>
            </a:r>
            <a:r>
              <a:rPr lang="hr-HR" sz="2600" noProof="0" dirty="0">
                <a:latin typeface="Arial" panose="020B0604020202020204" pitchFamily="34" charset="0"/>
                <a:cs typeface="Arial" panose="020B0604020202020204" pitchFamily="34" charset="0"/>
              </a:rPr>
              <a:t> čistih prototipova</a:t>
            </a:r>
            <a:r>
              <a:rPr lang="en-US" sz="2600" noProof="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l-GR" sz="2600" b="1" i="1" noProof="0" dirty="0">
                <a:solidFill>
                  <a:srgbClr val="31B0E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μ</a:t>
            </a:r>
            <a:r>
              <a:rPr lang="en-US" sz="2600" i="1" baseline="-25000" noProof="0" dirty="0">
                <a:solidFill>
                  <a:srgbClr val="31B0E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</a:t>
            </a:r>
            <a:r>
              <a:rPr lang="hr-HR" sz="2600" noProof="0" dirty="0">
                <a:latin typeface="Arial" panose="020B0604020202020204" pitchFamily="34" charset="0"/>
                <a:cs typeface="Arial" panose="020B0604020202020204" pitchFamily="34" charset="0"/>
              </a:rPr>
              <a:t>, skup</a:t>
            </a:r>
            <a:r>
              <a:rPr lang="en-US" sz="26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l-GR" sz="2600" b="1" i="1" noProof="0" dirty="0">
                <a:solidFill>
                  <a:srgbClr val="FCB937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Ψ</a:t>
            </a:r>
            <a:r>
              <a:rPr lang="hr-HR" sz="2600" noProof="0" dirty="0">
                <a:latin typeface="Arial" panose="020B0604020202020204" pitchFamily="34" charset="0"/>
                <a:cs typeface="Arial" panose="020B0604020202020204" pitchFamily="34" charset="0"/>
              </a:rPr>
              <a:t> zatrovanih prototipova </a:t>
            </a:r>
            <a:r>
              <a:rPr lang="el-GR" sz="2600" b="1" i="1" noProof="0" dirty="0">
                <a:solidFill>
                  <a:srgbClr val="FCB937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η</a:t>
            </a:r>
            <a:r>
              <a:rPr lang="en-US" sz="2600" i="1" baseline="-25000" noProof="0" dirty="0">
                <a:solidFill>
                  <a:srgbClr val="FCB937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y</a:t>
            </a:r>
            <a:endParaRPr lang="hr-HR" sz="2600" i="1" noProof="0" dirty="0">
              <a:solidFill>
                <a:srgbClr val="FCB937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hr-HR" sz="26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hr-HR" sz="26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hr-HR" sz="2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hr-HR" sz="26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hr-HR" sz="2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C6AF7BE-BB66-8B40-08A5-681B2DEA31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noProof="0" dirty="0">
                <a:latin typeface="Arial" panose="020B0604020202020204" pitchFamily="34" charset="0"/>
                <a:cs typeface="Arial" panose="020B0604020202020204" pitchFamily="34" charset="0"/>
              </a:rPr>
              <a:t>Okvir VIBE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66F4E7C-1CAF-80DB-BAF8-FD54241566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rmAutofit lnSpcReduction="10000"/>
          </a:bodyPr>
          <a:lstStyle/>
          <a:p>
            <a:r>
              <a:rPr lang="hr-HR" dirty="0"/>
              <a:t>7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3E0CCB14-CB1F-7800-5D44-E0F6180C6D7F}"/>
              </a:ext>
            </a:extLst>
          </p:cNvPr>
          <p:cNvGrpSpPr/>
          <p:nvPr/>
        </p:nvGrpSpPr>
        <p:grpSpPr>
          <a:xfrm>
            <a:off x="2617161" y="3546762"/>
            <a:ext cx="6916115" cy="2769011"/>
            <a:chOff x="2551921" y="2762158"/>
            <a:chExt cx="6916115" cy="2769011"/>
          </a:xfrm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FE87E8C6-E15B-5F14-3F77-236DA59D943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580499" y="2762158"/>
              <a:ext cx="6858957" cy="1333686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5DF43154-503A-D6FA-92AE-0B9D8F3DCC8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551921" y="4140325"/>
              <a:ext cx="6916115" cy="1390844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09197532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491E6A-93E2-CEF2-7ACA-726C49939E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B137DB-77BF-3940-D056-CC1D48A6D0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dirty="0">
                <a:latin typeface="Arial" panose="020B0604020202020204" pitchFamily="34" charset="0"/>
                <a:cs typeface="Arial" panose="020B0604020202020204" pitchFamily="34" charset="0"/>
              </a:rPr>
              <a:t>Okvir VIBE</a:t>
            </a:r>
            <a:endParaRPr lang="hr-HR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0A7DCF3-5E34-BB41-57CB-ABCF2D70C6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rmAutofit lnSpcReduction="10000"/>
          </a:bodyPr>
          <a:lstStyle/>
          <a:p>
            <a:r>
              <a:rPr lang="hr-HR" dirty="0"/>
              <a:t>8</a:t>
            </a:r>
          </a:p>
        </p:txBody>
      </p:sp>
      <p:pic>
        <p:nvPicPr>
          <p:cNvPr id="8" name="Picture 7" descr="A diagram of a bird&#10;&#10;AI-generated content may be incorrect.">
            <a:extLst>
              <a:ext uri="{FF2B5EF4-FFF2-40B4-BE49-F238E27FC236}">
                <a16:creationId xmlns:a16="http://schemas.microsoft.com/office/drawing/2014/main" id="{21D202AF-056A-3282-83D7-9E8DEB212C5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1390" y="2334827"/>
            <a:ext cx="10791450" cy="3446755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4338E3E9-19BE-142E-0026-27CB290AB2E2}"/>
              </a:ext>
            </a:extLst>
          </p:cNvPr>
          <p:cNvSpPr txBox="1"/>
          <p:nvPr/>
        </p:nvSpPr>
        <p:spPr>
          <a:xfrm>
            <a:off x="2354555" y="5873373"/>
            <a:ext cx="7085120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hr-HR" sz="2600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P</a:t>
            </a:r>
            <a:r>
              <a:rPr lang="hr-HR" sz="2600" noProof="0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reuzeto iz </a:t>
            </a:r>
            <a:r>
              <a:rPr lang="en-US" sz="2600" noProof="0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[</a:t>
            </a:r>
            <a:r>
              <a:rPr lang="en-US" sz="2600" noProof="0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sabolic25iccv</a:t>
            </a:r>
            <a:r>
              <a:rPr lang="en-US" sz="2600" noProof="0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]</a:t>
            </a:r>
            <a:endParaRPr lang="hr-HR" sz="2600" noProof="0" dirty="0">
              <a:solidFill>
                <a:schemeClr val="accent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4347153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D79DC0-028A-FC80-FDF1-FA8AEAD034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098E85-BDA4-7EB5-511C-62EAD823B7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noProof="0" dirty="0">
                <a:latin typeface="Arial" panose="020B0604020202020204" pitchFamily="34" charset="0"/>
                <a:cs typeface="Arial" panose="020B0604020202020204" pitchFamily="34" charset="0"/>
              </a:rPr>
              <a:t>Konzistencijski gubitak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15AFB7-9C7E-F25E-00CD-1CC2A10E811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61872" y="1691322"/>
            <a:ext cx="9692640" cy="4872480"/>
          </a:xfrm>
        </p:spPr>
        <p:txBody>
          <a:bodyPr>
            <a:normAutofit lnSpcReduction="10000"/>
          </a:bodyPr>
          <a:lstStyle/>
          <a:p>
            <a:endParaRPr lang="hr-HR" sz="26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m</a:t>
            </a:r>
            <a:r>
              <a:rPr lang="hr-HR" sz="2600" noProof="0" dirty="0">
                <a:latin typeface="Arial" panose="020B0604020202020204" pitchFamily="34" charset="0"/>
                <a:cs typeface="Arial" panose="020B0604020202020204" pitchFamily="34" charset="0"/>
              </a:rPr>
              <a:t>otivacija: </a:t>
            </a:r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samonadzirano učenje može </a:t>
            </a:r>
            <a:r>
              <a:rPr lang="hr-HR" sz="2600" b="1" dirty="0">
                <a:latin typeface="Arial" panose="020B0604020202020204" pitchFamily="34" charset="0"/>
                <a:cs typeface="Arial" panose="020B0604020202020204" pitchFamily="34" charset="0"/>
              </a:rPr>
              <a:t>poboljšati performanse</a:t>
            </a:r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 modela </a:t>
            </a:r>
            <a:r>
              <a:rPr lang="hr-HR" sz="2600" b="1" dirty="0">
                <a:latin typeface="Arial" panose="020B0604020202020204" pitchFamily="34" charset="0"/>
                <a:cs typeface="Arial" panose="020B0604020202020204" pitchFamily="34" charset="0"/>
              </a:rPr>
              <a:t>bez korištenja oznaka</a:t>
            </a:r>
            <a:endParaRPr lang="hr-HR" sz="2600" b="1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hr-HR" sz="2600" noProof="0" dirty="0">
                <a:latin typeface="Arial" panose="020B0604020202020204" pitchFamily="34" charset="0"/>
                <a:cs typeface="Arial" panose="020B0604020202020204" pitchFamily="34" charset="0"/>
              </a:rPr>
              <a:t>cilj: osigurati da model z</a:t>
            </a:r>
            <a:r>
              <a:rPr lang="en-US" sz="2600" noProof="0" dirty="0">
                <a:latin typeface="Arial" panose="020B0604020202020204" pitchFamily="34" charset="0"/>
                <a:cs typeface="Arial" panose="020B0604020202020204" pitchFamily="34" charset="0"/>
              </a:rPr>
              <a:t>a</a:t>
            </a:r>
            <a:r>
              <a:rPr lang="en-US" sz="2600" b="1" noProof="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hr-HR" sz="2600" b="1" noProof="0" dirty="0">
                <a:latin typeface="Arial" panose="020B0604020202020204" pitchFamily="34" charset="0"/>
                <a:cs typeface="Arial" panose="020B0604020202020204" pitchFamily="34" charset="0"/>
              </a:rPr>
              <a:t>različite perturbacije istog ulaza </a:t>
            </a:r>
            <a:r>
              <a:rPr lang="hr-HR" sz="2600" noProof="0" dirty="0">
                <a:latin typeface="Arial" panose="020B0604020202020204" pitchFamily="34" charset="0"/>
                <a:cs typeface="Arial" panose="020B0604020202020204" pitchFamily="34" charset="0"/>
              </a:rPr>
              <a:t>daje</a:t>
            </a:r>
            <a:r>
              <a:rPr lang="hr-HR" sz="2600" b="1" noProof="0" dirty="0">
                <a:latin typeface="Arial" panose="020B0604020202020204" pitchFamily="34" charset="0"/>
                <a:cs typeface="Arial" panose="020B0604020202020204" pitchFamily="34" charset="0"/>
              </a:rPr>
              <a:t> isti izlaz</a:t>
            </a:r>
            <a:endParaRPr lang="hr-HR" sz="2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hr-HR" sz="2600" b="1" noProof="0" dirty="0">
                <a:latin typeface="Arial" panose="020B0604020202020204" pitchFamily="34" charset="0"/>
                <a:cs typeface="Arial" panose="020B0604020202020204" pitchFamily="34" charset="0"/>
              </a:rPr>
              <a:t>dva pogleda </a:t>
            </a:r>
            <a:r>
              <a:rPr lang="hr-HR" sz="2600" noProof="0" dirty="0">
                <a:latin typeface="Arial" panose="020B0604020202020204" pitchFamily="34" charset="0"/>
                <a:cs typeface="Arial" panose="020B0604020202020204" pitchFamily="34" charset="0"/>
              </a:rPr>
              <a:t>na podatke: </a:t>
            </a:r>
            <a:r>
              <a:rPr lang="hr-HR" sz="2600" b="1" dirty="0">
                <a:latin typeface="Arial" panose="020B0604020202020204" pitchFamily="34" charset="0"/>
                <a:cs typeface="Arial" panose="020B0604020202020204" pitchFamily="34" charset="0"/>
              </a:rPr>
              <a:t>slabe</a:t>
            </a:r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 i </a:t>
            </a:r>
            <a:r>
              <a:rPr lang="hr-HR" sz="2600" b="1" dirty="0">
                <a:latin typeface="Arial" panose="020B0604020202020204" pitchFamily="34" charset="0"/>
                <a:cs typeface="Arial" panose="020B0604020202020204" pitchFamily="34" charset="0"/>
              </a:rPr>
              <a:t>jake</a:t>
            </a:r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 augmentacije</a:t>
            </a:r>
          </a:p>
          <a:p>
            <a:endParaRPr lang="hr-HR" sz="26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hr-HR" sz="2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povećavanje </a:t>
            </a:r>
            <a:r>
              <a:rPr lang="hr-HR" sz="2600" b="1" dirty="0">
                <a:latin typeface="Arial" panose="020B0604020202020204" pitchFamily="34" charset="0"/>
                <a:cs typeface="Arial" panose="020B0604020202020204" pitchFamily="34" charset="0"/>
              </a:rPr>
              <a:t>invarijantnosti na perturbacije ulaza</a:t>
            </a:r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, sprječavanje </a:t>
            </a:r>
            <a:r>
              <a:rPr lang="hr-HR" sz="2600" b="1" dirty="0">
                <a:latin typeface="Arial" panose="020B0604020202020204" pitchFamily="34" charset="0"/>
                <a:cs typeface="Arial" panose="020B0604020202020204" pitchFamily="34" charset="0"/>
              </a:rPr>
              <a:t>prenaučenosti</a:t>
            </a:r>
            <a:endParaRPr lang="hr-HR" sz="2600" b="1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hr-HR" sz="28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58F7740-24FB-E7AA-570E-A745E1EDE1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rmAutofit lnSpcReduction="10000"/>
          </a:bodyPr>
          <a:lstStyle/>
          <a:p>
            <a:r>
              <a:rPr lang="hr-HR" dirty="0"/>
              <a:t>9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6095EC41-835B-7249-819C-F56930CD2E6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63475" y="4723097"/>
            <a:ext cx="6573167" cy="5715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0780806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53F662-7F05-F101-CFCD-E27FA172E85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hr-HR" dirty="0">
                <a:latin typeface="Arial" panose="020B0604020202020204" pitchFamily="34" charset="0"/>
                <a:cs typeface="Arial" panose="020B0604020202020204" pitchFamily="34" charset="0"/>
              </a:rPr>
              <a:t>Eksperimenti</a:t>
            </a:r>
          </a:p>
        </p:txBody>
      </p:sp>
    </p:spTree>
    <p:extLst>
      <p:ext uri="{BB962C8B-B14F-4D97-AF65-F5344CB8AC3E}">
        <p14:creationId xmlns:p14="http://schemas.microsoft.com/office/powerpoint/2010/main" val="421727675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EA210E-596F-E748-8C35-1EAE13641B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CABB60-F370-ADCB-3E8A-5928FA8EC1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noProof="0" dirty="0">
                <a:latin typeface="Arial" panose="020B0604020202020204" pitchFamily="34" charset="0"/>
                <a:cs typeface="Arial" panose="020B0604020202020204" pitchFamily="34" charset="0"/>
              </a:rPr>
              <a:t>Skup podataka CIFAR-10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EF3CE90-BB8F-C58E-44E7-AC131DE824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61871" y="1614055"/>
            <a:ext cx="10287977" cy="4949747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hr-HR" sz="26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hr-HR" sz="2600" noProof="0" dirty="0">
                <a:latin typeface="Arial" panose="020B0604020202020204" pitchFamily="34" charset="0"/>
                <a:cs typeface="Arial" panose="020B0604020202020204" pitchFamily="34" charset="0"/>
              </a:rPr>
              <a:t>slike </a:t>
            </a:r>
            <a:r>
              <a:rPr lang="hr-HR" sz="2600" b="1" noProof="0" dirty="0">
                <a:latin typeface="Arial" panose="020B0604020202020204" pitchFamily="34" charset="0"/>
                <a:cs typeface="Arial" panose="020B0604020202020204" pitchFamily="34" charset="0"/>
              </a:rPr>
              <a:t>dimenzija 32 x 32</a:t>
            </a:r>
            <a:endParaRPr lang="hr-HR" sz="2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hr-HR" sz="2600" b="1" noProof="0" dirty="0">
                <a:latin typeface="Arial" panose="020B0604020202020204" pitchFamily="34" charset="0"/>
                <a:cs typeface="Arial" panose="020B0604020202020204" pitchFamily="34" charset="0"/>
              </a:rPr>
              <a:t>10 razreda</a:t>
            </a:r>
          </a:p>
          <a:p>
            <a:r>
              <a:rPr lang="hr-HR" sz="2600" b="1" noProof="0" dirty="0">
                <a:latin typeface="Arial" panose="020B0604020202020204" pitchFamily="34" charset="0"/>
                <a:cs typeface="Arial" panose="020B0604020202020204" pitchFamily="34" charset="0"/>
              </a:rPr>
              <a:t>50</a:t>
            </a:r>
            <a:r>
              <a:rPr lang="hr-HR" sz="2600" b="1" dirty="0">
                <a:latin typeface="Arial" panose="020B0604020202020204" pitchFamily="34" charset="0"/>
                <a:cs typeface="Arial" panose="020B0604020202020204" pitchFamily="34" charset="0"/>
              </a:rPr>
              <a:t> 000 primjera </a:t>
            </a:r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u skupu za učenje, </a:t>
            </a:r>
            <a:r>
              <a:rPr lang="hr-HR" sz="2600" b="1" dirty="0">
                <a:latin typeface="Arial" panose="020B0604020202020204" pitchFamily="34" charset="0"/>
                <a:cs typeface="Arial" panose="020B0604020202020204" pitchFamily="34" charset="0"/>
              </a:rPr>
              <a:t>10 000 </a:t>
            </a:r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u skupu za ispitivanje</a:t>
            </a:r>
            <a:endParaRPr lang="hr-HR" sz="26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1659D13-EB30-4350-4FAD-40148677A2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rmAutofit lnSpcReduction="10000"/>
          </a:bodyPr>
          <a:lstStyle/>
          <a:p>
            <a:r>
              <a:rPr lang="hr-HR" dirty="0"/>
              <a:t>10</a:t>
            </a:r>
          </a:p>
        </p:txBody>
      </p:sp>
      <p:pic>
        <p:nvPicPr>
          <p:cNvPr id="7" name="Picture 6" descr="A collage of images of animals&#10;&#10;AI-generated content may be incorrect.">
            <a:extLst>
              <a:ext uri="{FF2B5EF4-FFF2-40B4-BE49-F238E27FC236}">
                <a16:creationId xmlns:a16="http://schemas.microsoft.com/office/drawing/2014/main" id="{FE05BE1E-2270-E1F0-58CB-713F6D7077C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51332"/>
          <a:stretch>
            <a:fillRect/>
          </a:stretch>
        </p:blipFill>
        <p:spPr>
          <a:xfrm>
            <a:off x="1064302" y="4119676"/>
            <a:ext cx="9654770" cy="23493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91836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D8BA72-F8FC-6563-3E0C-B5FDA07180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8F24E7-9633-FB85-06F9-F2C0DBC01E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noProof="0" dirty="0">
                <a:latin typeface="Arial" panose="020B0604020202020204" pitchFamily="34" charset="0"/>
                <a:cs typeface="Arial" panose="020B0604020202020204" pitchFamily="34" charset="0"/>
              </a:rPr>
              <a:t>Postavke eksperimenata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EB4A883-A8AE-7B1F-1ED4-64107D08D7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61872" y="1828800"/>
            <a:ext cx="9267046" cy="4814455"/>
          </a:xfrm>
        </p:spPr>
        <p:txBody>
          <a:bodyPr>
            <a:normAutofit/>
          </a:bodyPr>
          <a:lstStyle/>
          <a:p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3 ponavljanja pojedinih eksperimenata</a:t>
            </a:r>
          </a:p>
          <a:p>
            <a:pPr marL="0" indent="0">
              <a:buNone/>
            </a:pPr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Zašumljene oznake</a:t>
            </a:r>
          </a:p>
          <a:p>
            <a:pPr lvl="1"/>
            <a:r>
              <a:rPr lang="hr-HR" sz="2600" b="1" dirty="0">
                <a:latin typeface="Arial" panose="020B0604020202020204" pitchFamily="34" charset="0"/>
                <a:cs typeface="Arial" panose="020B0604020202020204" pitchFamily="34" charset="0"/>
              </a:rPr>
              <a:t>s</a:t>
            </a:r>
            <a:r>
              <a:rPr lang="hr-HR" sz="2600" b="1" noProof="0" dirty="0">
                <a:latin typeface="Arial" panose="020B0604020202020204" pitchFamily="34" charset="0"/>
                <a:cs typeface="Arial" panose="020B0604020202020204" pitchFamily="34" charset="0"/>
              </a:rPr>
              <a:t>imetrično</a:t>
            </a:r>
            <a:r>
              <a:rPr lang="hr-HR" sz="2600" noProof="0" dirty="0">
                <a:latin typeface="Arial" panose="020B0604020202020204" pitchFamily="34" charset="0"/>
                <a:cs typeface="Arial" panose="020B0604020202020204" pitchFamily="34" charset="0"/>
              </a:rPr>
              <a:t> zašumljivanje uz stopu šuma </a:t>
            </a:r>
            <a:r>
              <a:rPr lang="hr-HR" sz="2600" b="1" noProof="0" dirty="0">
                <a:latin typeface="Arial" panose="020B0604020202020204" pitchFamily="34" charset="0"/>
                <a:cs typeface="Arial" panose="020B0604020202020204" pitchFamily="34" charset="0"/>
              </a:rPr>
              <a:t>20%</a:t>
            </a:r>
            <a:r>
              <a:rPr lang="hr-HR" sz="2600" noProof="0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hr-HR" sz="2600" b="1" noProof="0" dirty="0">
                <a:latin typeface="Arial" panose="020B0604020202020204" pitchFamily="34" charset="0"/>
                <a:cs typeface="Arial" panose="020B0604020202020204" pitchFamily="34" charset="0"/>
              </a:rPr>
              <a:t>50%</a:t>
            </a:r>
            <a:r>
              <a:rPr lang="hr-HR" sz="2600" noProof="0" dirty="0">
                <a:latin typeface="Arial" panose="020B0604020202020204" pitchFamily="34" charset="0"/>
                <a:cs typeface="Arial" panose="020B0604020202020204" pitchFamily="34" charset="0"/>
              </a:rPr>
              <a:t> i </a:t>
            </a:r>
            <a:r>
              <a:rPr lang="hr-HR" sz="2600" b="1" noProof="0" dirty="0">
                <a:latin typeface="Arial" panose="020B0604020202020204" pitchFamily="34" charset="0"/>
                <a:cs typeface="Arial" panose="020B0604020202020204" pitchFamily="34" charset="0"/>
              </a:rPr>
              <a:t>80%</a:t>
            </a:r>
          </a:p>
          <a:p>
            <a:pPr lvl="1"/>
            <a:r>
              <a:rPr lang="hr-HR" sz="2600" b="1" dirty="0">
                <a:latin typeface="Arial" panose="020B0604020202020204" pitchFamily="34" charset="0"/>
                <a:cs typeface="Arial" panose="020B0604020202020204" pitchFamily="34" charset="0"/>
              </a:rPr>
              <a:t>asimetrično</a:t>
            </a:r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 zašumljivanje uz stopu šuma </a:t>
            </a:r>
            <a:r>
              <a:rPr lang="hr-HR" sz="2600" b="1" dirty="0">
                <a:latin typeface="Arial" panose="020B0604020202020204" pitchFamily="34" charset="0"/>
                <a:cs typeface="Arial" panose="020B0604020202020204" pitchFamily="34" charset="0"/>
              </a:rPr>
              <a:t>40%</a:t>
            </a:r>
          </a:p>
          <a:p>
            <a:pPr lvl="1"/>
            <a:r>
              <a:rPr lang="hr-HR" sz="2600" noProof="0" dirty="0">
                <a:latin typeface="Arial" panose="020B0604020202020204" pitchFamily="34" charset="0"/>
                <a:cs typeface="Arial" panose="020B0604020202020204" pitchFamily="34" charset="0"/>
              </a:rPr>
              <a:t>vrednovanje</a:t>
            </a:r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: </a:t>
            </a:r>
            <a:r>
              <a:rPr lang="hr-HR" sz="2600" b="1" dirty="0">
                <a:latin typeface="Arial" panose="020B0604020202020204" pitchFamily="34" charset="0"/>
                <a:cs typeface="Arial" panose="020B0604020202020204" pitchFamily="34" charset="0"/>
              </a:rPr>
              <a:t>točnost </a:t>
            </a:r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na čistom skupu</a:t>
            </a:r>
            <a:endParaRPr lang="hr-HR" sz="26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>
              <a:buNone/>
            </a:pPr>
            <a:r>
              <a:rPr lang="hr-HR" sz="2600" noProof="0" dirty="0">
                <a:latin typeface="Arial" panose="020B0604020202020204" pitchFamily="34" charset="0"/>
                <a:cs typeface="Arial" panose="020B0604020202020204" pitchFamily="34" charset="0"/>
              </a:rPr>
              <a:t>Napadi umetanjem stražnjih vrata</a:t>
            </a:r>
          </a:p>
          <a:p>
            <a:pPr lvl="1"/>
            <a:r>
              <a:rPr lang="hr-HR" sz="2600" noProof="0" dirty="0">
                <a:latin typeface="Arial" panose="020B0604020202020204" pitchFamily="34" charset="0"/>
                <a:cs typeface="Arial" panose="020B0604020202020204" pitchFamily="34" charset="0"/>
              </a:rPr>
              <a:t>napadi </a:t>
            </a:r>
            <a:r>
              <a:rPr lang="hr-HR" sz="2600" b="1" noProof="0" dirty="0">
                <a:latin typeface="Arial" panose="020B0604020202020204" pitchFamily="34" charset="0"/>
                <a:cs typeface="Arial" panose="020B0604020202020204" pitchFamily="34" charset="0"/>
              </a:rPr>
              <a:t>BadNets</a:t>
            </a:r>
            <a:r>
              <a:rPr lang="hr-HR" sz="2600" noProof="0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hr-HR" sz="2600" b="1" noProof="0" dirty="0">
                <a:latin typeface="Arial" panose="020B0604020202020204" pitchFamily="34" charset="0"/>
                <a:cs typeface="Arial" panose="020B0604020202020204" pitchFamily="34" charset="0"/>
              </a:rPr>
              <a:t>Ble</a:t>
            </a:r>
            <a:r>
              <a:rPr lang="hr-HR" sz="2600" b="1" dirty="0">
                <a:latin typeface="Arial" panose="020B0604020202020204" pitchFamily="34" charset="0"/>
                <a:cs typeface="Arial" panose="020B0604020202020204" pitchFamily="34" charset="0"/>
              </a:rPr>
              <a:t>nd</a:t>
            </a:r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 i </a:t>
            </a:r>
            <a:r>
              <a:rPr lang="hr-HR" sz="2600" b="1" dirty="0">
                <a:latin typeface="Arial" panose="020B0604020202020204" pitchFamily="34" charset="0"/>
                <a:cs typeface="Arial" panose="020B0604020202020204" pitchFamily="34" charset="0"/>
              </a:rPr>
              <a:t>WaNet</a:t>
            </a:r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 uz stopu trovanja </a:t>
            </a:r>
            <a:r>
              <a:rPr lang="hr-HR" sz="2600" b="1" dirty="0">
                <a:latin typeface="Arial" panose="020B0604020202020204" pitchFamily="34" charset="0"/>
                <a:cs typeface="Arial" panose="020B0604020202020204" pitchFamily="34" charset="0"/>
              </a:rPr>
              <a:t>10%</a:t>
            </a:r>
          </a:p>
          <a:p>
            <a:pPr lvl="1"/>
            <a:r>
              <a:rPr lang="hr-HR" sz="2600" b="1" i="1" dirty="0">
                <a:latin typeface="Arial" panose="020B0604020202020204" pitchFamily="34" charset="0"/>
                <a:cs typeface="Arial" panose="020B0604020202020204" pitchFamily="34" charset="0"/>
              </a:rPr>
              <a:t>all-to-one</a:t>
            </a:r>
            <a:r>
              <a:rPr lang="hr-HR" sz="2600" b="1" dirty="0">
                <a:latin typeface="Arial" panose="020B0604020202020204" pitchFamily="34" charset="0"/>
                <a:cs typeface="Arial" panose="020B0604020202020204" pitchFamily="34" charset="0"/>
              </a:rPr>
              <a:t> izmjena oznaka </a:t>
            </a:r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uz ciljni razred </a:t>
            </a:r>
            <a:r>
              <a:rPr lang="hr-HR" sz="2600" b="1" i="1" dirty="0">
                <a:latin typeface="Arial" panose="020B0604020202020204" pitchFamily="34" charset="0"/>
                <a:cs typeface="Arial" panose="020B0604020202020204" pitchFamily="34" charset="0"/>
              </a:rPr>
              <a:t>airplane</a:t>
            </a:r>
          </a:p>
          <a:p>
            <a:pPr lvl="1"/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vrednovanje: </a:t>
            </a:r>
            <a:r>
              <a:rPr lang="hr-HR" sz="2600" b="1" dirty="0">
                <a:latin typeface="Arial" panose="020B0604020202020204" pitchFamily="34" charset="0"/>
                <a:cs typeface="Arial" panose="020B0604020202020204" pitchFamily="34" charset="0"/>
              </a:rPr>
              <a:t>točnost </a:t>
            </a:r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na čistom skupu, </a:t>
            </a:r>
            <a:r>
              <a:rPr lang="hr-HR" sz="2600" b="1" dirty="0">
                <a:latin typeface="Arial" panose="020B0604020202020204" pitchFamily="34" charset="0"/>
                <a:cs typeface="Arial" panose="020B0604020202020204" pitchFamily="34" charset="0"/>
              </a:rPr>
              <a:t>udio uspješnih napada</a:t>
            </a:r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 (engl. </a:t>
            </a:r>
            <a:r>
              <a:rPr lang="hr-HR" sz="2600" i="1" dirty="0">
                <a:latin typeface="Arial" panose="020B0604020202020204" pitchFamily="34" charset="0"/>
                <a:cs typeface="Arial" panose="020B0604020202020204" pitchFamily="34" charset="0"/>
              </a:rPr>
              <a:t>attack success rate </a:t>
            </a:r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– ASR)</a:t>
            </a:r>
            <a:endParaRPr lang="en-US" sz="2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EB9FC41-BE0F-E3F3-3223-2366B7B47F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rmAutofit lnSpcReduction="10000"/>
          </a:bodyPr>
          <a:lstStyle/>
          <a:p>
            <a:r>
              <a:rPr lang="hr-HR" dirty="0"/>
              <a:t>11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3EA77EA-4449-0F2C-6C38-4C9B64332ED9}"/>
              </a:ext>
            </a:extLst>
          </p:cNvPr>
          <p:cNvSpPr txBox="1"/>
          <p:nvPr/>
        </p:nvSpPr>
        <p:spPr>
          <a:xfrm>
            <a:off x="10228507" y="6073019"/>
            <a:ext cx="809199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endParaRPr lang="hr-HR" dirty="0"/>
          </a:p>
        </p:txBody>
      </p:sp>
    </p:spTree>
    <p:extLst>
      <p:ext uri="{BB962C8B-B14F-4D97-AF65-F5344CB8AC3E}">
        <p14:creationId xmlns:p14="http://schemas.microsoft.com/office/powerpoint/2010/main" val="219684502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7D72D6-C03B-5AFB-6481-B3F78BB431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B7FFE8-0963-75FD-A7A2-DA50C1FB8C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noProof="0" dirty="0">
                <a:latin typeface="Arial" panose="020B0604020202020204" pitchFamily="34" charset="0"/>
                <a:cs typeface="Arial" panose="020B0604020202020204" pitchFamily="34" charset="0"/>
              </a:rPr>
              <a:t>Postavke eksperimenata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1246B9-74CB-0ABA-3A49-490A8D32C3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61871" y="1691322"/>
            <a:ext cx="9222657" cy="4872480"/>
          </a:xfrm>
        </p:spPr>
        <p:txBody>
          <a:bodyPr>
            <a:noAutofit/>
          </a:bodyPr>
          <a:lstStyle/>
          <a:p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arhitektura </a:t>
            </a:r>
            <a:r>
              <a:rPr lang="hr-HR" sz="2600" b="1" dirty="0">
                <a:latin typeface="Arial" panose="020B0604020202020204" pitchFamily="34" charset="0"/>
                <a:cs typeface="Arial" panose="020B0604020202020204" pitchFamily="34" charset="0"/>
              </a:rPr>
              <a:t>ResNet18</a:t>
            </a:r>
          </a:p>
          <a:p>
            <a:r>
              <a:rPr lang="hr-HR" sz="2600" b="1" noProof="0" dirty="0">
                <a:latin typeface="Arial" panose="020B0604020202020204" pitchFamily="34" charset="0"/>
                <a:cs typeface="Arial" panose="020B0604020202020204" pitchFamily="34" charset="0"/>
              </a:rPr>
              <a:t>samonadzirana inicijalizacija </a:t>
            </a:r>
            <a:r>
              <a:rPr lang="hr-HR" sz="2600" noProof="0" dirty="0">
                <a:latin typeface="Arial" panose="020B0604020202020204" pitchFamily="34" charset="0"/>
                <a:cs typeface="Arial" panose="020B0604020202020204" pitchFamily="34" charset="0"/>
              </a:rPr>
              <a:t>modela okvirom </a:t>
            </a:r>
            <a:r>
              <a:rPr lang="hr-HR" sz="2600" b="1" noProof="0" dirty="0">
                <a:latin typeface="Arial" panose="020B0604020202020204" pitchFamily="34" charset="0"/>
                <a:cs typeface="Arial" panose="020B0604020202020204" pitchFamily="34" charset="0"/>
              </a:rPr>
              <a:t>All4One</a:t>
            </a:r>
          </a:p>
          <a:p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inicijalizacija čistih i zatrovanih prototipova na </a:t>
            </a:r>
            <a:r>
              <a:rPr lang="hr-HR" sz="2600" b="1" dirty="0">
                <a:latin typeface="Arial" panose="020B0604020202020204" pitchFamily="34" charset="0"/>
                <a:cs typeface="Arial" panose="020B0604020202020204" pitchFamily="34" charset="0"/>
              </a:rPr>
              <a:t>centroide pripadnih razreda</a:t>
            </a:r>
            <a:endParaRPr lang="en-US" sz="2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provođenje </a:t>
            </a:r>
            <a:r>
              <a:rPr lang="hr-HR" sz="2600" b="1" dirty="0">
                <a:latin typeface="Arial" panose="020B0604020202020204" pitchFamily="34" charset="0"/>
                <a:cs typeface="Arial" panose="020B0604020202020204" pitchFamily="34" charset="0"/>
              </a:rPr>
              <a:t>E koraka </a:t>
            </a:r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učenja </a:t>
            </a:r>
            <a:r>
              <a:rPr lang="hr-HR" sz="2600" b="1" dirty="0">
                <a:latin typeface="Arial" panose="020B0604020202020204" pitchFamily="34" charset="0"/>
                <a:cs typeface="Arial" panose="020B0604020202020204" pitchFamily="34" charset="0"/>
              </a:rPr>
              <a:t>svakih 1000 iteracija</a:t>
            </a:r>
          </a:p>
          <a:p>
            <a:r>
              <a:rPr lang="hr-HR" sz="2600" b="1" dirty="0">
                <a:latin typeface="Arial" panose="020B0604020202020204" pitchFamily="34" charset="0"/>
                <a:cs typeface="Arial" panose="020B0604020202020204" pitchFamily="34" charset="0"/>
              </a:rPr>
              <a:t>faktor konzistencijskog gubitka </a:t>
            </a:r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iznosa</a:t>
            </a:r>
            <a:r>
              <a:rPr lang="hr-HR" sz="2600" b="1" dirty="0">
                <a:latin typeface="Arial" panose="020B0604020202020204" pitchFamily="34" charset="0"/>
                <a:cs typeface="Arial" panose="020B0604020202020204" pitchFamily="34" charset="0"/>
              </a:rPr>
              <a:t> 5</a:t>
            </a:r>
            <a:endParaRPr lang="hr-HR" sz="2600" b="1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učenje </a:t>
            </a:r>
            <a:r>
              <a:rPr lang="hr-HR" sz="2600" b="1" dirty="0">
                <a:latin typeface="Arial" panose="020B0604020202020204" pitchFamily="34" charset="0"/>
                <a:cs typeface="Arial" panose="020B0604020202020204" pitchFamily="34" charset="0"/>
              </a:rPr>
              <a:t>30 000 iteracija </a:t>
            </a:r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okvirom </a:t>
            </a:r>
            <a:r>
              <a:rPr lang="hr-HR" sz="2600" b="1" dirty="0">
                <a:latin typeface="Arial" panose="020B0604020202020204" pitchFamily="34" charset="0"/>
                <a:cs typeface="Arial" panose="020B0604020202020204" pitchFamily="34" charset="0"/>
              </a:rPr>
              <a:t>VIBE </a:t>
            </a:r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uz optimizator </a:t>
            </a:r>
            <a:r>
              <a:rPr lang="hr-HR" sz="2600" b="1" dirty="0">
                <a:latin typeface="Arial" panose="020B0604020202020204" pitchFamily="34" charset="0"/>
                <a:cs typeface="Arial" panose="020B0604020202020204" pitchFamily="34" charset="0"/>
              </a:rPr>
              <a:t>SGD</a:t>
            </a:r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 sa </a:t>
            </a:r>
            <a:r>
              <a:rPr lang="hr-HR" sz="2600" b="1" dirty="0">
                <a:latin typeface="Arial" panose="020B0604020202020204" pitchFamily="34" charset="0"/>
                <a:cs typeface="Arial" panose="020B0604020202020204" pitchFamily="34" charset="0"/>
              </a:rPr>
              <a:t>stopom učenja </a:t>
            </a:r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iznosa</a:t>
            </a:r>
            <a:r>
              <a:rPr lang="hr-HR" sz="2600" b="1" dirty="0">
                <a:latin typeface="Arial" panose="020B0604020202020204" pitchFamily="34" charset="0"/>
                <a:cs typeface="Arial" panose="020B0604020202020204" pitchFamily="34" charset="0"/>
              </a:rPr>
              <a:t> 0.01</a:t>
            </a:r>
            <a:r>
              <a:rPr lang="en-US" sz="26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i strategijom </a:t>
            </a:r>
            <a:r>
              <a:rPr lang="hr-HR" sz="2600" b="1" dirty="0">
                <a:latin typeface="Arial" panose="020B0604020202020204" pitchFamily="34" charset="0"/>
                <a:cs typeface="Arial" panose="020B0604020202020204" pitchFamily="34" charset="0"/>
              </a:rPr>
              <a:t>kosinusnog kaljenja </a:t>
            </a:r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bez restarta</a:t>
            </a:r>
          </a:p>
          <a:p>
            <a:r>
              <a:rPr lang="hr-HR" sz="2600" noProof="0" dirty="0">
                <a:latin typeface="Arial" panose="020B0604020202020204" pitchFamily="34" charset="0"/>
                <a:cs typeface="Arial" panose="020B0604020202020204" pitchFamily="34" charset="0"/>
              </a:rPr>
              <a:t>skup podijeljen na </a:t>
            </a:r>
            <a:r>
              <a:rPr lang="hr-HR" sz="2600" b="1" noProof="0" dirty="0">
                <a:latin typeface="Arial" panose="020B0604020202020204" pitchFamily="34" charset="0"/>
                <a:cs typeface="Arial" panose="020B0604020202020204" pitchFamily="34" charset="0"/>
              </a:rPr>
              <a:t>minigrupe </a:t>
            </a:r>
            <a:r>
              <a:rPr lang="hr-HR" sz="2600" noProof="0" dirty="0">
                <a:latin typeface="Arial" panose="020B0604020202020204" pitchFamily="34" charset="0"/>
                <a:cs typeface="Arial" panose="020B0604020202020204" pitchFamily="34" charset="0"/>
              </a:rPr>
              <a:t>veličine</a:t>
            </a:r>
            <a:r>
              <a:rPr lang="hr-HR" sz="2600" b="1" noProof="0" dirty="0">
                <a:latin typeface="Arial" panose="020B0604020202020204" pitchFamily="34" charset="0"/>
                <a:cs typeface="Arial" panose="020B0604020202020204" pitchFamily="34" charset="0"/>
              </a:rPr>
              <a:t> 256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5F96B62-BE47-1DBB-D7A7-59EE9D395A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1</a:t>
            </a:r>
            <a:r>
              <a:rPr lang="hr-HR" dirty="0"/>
              <a:t>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94CE49C-7183-98A8-00E6-7BD89AE0F6A1}"/>
              </a:ext>
            </a:extLst>
          </p:cNvPr>
          <p:cNvSpPr txBox="1"/>
          <p:nvPr/>
        </p:nvSpPr>
        <p:spPr>
          <a:xfrm>
            <a:off x="10228507" y="6073019"/>
            <a:ext cx="809199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endParaRPr lang="hr-HR" dirty="0"/>
          </a:p>
        </p:txBody>
      </p:sp>
    </p:spTree>
    <p:extLst>
      <p:ext uri="{BB962C8B-B14F-4D97-AF65-F5344CB8AC3E}">
        <p14:creationId xmlns:p14="http://schemas.microsoft.com/office/powerpoint/2010/main" val="102868124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45C142-48F7-E6F2-4F4D-F2399F2E55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>
            <a:extLst>
              <a:ext uri="{FF2B5EF4-FFF2-40B4-BE49-F238E27FC236}">
                <a16:creationId xmlns:a16="http://schemas.microsoft.com/office/drawing/2014/main" id="{E95A67E5-079A-6313-575A-9F9089293D4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20950" y="3994619"/>
            <a:ext cx="3248478" cy="2076740"/>
          </a:xfrm>
          <a:prstGeom prst="rect">
            <a:avLst/>
          </a:prstGeom>
        </p:spPr>
      </p:pic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A7B1359D-A2F4-20F0-6300-FAB958F1C541}"/>
              </a:ext>
            </a:extLst>
          </p:cNvPr>
          <p:cNvSpPr txBox="1">
            <a:spLocks/>
          </p:cNvSpPr>
          <p:nvPr/>
        </p:nvSpPr>
        <p:spPr>
          <a:xfrm>
            <a:off x="1261871" y="1473693"/>
            <a:ext cx="9222657" cy="509010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82880" indent="-182880" algn="l" defTabSz="914400" rtl="0" eaLnBrk="1" latinLnBrk="0" hangingPunct="1">
              <a:lnSpc>
                <a:spcPct val="95000"/>
              </a:lnSpc>
              <a:spcBef>
                <a:spcPts val="1400"/>
              </a:spcBef>
              <a:spcAft>
                <a:spcPts val="200"/>
              </a:spcAft>
              <a:buClr>
                <a:schemeClr val="accent1"/>
              </a:buClr>
              <a:buSzPct val="80000"/>
              <a:buFont typeface="Arial" pitchFamily="34" charset="0"/>
              <a:buChar char="•"/>
              <a:defRPr sz="2000" kern="1200" spc="1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-18288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8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31520" indent="-18288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6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05840" indent="-18288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280160" indent="-18288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600000" indent="-22860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900000" indent="-22860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200000" indent="-22860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500000" indent="-22860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Stanje tehnike</a:t>
            </a:r>
          </a:p>
          <a:p>
            <a:pPr lvl="1"/>
            <a:r>
              <a:rPr lang="hr-HR" sz="2600" i="1" dirty="0">
                <a:latin typeface="Arial" panose="020B0604020202020204" pitchFamily="34" charset="0"/>
                <a:cs typeface="Arial" panose="020B0604020202020204" pitchFamily="34" charset="0"/>
              </a:rPr>
              <a:t>Sparse over-parameterization </a:t>
            </a:r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hr-HR" sz="2600" b="1" dirty="0">
                <a:latin typeface="Arial" panose="020B0604020202020204" pitchFamily="34" charset="0"/>
                <a:cs typeface="Arial" panose="020B0604020202020204" pitchFamily="34" charset="0"/>
              </a:rPr>
              <a:t>SOP</a:t>
            </a:r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) </a:t>
            </a:r>
          </a:p>
          <a:p>
            <a:pPr lvl="1"/>
            <a:r>
              <a:rPr lang="hr-HR" sz="2600" i="1" dirty="0">
                <a:latin typeface="Arial" panose="020B0604020202020204" pitchFamily="34" charset="0"/>
                <a:cs typeface="Arial" panose="020B0604020202020204" pitchFamily="34" charset="0"/>
              </a:rPr>
              <a:t>Imprecise label learning </a:t>
            </a:r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hr-HR" sz="2600" b="1" dirty="0">
                <a:latin typeface="Arial" panose="020B0604020202020204" pitchFamily="34" charset="0"/>
                <a:cs typeface="Arial" panose="020B0604020202020204" pitchFamily="34" charset="0"/>
              </a:rPr>
              <a:t>ILL</a:t>
            </a:r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  <a:p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SOP uz konzistencijski gubitak i gubitak ravnoteže razreda: </a:t>
            </a:r>
            <a:r>
              <a:rPr lang="hr-HR" sz="2600" b="1" dirty="0">
                <a:latin typeface="Arial" panose="020B0604020202020204" pitchFamily="34" charset="0"/>
                <a:cs typeface="Arial" panose="020B0604020202020204" pitchFamily="34" charset="0"/>
              </a:rPr>
              <a:t>SOP+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9F15B25-5FCC-941C-2A2D-C2B8121C08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61872" y="294198"/>
            <a:ext cx="9775834" cy="1397124"/>
          </a:xfrm>
        </p:spPr>
        <p:txBody>
          <a:bodyPr>
            <a:normAutofit/>
          </a:bodyPr>
          <a:lstStyle/>
          <a:p>
            <a:r>
              <a:rPr lang="hr-HR" sz="4000" dirty="0">
                <a:latin typeface="Arial" panose="020B0604020202020204" pitchFamily="34" charset="0"/>
                <a:cs typeface="Arial" panose="020B0604020202020204" pitchFamily="34" charset="0"/>
              </a:rPr>
              <a:t>Čisti skup, usporedba sa SotA</a:t>
            </a:r>
            <a:br>
              <a:rPr lang="en-US" sz="4000" dirty="0"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hr-HR" sz="40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68B705C-288F-4F9E-5589-47CF7E6871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rmAutofit lnSpcReduction="10000"/>
          </a:bodyPr>
          <a:lstStyle/>
          <a:p>
            <a:r>
              <a:rPr lang="hr-HR" dirty="0"/>
              <a:t>13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D992DE8-972E-8B50-D00F-2BF8E34B752A}"/>
              </a:ext>
            </a:extLst>
          </p:cNvPr>
          <p:cNvSpPr txBox="1"/>
          <p:nvPr/>
        </p:nvSpPr>
        <p:spPr>
          <a:xfrm>
            <a:off x="10228507" y="6073019"/>
            <a:ext cx="809199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endParaRPr lang="hr-HR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6F71E68-1B09-DEC0-43AE-F23FFEEE52AB}"/>
              </a:ext>
            </a:extLst>
          </p:cNvPr>
          <p:cNvSpPr txBox="1"/>
          <p:nvPr/>
        </p:nvSpPr>
        <p:spPr>
          <a:xfrm>
            <a:off x="2211681" y="6363747"/>
            <a:ext cx="706701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r-HR" sz="2000" b="1" dirty="0">
                <a:solidFill>
                  <a:schemeClr val="bg1">
                    <a:lumMod val="6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CE</a:t>
            </a:r>
            <a:r>
              <a:rPr lang="hr-HR" sz="2000" dirty="0">
                <a:solidFill>
                  <a:schemeClr val="bg1">
                    <a:lumMod val="6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– nadzirano učenje		</a:t>
            </a:r>
            <a:r>
              <a:rPr lang="hr-HR" sz="2000" b="1" dirty="0">
                <a:solidFill>
                  <a:schemeClr val="bg1">
                    <a:lumMod val="6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CL</a:t>
            </a:r>
            <a:r>
              <a:rPr lang="hr-HR" sz="2000" dirty="0">
                <a:solidFill>
                  <a:schemeClr val="bg1">
                    <a:lumMod val="6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– konzistencijski gubitak</a:t>
            </a:r>
          </a:p>
        </p:txBody>
      </p:sp>
    </p:spTree>
    <p:extLst>
      <p:ext uri="{BB962C8B-B14F-4D97-AF65-F5344CB8AC3E}">
        <p14:creationId xmlns:p14="http://schemas.microsoft.com/office/powerpoint/2010/main" val="200636424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DCA129-F628-0021-2916-4EAA6E59BF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AE0B81-A4C5-6CBC-7F20-059A234C9C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61872" y="294198"/>
            <a:ext cx="9775834" cy="1397124"/>
          </a:xfrm>
        </p:spPr>
        <p:txBody>
          <a:bodyPr>
            <a:normAutofit/>
          </a:bodyPr>
          <a:lstStyle/>
          <a:p>
            <a:r>
              <a:rPr lang="hr-HR" sz="4000" dirty="0">
                <a:latin typeface="Arial" panose="020B0604020202020204" pitchFamily="34" charset="0"/>
                <a:cs typeface="Arial" panose="020B0604020202020204" pitchFamily="34" charset="0"/>
              </a:rPr>
              <a:t>Zašumljene oznake, usporedba sa SotA</a:t>
            </a:r>
            <a:br>
              <a:rPr lang="en-US" sz="4000" dirty="0"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hr-HR" sz="40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A8B05B9-30AB-34B6-E853-C52B3D8B73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rmAutofit lnSpcReduction="10000"/>
          </a:bodyPr>
          <a:lstStyle/>
          <a:p>
            <a:r>
              <a:rPr lang="hr-HR" dirty="0"/>
              <a:t>14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6051114-9FAB-ECD3-574E-5F88CF5C9E40}"/>
              </a:ext>
            </a:extLst>
          </p:cNvPr>
          <p:cNvSpPr txBox="1"/>
          <p:nvPr/>
        </p:nvSpPr>
        <p:spPr>
          <a:xfrm>
            <a:off x="10228507" y="6073019"/>
            <a:ext cx="809199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endParaRPr lang="hr-HR" dirty="0"/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85E2528B-CAAA-8B27-CC59-FAA7B4001872}"/>
              </a:ext>
            </a:extLst>
          </p:cNvPr>
          <p:cNvGrpSpPr/>
          <p:nvPr/>
        </p:nvGrpSpPr>
        <p:grpSpPr>
          <a:xfrm>
            <a:off x="791569" y="2505759"/>
            <a:ext cx="10359850" cy="3751926"/>
            <a:chOff x="877569" y="2504075"/>
            <a:chExt cx="10359850" cy="3751926"/>
          </a:xfrm>
        </p:grpSpPr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4924F0A2-8B55-BC04-6C9E-2F58244C3025}"/>
                </a:ext>
              </a:extLst>
            </p:cNvPr>
            <p:cNvGrpSpPr/>
            <p:nvPr/>
          </p:nvGrpSpPr>
          <p:grpSpPr>
            <a:xfrm>
              <a:off x="877569" y="2504075"/>
              <a:ext cx="5818018" cy="3751926"/>
              <a:chOff x="596189" y="2504075"/>
              <a:chExt cx="5818018" cy="3751926"/>
            </a:xfrm>
          </p:grpSpPr>
          <p:pic>
            <p:nvPicPr>
              <p:cNvPr id="4" name="Picture 3">
                <a:extLst>
                  <a:ext uri="{FF2B5EF4-FFF2-40B4-BE49-F238E27FC236}">
                    <a16:creationId xmlns:a16="http://schemas.microsoft.com/office/drawing/2014/main" id="{5E83B980-F48B-E3BA-B57A-0F89DCCAC19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rcRect l="695"/>
              <a:stretch>
                <a:fillRect/>
              </a:stretch>
            </p:blipFill>
            <p:spPr>
              <a:xfrm>
                <a:off x="596189" y="3178997"/>
                <a:ext cx="5818018" cy="3077004"/>
              </a:xfrm>
              <a:prstGeom prst="rect">
                <a:avLst/>
              </a:prstGeom>
            </p:spPr>
          </p:pic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7C0F6ED8-F856-7668-D143-B0F3237E447B}"/>
                  </a:ext>
                </a:extLst>
              </p:cNvPr>
              <p:cNvSpPr txBox="1"/>
              <p:nvPr/>
            </p:nvSpPr>
            <p:spPr>
              <a:xfrm>
                <a:off x="1234282" y="2504075"/>
                <a:ext cx="4541832" cy="49244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hr-HR" sz="2600" b="1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Simetrično zašumljivanje</a:t>
                </a:r>
              </a:p>
            </p:txBody>
          </p:sp>
        </p:grpSp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6C949B59-3227-2718-5513-CA295B1C8C86}"/>
                </a:ext>
              </a:extLst>
            </p:cNvPr>
            <p:cNvGrpSpPr/>
            <p:nvPr/>
          </p:nvGrpSpPr>
          <p:grpSpPr>
            <a:xfrm>
              <a:off x="6695587" y="2505661"/>
              <a:ext cx="4541832" cy="3750340"/>
              <a:chOff x="6245690" y="2505661"/>
              <a:chExt cx="4541832" cy="3750340"/>
            </a:xfrm>
          </p:grpSpPr>
          <p:pic>
            <p:nvPicPr>
              <p:cNvPr id="7" name="Picture 6">
                <a:extLst>
                  <a:ext uri="{FF2B5EF4-FFF2-40B4-BE49-F238E27FC236}">
                    <a16:creationId xmlns:a16="http://schemas.microsoft.com/office/drawing/2014/main" id="{F0FA2FEA-7BEA-E62A-C430-ABF611962E9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6911419" y="3493365"/>
                <a:ext cx="3210373" cy="2762636"/>
              </a:xfrm>
              <a:prstGeom prst="rect">
                <a:avLst/>
              </a:prstGeom>
            </p:spPr>
          </p:pic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709791A7-68A4-7211-9B53-9E5BF6FF9236}"/>
                  </a:ext>
                </a:extLst>
              </p:cNvPr>
              <p:cNvSpPr txBox="1"/>
              <p:nvPr/>
            </p:nvSpPr>
            <p:spPr>
              <a:xfrm>
                <a:off x="6245690" y="2505661"/>
                <a:ext cx="4541832" cy="89255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hr-HR" sz="2600" b="1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Asimetrično zašumljivanje,</a:t>
                </a:r>
              </a:p>
              <a:p>
                <a:pPr algn="ctr"/>
                <a:r>
                  <a:rPr lang="hr-HR" sz="2600" b="1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stopa šuma 40%</a:t>
                </a:r>
              </a:p>
            </p:txBody>
          </p:sp>
        </p:grpSp>
      </p:grp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1D61EFA3-AB36-013E-65D4-EB55E2BF6CAD}"/>
              </a:ext>
            </a:extLst>
          </p:cNvPr>
          <p:cNvSpPr txBox="1">
            <a:spLocks/>
          </p:cNvSpPr>
          <p:nvPr/>
        </p:nvSpPr>
        <p:spPr>
          <a:xfrm>
            <a:off x="1038170" y="1615736"/>
            <a:ext cx="10143831" cy="750508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/>
          </a:bodyPr>
          <a:lstStyle>
            <a:lvl1pPr marL="182880" indent="-182880" algn="l" defTabSz="914400" rtl="0" eaLnBrk="1" latinLnBrk="0" hangingPunct="1">
              <a:lnSpc>
                <a:spcPct val="95000"/>
              </a:lnSpc>
              <a:spcBef>
                <a:spcPts val="1400"/>
              </a:spcBef>
              <a:spcAft>
                <a:spcPts val="200"/>
              </a:spcAft>
              <a:buClr>
                <a:schemeClr val="accent1"/>
              </a:buClr>
              <a:buSzPct val="80000"/>
              <a:buFont typeface="Arial" pitchFamily="34" charset="0"/>
              <a:buChar char="•"/>
              <a:defRPr sz="2000" kern="1200" spc="1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-18288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8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31520" indent="-18288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6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05840" indent="-18288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280160" indent="-18288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600000" indent="-22860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900000" indent="-22860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200000" indent="-22860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500000" indent="-22860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hr-HR" sz="2800" dirty="0">
                <a:latin typeface="Arial" panose="020B0604020202020204" pitchFamily="34" charset="0"/>
                <a:cs typeface="Arial" panose="020B0604020202020204" pitchFamily="34" charset="0"/>
              </a:rPr>
              <a:t>oznaka </a:t>
            </a:r>
            <a:r>
              <a:rPr lang="hr-HR" sz="2800" b="1" dirty="0">
                <a:latin typeface="Arial" panose="020B0604020202020204" pitchFamily="34" charset="0"/>
                <a:cs typeface="Arial" panose="020B0604020202020204" pitchFamily="34" charset="0"/>
              </a:rPr>
              <a:t>*</a:t>
            </a:r>
            <a:r>
              <a:rPr lang="hr-HR" sz="2800" dirty="0">
                <a:latin typeface="Arial" panose="020B0604020202020204" pitchFamily="34" charset="0"/>
                <a:cs typeface="Arial" panose="020B0604020202020204" pitchFamily="34" charset="0"/>
              </a:rPr>
              <a:t> prije imena algoritma – rezultat iz rada</a:t>
            </a:r>
            <a:r>
              <a:rPr lang="en-US" sz="2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800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[</a:t>
            </a:r>
            <a:r>
              <a:rPr lang="hr-HR" sz="2800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chen24neurips</a:t>
            </a:r>
            <a:r>
              <a:rPr lang="en-US" sz="2800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]</a:t>
            </a:r>
            <a:endParaRPr lang="hr-HR" sz="2800" dirty="0">
              <a:solidFill>
                <a:schemeClr val="accent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>
              <a:buNone/>
            </a:pPr>
            <a:endParaRPr lang="hr-HR" sz="26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B9E71DF-F153-ABD2-5A72-D94908C9E0AA}"/>
              </a:ext>
            </a:extLst>
          </p:cNvPr>
          <p:cNvSpPr txBox="1"/>
          <p:nvPr/>
        </p:nvSpPr>
        <p:spPr>
          <a:xfrm>
            <a:off x="2211681" y="6363747"/>
            <a:ext cx="706701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r-HR" sz="2000" b="1" dirty="0">
                <a:solidFill>
                  <a:schemeClr val="bg1">
                    <a:lumMod val="6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CE</a:t>
            </a:r>
            <a:r>
              <a:rPr lang="hr-HR" sz="2000" dirty="0">
                <a:solidFill>
                  <a:schemeClr val="bg1">
                    <a:lumMod val="6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– nadzirano učenje		</a:t>
            </a:r>
            <a:r>
              <a:rPr lang="hr-HR" sz="2000" b="1" dirty="0">
                <a:solidFill>
                  <a:schemeClr val="bg1">
                    <a:lumMod val="6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CL</a:t>
            </a:r>
            <a:r>
              <a:rPr lang="hr-HR" sz="2000" dirty="0">
                <a:solidFill>
                  <a:schemeClr val="bg1">
                    <a:lumMod val="6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– konzistencijski gubitak</a:t>
            </a:r>
          </a:p>
        </p:txBody>
      </p:sp>
    </p:spTree>
    <p:extLst>
      <p:ext uri="{BB962C8B-B14F-4D97-AF65-F5344CB8AC3E}">
        <p14:creationId xmlns:p14="http://schemas.microsoft.com/office/powerpoint/2010/main" val="300135503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FC37ED-2E23-2DD0-BB70-C02326F88B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3A0789-C644-35FA-BA66-1D6B1A75C3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61872" y="294198"/>
            <a:ext cx="9775834" cy="1397124"/>
          </a:xfrm>
        </p:spPr>
        <p:txBody>
          <a:bodyPr>
            <a:normAutofit/>
          </a:bodyPr>
          <a:lstStyle/>
          <a:p>
            <a:r>
              <a:rPr lang="hr-HR" sz="4000" dirty="0">
                <a:latin typeface="Arial" panose="020B0604020202020204" pitchFamily="34" charset="0"/>
                <a:cs typeface="Arial" panose="020B0604020202020204" pitchFamily="34" charset="0"/>
              </a:rPr>
              <a:t>Zašumljene oznake, validacija VIBE</a:t>
            </a:r>
            <a:br>
              <a:rPr lang="en-US" sz="4000" dirty="0"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hr-HR" sz="40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F7B1577-BDC0-CBEF-44A8-E41624B774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rmAutofit lnSpcReduction="10000"/>
          </a:bodyPr>
          <a:lstStyle/>
          <a:p>
            <a:r>
              <a:rPr lang="hr-HR" dirty="0"/>
              <a:t>15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2798630-F672-5C62-48CB-90DB6179F117}"/>
              </a:ext>
            </a:extLst>
          </p:cNvPr>
          <p:cNvSpPr txBox="1"/>
          <p:nvPr/>
        </p:nvSpPr>
        <p:spPr>
          <a:xfrm>
            <a:off x="10228507" y="6073019"/>
            <a:ext cx="809199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endParaRPr lang="hr-HR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FB54A31-BDBD-F96A-80E0-00AFC08C625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07348" y="2108420"/>
            <a:ext cx="5553850" cy="2105319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62C65AD1-5842-2E7A-2ABB-9E3C1D6C3818}"/>
              </a:ext>
            </a:extLst>
          </p:cNvPr>
          <p:cNvSpPr txBox="1"/>
          <p:nvPr/>
        </p:nvSpPr>
        <p:spPr>
          <a:xfrm>
            <a:off x="3357770" y="4749580"/>
            <a:ext cx="4853006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r-HR" sz="2000" b="1" dirty="0">
                <a:solidFill>
                  <a:schemeClr val="bg1">
                    <a:lumMod val="6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CA</a:t>
            </a:r>
            <a:r>
              <a:rPr lang="hr-HR" sz="2000" dirty="0">
                <a:solidFill>
                  <a:schemeClr val="bg1">
                    <a:lumMod val="6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– kosinusno kaljenje</a:t>
            </a:r>
          </a:p>
          <a:p>
            <a:r>
              <a:rPr lang="hr-HR" sz="2000" b="1" dirty="0">
                <a:solidFill>
                  <a:schemeClr val="bg1">
                    <a:lumMod val="6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CL</a:t>
            </a:r>
            <a:r>
              <a:rPr lang="hr-HR" sz="2000" dirty="0">
                <a:solidFill>
                  <a:schemeClr val="bg1">
                    <a:lumMod val="6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– konzistencijski gubitak</a:t>
            </a:r>
          </a:p>
          <a:p>
            <a:r>
              <a:rPr lang="hr-HR" sz="2000" b="1" dirty="0">
                <a:solidFill>
                  <a:schemeClr val="bg1">
                    <a:lumMod val="6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</a:t>
            </a:r>
            <a:r>
              <a:rPr lang="hr-HR" sz="2000" dirty="0">
                <a:solidFill>
                  <a:schemeClr val="bg1">
                    <a:lumMod val="6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– </a:t>
            </a:r>
            <a:r>
              <a:rPr lang="en-US" sz="2000" dirty="0">
                <a:solidFill>
                  <a:schemeClr val="bg1">
                    <a:lumMod val="6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fa</a:t>
            </a:r>
            <a:r>
              <a:rPr lang="hr-HR" sz="2000" dirty="0">
                <a:solidFill>
                  <a:schemeClr val="bg1">
                    <a:lumMod val="6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k</a:t>
            </a:r>
            <a:r>
              <a:rPr lang="en-US" sz="2000" dirty="0">
                <a:solidFill>
                  <a:schemeClr val="bg1">
                    <a:lumMod val="6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tor </a:t>
            </a:r>
            <a:r>
              <a:rPr lang="hr-HR" sz="2000" dirty="0">
                <a:solidFill>
                  <a:schemeClr val="bg1">
                    <a:lumMod val="6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konzistencijskog gubitka</a:t>
            </a:r>
          </a:p>
          <a:p>
            <a:r>
              <a:rPr lang="hr-HR" sz="2000" b="1" dirty="0">
                <a:solidFill>
                  <a:schemeClr val="bg1">
                    <a:lumMod val="6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</a:t>
            </a:r>
            <a:r>
              <a:rPr lang="hr-HR" sz="2000" dirty="0">
                <a:solidFill>
                  <a:schemeClr val="bg1">
                    <a:lumMod val="6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– augmentacija nasumičnog brisanja</a:t>
            </a:r>
            <a:endParaRPr lang="en-US" sz="2000" dirty="0">
              <a:solidFill>
                <a:schemeClr val="bg1">
                  <a:lumMod val="6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3535829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335EBC-073D-517B-E248-70DBF9FE71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>
            <a:extLst>
              <a:ext uri="{FF2B5EF4-FFF2-40B4-BE49-F238E27FC236}">
                <a16:creationId xmlns:a16="http://schemas.microsoft.com/office/drawing/2014/main" id="{39584BCB-5F06-51D3-B90B-1CDB2D64607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73947" y="5229395"/>
            <a:ext cx="5706271" cy="106694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6D0D81D-8C95-0230-DEE8-466204BCC51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4366" y="2099630"/>
            <a:ext cx="9745435" cy="2124371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E762BA8-1347-C00A-D4A1-B49C8DFC1F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61871" y="294198"/>
            <a:ext cx="10126565" cy="1397124"/>
          </a:xfrm>
        </p:spPr>
        <p:txBody>
          <a:bodyPr>
            <a:noAutofit/>
          </a:bodyPr>
          <a:lstStyle/>
          <a:p>
            <a:br>
              <a:rPr lang="en-US" sz="400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hr-HR" sz="4000" dirty="0">
                <a:latin typeface="Arial" panose="020B0604020202020204" pitchFamily="34" charset="0"/>
                <a:cs typeface="Arial" panose="020B0604020202020204" pitchFamily="34" charset="0"/>
              </a:rPr>
              <a:t>Zašumljene oznake, validacija SotA</a:t>
            </a:r>
            <a:br>
              <a:rPr lang="en-US" sz="4000" dirty="0"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hr-HR" sz="40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A0F8701-D8F5-C0E7-6702-BF4069BFE4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rmAutofit lnSpcReduction="10000"/>
          </a:bodyPr>
          <a:lstStyle/>
          <a:p>
            <a:r>
              <a:rPr lang="hr-HR" dirty="0"/>
              <a:t>16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79EED21-DB1C-2B5E-33BA-61CD8CD7D67E}"/>
              </a:ext>
            </a:extLst>
          </p:cNvPr>
          <p:cNvSpPr txBox="1"/>
          <p:nvPr/>
        </p:nvSpPr>
        <p:spPr>
          <a:xfrm>
            <a:off x="10228507" y="6073019"/>
            <a:ext cx="809199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endParaRPr lang="hr-HR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3CA5770F-0A1D-E444-C177-F807D77522BA}"/>
              </a:ext>
            </a:extLst>
          </p:cNvPr>
          <p:cNvSpPr txBox="1"/>
          <p:nvPr/>
        </p:nvSpPr>
        <p:spPr>
          <a:xfrm>
            <a:off x="3556169" y="1607187"/>
            <a:ext cx="4541832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r-HR" sz="2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Algoritam SOP+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B92F103-EEC4-9CEB-5F08-DCB3F2DEB1F0}"/>
              </a:ext>
            </a:extLst>
          </p:cNvPr>
          <p:cNvSpPr txBox="1"/>
          <p:nvPr/>
        </p:nvSpPr>
        <p:spPr>
          <a:xfrm>
            <a:off x="3556169" y="4736952"/>
            <a:ext cx="4541832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r-HR" sz="2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Algoritam ILL</a:t>
            </a:r>
          </a:p>
        </p:txBody>
      </p:sp>
    </p:spTree>
    <p:extLst>
      <p:ext uri="{BB962C8B-B14F-4D97-AF65-F5344CB8AC3E}">
        <p14:creationId xmlns:p14="http://schemas.microsoft.com/office/powerpoint/2010/main" val="395131278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9F6CCA-F5B1-4AB2-3585-B28D5D2467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CF247E-C733-AAE7-7F97-10810314BA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61871" y="294198"/>
            <a:ext cx="10126565" cy="1397124"/>
          </a:xfrm>
        </p:spPr>
        <p:txBody>
          <a:bodyPr>
            <a:noAutofit/>
          </a:bodyPr>
          <a:lstStyle/>
          <a:p>
            <a:br>
              <a:rPr lang="en-US" sz="400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hr-HR" sz="4000" dirty="0">
                <a:latin typeface="Arial" panose="020B0604020202020204" pitchFamily="34" charset="0"/>
                <a:cs typeface="Arial" panose="020B0604020202020204" pitchFamily="34" charset="0"/>
              </a:rPr>
              <a:t>Zašumljene oznake, validacija CE</a:t>
            </a:r>
            <a:br>
              <a:rPr lang="en-US" sz="4000" dirty="0"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hr-HR" sz="40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76C0CBB-AFB1-8391-B6C8-0FCC71939B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rmAutofit lnSpcReduction="10000"/>
          </a:bodyPr>
          <a:lstStyle/>
          <a:p>
            <a:r>
              <a:rPr lang="hr-HR" dirty="0"/>
              <a:t>17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173D876-80B6-2E5E-A8E7-B1C35C1284F8}"/>
              </a:ext>
            </a:extLst>
          </p:cNvPr>
          <p:cNvSpPr txBox="1"/>
          <p:nvPr/>
        </p:nvSpPr>
        <p:spPr>
          <a:xfrm>
            <a:off x="10228507" y="6073019"/>
            <a:ext cx="809199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endParaRPr lang="hr-HR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2452F31-ADA5-19AE-CA10-5ED078396C29}"/>
              </a:ext>
            </a:extLst>
          </p:cNvPr>
          <p:cNvSpPr txBox="1"/>
          <p:nvPr/>
        </p:nvSpPr>
        <p:spPr>
          <a:xfrm>
            <a:off x="3686540" y="1664304"/>
            <a:ext cx="4541832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N</a:t>
            </a:r>
            <a:r>
              <a:rPr lang="hr-HR" sz="2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adzirano učenje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6E1EF54-08AA-7D61-D8D1-F5E586D0EA92}"/>
              </a:ext>
            </a:extLst>
          </p:cNvPr>
          <p:cNvSpPr txBox="1"/>
          <p:nvPr/>
        </p:nvSpPr>
        <p:spPr>
          <a:xfrm>
            <a:off x="2126621" y="4253824"/>
            <a:ext cx="7661665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r-HR" sz="2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Nadzirano učenje s konzistencijskim gubitkom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3713248-CD5B-5CD1-13F5-7A7E8CB6CE3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32713" y="2246175"/>
            <a:ext cx="6982799" cy="1467055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D0345826-227D-2445-F058-BDBAEE756E9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99397" y="4830886"/>
            <a:ext cx="6916115" cy="14098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598735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D634F9-0ADB-9EC4-1D97-1016918AF7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B2D733-7709-9166-C56B-E4EA70C1D7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61872" y="65738"/>
            <a:ext cx="9775834" cy="1382062"/>
          </a:xfrm>
        </p:spPr>
        <p:txBody>
          <a:bodyPr>
            <a:normAutofit fontScale="90000"/>
          </a:bodyPr>
          <a:lstStyle/>
          <a:p>
            <a:br>
              <a:rPr lang="hr-HR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hr-HR" dirty="0">
                <a:latin typeface="Arial" panose="020B0604020202020204" pitchFamily="34" charset="0"/>
                <a:cs typeface="Arial" panose="020B0604020202020204" pitchFamily="34" charset="0"/>
              </a:rPr>
              <a:t>Napadi, usporedba sa SotA</a:t>
            </a:r>
            <a:b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hr-HR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7B8DC4E-B479-5A44-FAFE-698FE1A39B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rmAutofit lnSpcReduction="10000"/>
          </a:bodyPr>
          <a:lstStyle/>
          <a:p>
            <a:r>
              <a:rPr lang="hr-HR" dirty="0"/>
              <a:t>18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1AF4C28-5349-66F9-F1E6-92F7B7A0B351}"/>
              </a:ext>
            </a:extLst>
          </p:cNvPr>
          <p:cNvSpPr txBox="1"/>
          <p:nvPr/>
        </p:nvSpPr>
        <p:spPr>
          <a:xfrm>
            <a:off x="10228507" y="6073019"/>
            <a:ext cx="809199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endParaRPr lang="hr-HR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E48E4ED2-4130-4F26-CA7A-B8D32B79D480}"/>
              </a:ext>
            </a:extLst>
          </p:cNvPr>
          <p:cNvSpPr txBox="1">
            <a:spLocks/>
          </p:cNvSpPr>
          <p:nvPr/>
        </p:nvSpPr>
        <p:spPr>
          <a:xfrm>
            <a:off x="1038169" y="1010777"/>
            <a:ext cx="10143831" cy="750508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/>
          </a:bodyPr>
          <a:lstStyle>
            <a:lvl1pPr marL="182880" indent="-182880" algn="l" defTabSz="914400" rtl="0" eaLnBrk="1" latinLnBrk="0" hangingPunct="1">
              <a:lnSpc>
                <a:spcPct val="95000"/>
              </a:lnSpc>
              <a:spcBef>
                <a:spcPts val="1400"/>
              </a:spcBef>
              <a:spcAft>
                <a:spcPts val="200"/>
              </a:spcAft>
              <a:buClr>
                <a:schemeClr val="accent1"/>
              </a:buClr>
              <a:buSzPct val="80000"/>
              <a:buFont typeface="Arial" pitchFamily="34" charset="0"/>
              <a:buChar char="•"/>
              <a:defRPr sz="2000" kern="1200" spc="1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-18288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8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31520" indent="-18288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6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05840" indent="-18288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280160" indent="-18288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600000" indent="-22860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900000" indent="-22860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200000" indent="-22860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500000" indent="-22860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hr-HR" sz="2800" dirty="0">
                <a:latin typeface="Arial" panose="020B0604020202020204" pitchFamily="34" charset="0"/>
                <a:cs typeface="Arial" panose="020B0604020202020204" pitchFamily="34" charset="0"/>
              </a:rPr>
              <a:t>oznaka </a:t>
            </a:r>
            <a:r>
              <a:rPr lang="hr-HR" sz="2800" b="1" dirty="0">
                <a:latin typeface="Arial" panose="020B0604020202020204" pitchFamily="34" charset="0"/>
                <a:cs typeface="Arial" panose="020B0604020202020204" pitchFamily="34" charset="0"/>
              </a:rPr>
              <a:t>*</a:t>
            </a:r>
            <a:r>
              <a:rPr lang="hr-HR" sz="2800" dirty="0">
                <a:latin typeface="Arial" panose="020B0604020202020204" pitchFamily="34" charset="0"/>
                <a:cs typeface="Arial" panose="020B0604020202020204" pitchFamily="34" charset="0"/>
              </a:rPr>
              <a:t> prije imena algoritma – rezultat iz rada</a:t>
            </a:r>
            <a:r>
              <a:rPr lang="en-US" sz="2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800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[</a:t>
            </a:r>
            <a:r>
              <a:rPr lang="en-US" sz="2800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sabolic25iccv</a:t>
            </a:r>
            <a:r>
              <a:rPr lang="en-US" sz="2800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]</a:t>
            </a:r>
            <a:endParaRPr lang="hr-HR" sz="26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10BB18CE-5CE4-9602-07DA-67086A27AEE8}"/>
              </a:ext>
            </a:extLst>
          </p:cNvPr>
          <p:cNvGrpSpPr/>
          <p:nvPr/>
        </p:nvGrpSpPr>
        <p:grpSpPr>
          <a:xfrm>
            <a:off x="949577" y="1535306"/>
            <a:ext cx="9868538" cy="5165441"/>
            <a:chOff x="949577" y="1535306"/>
            <a:chExt cx="9868538" cy="5165441"/>
          </a:xfrm>
        </p:grpSpPr>
        <p:pic>
          <p:nvPicPr>
            <p:cNvPr id="22" name="Picture 21">
              <a:extLst>
                <a:ext uri="{FF2B5EF4-FFF2-40B4-BE49-F238E27FC236}">
                  <a16:creationId xmlns:a16="http://schemas.microsoft.com/office/drawing/2014/main" id="{A2243BF8-629F-44DB-0405-E099E156AD1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589741" y="4624007"/>
              <a:ext cx="4582164" cy="2076740"/>
            </a:xfrm>
            <a:prstGeom prst="rect">
              <a:avLst/>
            </a:prstGeom>
          </p:spPr>
        </p:pic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443687AB-90A7-D788-42FE-B7F53CE3716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949577" y="2026997"/>
              <a:ext cx="4639322" cy="2095792"/>
            </a:xfrm>
            <a:prstGeom prst="rect">
              <a:avLst/>
            </a:prstGeom>
          </p:spPr>
        </p:pic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AB653B42-6214-3D0F-D63D-5007E0890338}"/>
                </a:ext>
              </a:extLst>
            </p:cNvPr>
            <p:cNvSpPr txBox="1"/>
            <p:nvPr/>
          </p:nvSpPr>
          <p:spPr>
            <a:xfrm>
              <a:off x="2442787" y="1535307"/>
              <a:ext cx="1652903" cy="4924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hr-HR" sz="26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BadNets</a:t>
              </a: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3D44A51E-3430-78F3-E6E6-1A27B147E5BA}"/>
                </a:ext>
              </a:extLst>
            </p:cNvPr>
            <p:cNvSpPr txBox="1"/>
            <p:nvPr/>
          </p:nvSpPr>
          <p:spPr>
            <a:xfrm>
              <a:off x="7681529" y="1535306"/>
              <a:ext cx="1652903" cy="4924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hr-HR" sz="26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Blend</a:t>
              </a: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B607CDCD-2CCC-7111-0B0F-3C56C6354B35}"/>
                </a:ext>
              </a:extLst>
            </p:cNvPr>
            <p:cNvSpPr txBox="1"/>
            <p:nvPr/>
          </p:nvSpPr>
          <p:spPr>
            <a:xfrm>
              <a:off x="5054372" y="4131564"/>
              <a:ext cx="1652903" cy="4924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hr-HR" sz="26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WaNet</a:t>
              </a:r>
            </a:p>
          </p:txBody>
        </p:sp>
        <p:pic>
          <p:nvPicPr>
            <p:cNvPr id="20" name="Picture 19">
              <a:extLst>
                <a:ext uri="{FF2B5EF4-FFF2-40B4-BE49-F238E27FC236}">
                  <a16:creationId xmlns:a16="http://schemas.microsoft.com/office/drawing/2014/main" id="{FC6D5ADC-1B79-4DCF-4A3A-DB02FAFDF8B1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6197845" y="2026997"/>
              <a:ext cx="4620270" cy="2095792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25954091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2A6645-D322-A531-75BD-FE8E86A711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6093DB-69FE-5597-1038-5CB5BD5FAA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noProof="0" dirty="0">
                <a:latin typeface="Arial" panose="020B0604020202020204" pitchFamily="34" charset="0"/>
                <a:cs typeface="Arial" panose="020B0604020202020204" pitchFamily="34" charset="0"/>
              </a:rPr>
              <a:t>Zaključak i budući rad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F42FBCF-6FB3-4A04-3A73-23E3114B0EE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61871" y="1691323"/>
            <a:ext cx="8966635" cy="5540750"/>
          </a:xfrm>
        </p:spPr>
        <p:txBody>
          <a:bodyPr>
            <a:normAutofit/>
          </a:bodyPr>
          <a:lstStyle/>
          <a:p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osnovnu inačicu VIBE-a nadogradili smo korištenjem </a:t>
            </a:r>
            <a:r>
              <a:rPr lang="hr-HR" sz="2600" b="1" dirty="0">
                <a:latin typeface="Arial" panose="020B0604020202020204" pitchFamily="34" charset="0"/>
                <a:cs typeface="Arial" panose="020B0604020202020204" pitchFamily="34" charset="0"/>
              </a:rPr>
              <a:t>kosinusnog kaljenja </a:t>
            </a:r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te dodavanjem </a:t>
            </a:r>
            <a:r>
              <a:rPr lang="hr-HR" sz="2600" b="1" dirty="0">
                <a:latin typeface="Arial" panose="020B0604020202020204" pitchFamily="34" charset="0"/>
                <a:cs typeface="Arial" panose="020B0604020202020204" pitchFamily="34" charset="0"/>
              </a:rPr>
              <a:t>konzistencijskog gubitka</a:t>
            </a:r>
          </a:p>
          <a:p>
            <a:pPr marL="0" indent="0">
              <a:buNone/>
            </a:pPr>
            <a:endParaRPr lang="hr-HR" sz="2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>
              <a:buNone/>
            </a:pPr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Zašumljene oznake</a:t>
            </a:r>
          </a:p>
          <a:p>
            <a:pPr lvl="1"/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osnovna inačica VIBE-a postiže lošije rezultate od SotA</a:t>
            </a:r>
          </a:p>
          <a:p>
            <a:pPr lvl="1"/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nadograđena inačica VIBE-a postiže </a:t>
            </a:r>
            <a:r>
              <a:rPr lang="hr-HR" sz="2600" b="1" dirty="0">
                <a:latin typeface="Arial" panose="020B0604020202020204" pitchFamily="34" charset="0"/>
                <a:cs typeface="Arial" panose="020B0604020202020204" pitchFamily="34" charset="0"/>
              </a:rPr>
              <a:t>najbolje rezultate u teškim postavima</a:t>
            </a:r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, ali i bolje rezultate u lakšim postavima</a:t>
            </a:r>
            <a:r>
              <a:rPr lang="en-US" sz="26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600" dirty="0">
                <a:latin typeface="Arial" panose="020B0604020202020204" pitchFamily="34" charset="0"/>
                <a:cs typeface="Arial" panose="020B0604020202020204" pitchFamily="34" charset="0"/>
              </a:rPr>
              <a:t>(+2.1pp ACC</a:t>
            </a:r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600" dirty="0">
                <a:latin typeface="Arial" panose="020B0604020202020204" pitchFamily="34" charset="0"/>
                <a:cs typeface="Arial" panose="020B0604020202020204" pitchFamily="34" charset="0"/>
              </a:rPr>
              <a:t>@ 20% sim. </a:t>
            </a:r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zaš.)</a:t>
            </a:r>
            <a:endParaRPr lang="hr-HR" sz="2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1"/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dodavanje konzistencijskog gubitka nadziranom učenju može </a:t>
            </a:r>
            <a:r>
              <a:rPr lang="hr-HR" sz="2600" b="1" dirty="0">
                <a:latin typeface="Arial" panose="020B0604020202020204" pitchFamily="34" charset="0"/>
                <a:cs typeface="Arial" panose="020B0604020202020204" pitchFamily="34" charset="0"/>
              </a:rPr>
              <a:t>značajno povećati točnost </a:t>
            </a:r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naučenih modela (+11.</a:t>
            </a:r>
            <a:r>
              <a:rPr lang="en-US" sz="2600" dirty="0">
                <a:latin typeface="Arial" panose="020B0604020202020204" pitchFamily="34" charset="0"/>
                <a:cs typeface="Arial" panose="020B0604020202020204" pitchFamily="34" charset="0"/>
              </a:rPr>
              <a:t>6pp</a:t>
            </a:r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 ACC</a:t>
            </a:r>
            <a:r>
              <a:rPr lang="en-US" sz="2600" dirty="0">
                <a:latin typeface="Arial" panose="020B0604020202020204" pitchFamily="34" charset="0"/>
                <a:cs typeface="Arial" panose="020B0604020202020204" pitchFamily="34" charset="0"/>
              </a:rPr>
              <a:t> @</a:t>
            </a:r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 20% sim. zaš.)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D59BA0C-F9A5-26FD-2A89-4DFCC3A5F7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rmAutofit lnSpcReduction="10000"/>
          </a:bodyPr>
          <a:lstStyle/>
          <a:p>
            <a:r>
              <a:rPr lang="hr-HR" dirty="0"/>
              <a:t>19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8AF7285-2C2A-3F7E-F910-A7BADBD2725F}"/>
              </a:ext>
            </a:extLst>
          </p:cNvPr>
          <p:cNvSpPr txBox="1"/>
          <p:nvPr/>
        </p:nvSpPr>
        <p:spPr>
          <a:xfrm>
            <a:off x="10228507" y="6073019"/>
            <a:ext cx="809199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endParaRPr lang="hr-HR" dirty="0"/>
          </a:p>
        </p:txBody>
      </p:sp>
    </p:spTree>
    <p:extLst>
      <p:ext uri="{BB962C8B-B14F-4D97-AF65-F5344CB8AC3E}">
        <p14:creationId xmlns:p14="http://schemas.microsoft.com/office/powerpoint/2010/main" val="299042238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F3F277-45B8-6CFD-9D7C-B98DCDAA32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313256-68C7-2EB3-EC28-D09A0FAD31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noProof="0" dirty="0">
                <a:latin typeface="Arial" panose="020B0604020202020204" pitchFamily="34" charset="0"/>
                <a:cs typeface="Arial" panose="020B0604020202020204" pitchFamily="34" charset="0"/>
              </a:rPr>
              <a:t>Zaključak i budući rad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0BAB14-0488-B4DC-5B1D-4C2E87B090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61872" y="1544715"/>
            <a:ext cx="9267584" cy="5486400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endParaRPr lang="hr-HR" sz="2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>
              <a:buNone/>
            </a:pPr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Napadi umetanjem stražnjih vrata</a:t>
            </a:r>
          </a:p>
          <a:p>
            <a:pPr lvl="1"/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osnovna inačica VIBE-a postiže </a:t>
            </a:r>
            <a:r>
              <a:rPr lang="hr-HR" sz="2600" b="1" dirty="0">
                <a:latin typeface="Arial" panose="020B0604020202020204" pitchFamily="34" charset="0"/>
                <a:cs typeface="Arial" panose="020B0604020202020204" pitchFamily="34" charset="0"/>
              </a:rPr>
              <a:t>najvišu točnost</a:t>
            </a:r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, ali ne i najniži ASR u usporedbi sa SotA na </a:t>
            </a:r>
            <a:r>
              <a:rPr lang="hr-HR" sz="2600" b="1" dirty="0">
                <a:latin typeface="Arial" panose="020B0604020202020204" pitchFamily="34" charset="0"/>
                <a:cs typeface="Arial" panose="020B0604020202020204" pitchFamily="34" charset="0"/>
              </a:rPr>
              <a:t>3 različita napada</a:t>
            </a:r>
          </a:p>
          <a:p>
            <a:pPr lvl="1"/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nadograđena inačica VIBE-a postiže </a:t>
            </a:r>
            <a:r>
              <a:rPr lang="hr-HR" sz="2600" b="1" dirty="0">
                <a:latin typeface="Arial" panose="020B0604020202020204" pitchFamily="34" charset="0"/>
                <a:cs typeface="Arial" panose="020B0604020202020204" pitchFamily="34" charset="0"/>
              </a:rPr>
              <a:t>najvišu točnost</a:t>
            </a:r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, kao i</a:t>
            </a:r>
            <a:r>
              <a:rPr lang="hr-HR" sz="2600" b="1" dirty="0">
                <a:latin typeface="Arial" panose="020B0604020202020204" pitchFamily="34" charset="0"/>
                <a:cs typeface="Arial" panose="020B0604020202020204" pitchFamily="34" charset="0"/>
              </a:rPr>
              <a:t> najniži ASR</a:t>
            </a:r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 u usporedbi s osnovnom inačicom VIBE-a te SotA na </a:t>
            </a:r>
            <a:r>
              <a:rPr lang="hr-HR" sz="2600" b="1" dirty="0">
                <a:latin typeface="Arial" panose="020B0604020202020204" pitchFamily="34" charset="0"/>
                <a:cs typeface="Arial" panose="020B0604020202020204" pitchFamily="34" charset="0"/>
              </a:rPr>
              <a:t>2</a:t>
            </a:r>
            <a:r>
              <a:rPr lang="en-US" sz="2600" b="1" dirty="0">
                <a:latin typeface="Arial" panose="020B0604020202020204" pitchFamily="34" charset="0"/>
                <a:cs typeface="Arial" panose="020B0604020202020204" pitchFamily="34" charset="0"/>
              </a:rPr>
              <a:t>/3 r</a:t>
            </a:r>
            <a:r>
              <a:rPr lang="hr-HR" sz="2600" b="1" dirty="0">
                <a:latin typeface="Arial" panose="020B0604020202020204" pitchFamily="34" charset="0"/>
                <a:cs typeface="Arial" panose="020B0604020202020204" pitchFamily="34" charset="0"/>
              </a:rPr>
              <a:t>azličita napada </a:t>
            </a:r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(-2.8</a:t>
            </a:r>
            <a:r>
              <a:rPr lang="en-US" sz="2600" dirty="0">
                <a:latin typeface="Arial" panose="020B0604020202020204" pitchFamily="34" charset="0"/>
                <a:cs typeface="Arial" panose="020B0604020202020204" pitchFamily="34" charset="0"/>
              </a:rPr>
              <a:t>pp</a:t>
            </a:r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 ASR</a:t>
            </a:r>
            <a:r>
              <a:rPr lang="en-US" sz="2600" dirty="0">
                <a:latin typeface="Arial" panose="020B0604020202020204" pitchFamily="34" charset="0"/>
                <a:cs typeface="Arial" panose="020B0604020202020204" pitchFamily="34" charset="0"/>
              </a:rPr>
              <a:t> @ 10%</a:t>
            </a:r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 Blend)</a:t>
            </a:r>
            <a:endParaRPr lang="hr-HR" sz="2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1"/>
            <a:endParaRPr lang="hr-HR" sz="2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>
              <a:buNone/>
            </a:pPr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Budući rad</a:t>
            </a:r>
          </a:p>
          <a:p>
            <a:pPr lvl="1"/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primjena nadograđene inačice VIBE-a na </a:t>
            </a:r>
            <a:r>
              <a:rPr lang="hr-HR" sz="2600" b="1" dirty="0">
                <a:latin typeface="Arial" panose="020B0604020202020204" pitchFamily="34" charset="0"/>
                <a:cs typeface="Arial" panose="020B0604020202020204" pitchFamily="34" charset="0"/>
              </a:rPr>
              <a:t>problem učenja na djelomičnim oznakama </a:t>
            </a:r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(engl. </a:t>
            </a:r>
            <a:r>
              <a:rPr lang="hr-HR" sz="2600" i="1" dirty="0">
                <a:latin typeface="Arial" panose="020B0604020202020204" pitchFamily="34" charset="0"/>
                <a:cs typeface="Arial" panose="020B0604020202020204" pitchFamily="34" charset="0"/>
              </a:rPr>
              <a:t>partial label learning</a:t>
            </a:r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  <a:endParaRPr lang="hr-HR" sz="2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1"/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dodatni eksperimenti u vezi dodavanja konzistencijskog gubitka nadziranom učenju</a:t>
            </a:r>
          </a:p>
          <a:p>
            <a:pPr marL="0" indent="0">
              <a:buNone/>
            </a:pPr>
            <a:endParaRPr lang="hr-HR" sz="2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61699EC-F442-0E43-B766-D3E31E56C1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rmAutofit lnSpcReduction="10000"/>
          </a:bodyPr>
          <a:lstStyle/>
          <a:p>
            <a:r>
              <a:rPr lang="hr-HR" dirty="0"/>
              <a:t>20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42425D5-3F46-1A20-29B4-55183106D2EC}"/>
              </a:ext>
            </a:extLst>
          </p:cNvPr>
          <p:cNvSpPr txBox="1"/>
          <p:nvPr/>
        </p:nvSpPr>
        <p:spPr>
          <a:xfrm>
            <a:off x="10228507" y="6073019"/>
            <a:ext cx="809199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endParaRPr lang="hr-HR" dirty="0"/>
          </a:p>
        </p:txBody>
      </p:sp>
    </p:spTree>
    <p:extLst>
      <p:ext uri="{BB962C8B-B14F-4D97-AF65-F5344CB8AC3E}">
        <p14:creationId xmlns:p14="http://schemas.microsoft.com/office/powerpoint/2010/main" val="19411292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16C9F9-911B-E360-F68E-AC14538EA3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6A27CA-E20B-2F39-A3AF-D15DDDD3C0D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hr-HR" dirty="0">
                <a:latin typeface="Arial" panose="020B0604020202020204" pitchFamily="34" charset="0"/>
                <a:cs typeface="Arial" panose="020B0604020202020204" pitchFamily="34" charset="0"/>
              </a:rPr>
              <a:t>Diskusija</a:t>
            </a:r>
          </a:p>
        </p:txBody>
      </p:sp>
    </p:spTree>
    <p:extLst>
      <p:ext uri="{BB962C8B-B14F-4D97-AF65-F5344CB8AC3E}">
        <p14:creationId xmlns:p14="http://schemas.microsoft.com/office/powerpoint/2010/main" val="3897778742"/>
      </p:ext>
    </p:extLst>
  </p:cSld>
  <p:clrMapOvr>
    <a:masterClrMapping/>
  </p:clrMapOvr>
</p:sld>
</file>

<file path=ppt/theme/theme1.xml><?xml version="1.0" encoding="utf-8"?>
<a:theme xmlns:a="http://schemas.openxmlformats.org/drawingml/2006/main" name="Seminar">
  <a:themeElements>
    <a:clrScheme name="Violet">
      <a:dk1>
        <a:sysClr val="windowText" lastClr="000000"/>
      </a:dk1>
      <a:lt1>
        <a:sysClr val="window" lastClr="FFFFFF"/>
      </a:lt1>
      <a:dk2>
        <a:srgbClr val="373545"/>
      </a:dk2>
      <a:lt2>
        <a:srgbClr val="DCD8DC"/>
      </a:lt2>
      <a:accent1>
        <a:srgbClr val="AD84C6"/>
      </a:accent1>
      <a:accent2>
        <a:srgbClr val="8784C7"/>
      </a:accent2>
      <a:accent3>
        <a:srgbClr val="5D739A"/>
      </a:accent3>
      <a:accent4>
        <a:srgbClr val="6997AF"/>
      </a:accent4>
      <a:accent5>
        <a:srgbClr val="84ACB6"/>
      </a:accent5>
      <a:accent6>
        <a:srgbClr val="6F8183"/>
      </a:accent6>
      <a:hlink>
        <a:srgbClr val="69A020"/>
      </a:hlink>
      <a:folHlink>
        <a:srgbClr val="8C8C8C"/>
      </a:folHlink>
    </a:clrScheme>
    <a:fontScheme name="View">
      <a:majorFont>
        <a:latin typeface="Century Schoolbook" panose="020406040505050203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Schoolbook" panose="020406040505050203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View">
      <a:fillStyleLst>
        <a:solidFill>
          <a:schemeClr val="phClr"/>
        </a:solidFill>
        <a:solidFill>
          <a:schemeClr val="phClr">
            <a:tint val="60000"/>
            <a:satMod val="120000"/>
          </a:schemeClr>
        </a:solidFill>
        <a:solidFill>
          <a:schemeClr val="phClr">
            <a:shade val="75000"/>
            <a:satMod val="13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3970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95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15240" dir="5400000" algn="tl" rotWithShape="0">
              <a:srgbClr val="000000">
                <a:alpha val="7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contourW="9525" prstMaterial="flat">
            <a:bevelT w="0" h="0" prst="coolSlant"/>
            <a:contourClr>
              <a:schemeClr val="phClr">
                <a:shade val="35000"/>
                <a:satMod val="130000"/>
              </a:schemeClr>
            </a:contourClr>
          </a:sp3d>
        </a:effectStyle>
        <a:effectStyle>
          <a:effectLst>
            <a:outerShdw blurRad="76200" dist="25400" dir="5400000" algn="tl" rotWithShape="0">
              <a:srgbClr val="000000">
                <a:alpha val="5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contourW="19050" prstMaterial="flat">
            <a:bevelT w="0" h="0" prst="coolSlant"/>
            <a:contourClr>
              <a:schemeClr val="phClr">
                <a:shade val="25000"/>
                <a:satMod val="140000"/>
              </a:schemeClr>
            </a:contourClr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4000"/>
                <a:shade val="98000"/>
                <a:satMod val="130000"/>
                <a:lumMod val="102000"/>
              </a:schemeClr>
            </a:gs>
            <a:gs pos="100000">
              <a:schemeClr val="phClr">
                <a:tint val="98000"/>
                <a:shade val="78000"/>
                <a:satMod val="140000"/>
              </a:schemeClr>
            </a:gs>
          </a:gsLst>
          <a:path path="circle">
            <a:fillToRect l="100000" t="10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eminar" id="{8905F78F-715B-44EB-B91B-BC9638ADD0FA}" vid="{2B12E160-07C0-455A-A8E7-66913EDE5AC8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Seminar</Template>
  <TotalTime>1091</TotalTime>
  <Words>826</Words>
  <Application>Microsoft Office PowerPoint</Application>
  <PresentationFormat>Widescreen</PresentationFormat>
  <Paragraphs>175</Paragraphs>
  <Slides>25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30" baseType="lpstr">
      <vt:lpstr>Aptos</vt:lpstr>
      <vt:lpstr>Arial</vt:lpstr>
      <vt:lpstr>Century Schoolbook</vt:lpstr>
      <vt:lpstr>Wingdings 2</vt:lpstr>
      <vt:lpstr>Seminar</vt:lpstr>
      <vt:lpstr>Varijacijsko učenje na zašumljenim oznakama</vt:lpstr>
      <vt:lpstr>Sadržaj</vt:lpstr>
      <vt:lpstr>Uvod</vt:lpstr>
      <vt:lpstr>Napadi umetanjem stražnjih vrata</vt:lpstr>
      <vt:lpstr>Neke vrste okidača</vt:lpstr>
      <vt:lpstr>Zašumljene oznake</vt:lpstr>
      <vt:lpstr>Zašumljene oznake</vt:lpstr>
      <vt:lpstr>Okvir VIBE</vt:lpstr>
      <vt:lpstr>Okvir VIBE, algoritam EM</vt:lpstr>
      <vt:lpstr>Okvir VIBE</vt:lpstr>
      <vt:lpstr>Okvir VIBE</vt:lpstr>
      <vt:lpstr>Konzistencijski gubitak</vt:lpstr>
      <vt:lpstr>Eksperimenti</vt:lpstr>
      <vt:lpstr>Skup podataka CIFAR-10</vt:lpstr>
      <vt:lpstr>Postavke eksperimenata</vt:lpstr>
      <vt:lpstr>Postavke eksperimenata</vt:lpstr>
      <vt:lpstr>Čisti skup, usporedba sa SotA </vt:lpstr>
      <vt:lpstr>Zašumljene oznake, usporedba sa SotA </vt:lpstr>
      <vt:lpstr>Zašumljene oznake, validacija VIBE </vt:lpstr>
      <vt:lpstr> Zašumljene oznake, validacija SotA </vt:lpstr>
      <vt:lpstr> Zašumljene oznake, validacija CE </vt:lpstr>
      <vt:lpstr> Napadi, usporedba sa SotA </vt:lpstr>
      <vt:lpstr>Zaključak i budući rad</vt:lpstr>
      <vt:lpstr>Zaključak i budući rad</vt:lpstr>
      <vt:lpstr>Diskusija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Dominik Jambrovic</dc:creator>
  <cp:lastModifiedBy>Dominik Jambrovic</cp:lastModifiedBy>
  <cp:revision>33</cp:revision>
  <dcterms:created xsi:type="dcterms:W3CDTF">2025-01-25T17:12:03Z</dcterms:created>
  <dcterms:modified xsi:type="dcterms:W3CDTF">2025-07-11T01:41:38Z</dcterms:modified>
</cp:coreProperties>
</file>