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5"/>
  </p:notesMasterIdLst>
  <p:sldIdLst>
    <p:sldId id="256" r:id="rId2"/>
    <p:sldId id="257" r:id="rId3"/>
    <p:sldId id="258" r:id="rId4"/>
    <p:sldId id="263" r:id="rId5"/>
    <p:sldId id="275" r:id="rId6"/>
    <p:sldId id="276" r:id="rId7"/>
    <p:sldId id="265" r:id="rId8"/>
    <p:sldId id="286" r:id="rId9"/>
    <p:sldId id="274" r:id="rId10"/>
    <p:sldId id="277" r:id="rId11"/>
    <p:sldId id="266" r:id="rId12"/>
    <p:sldId id="267" r:id="rId13"/>
    <p:sldId id="278" r:id="rId14"/>
    <p:sldId id="279" r:id="rId15"/>
    <p:sldId id="287" r:id="rId16"/>
    <p:sldId id="270" r:id="rId17"/>
    <p:sldId id="283" r:id="rId18"/>
    <p:sldId id="282" r:id="rId19"/>
    <p:sldId id="284" r:id="rId20"/>
    <p:sldId id="280" r:id="rId21"/>
    <p:sldId id="271" r:id="rId22"/>
    <p:sldId id="285" r:id="rId23"/>
    <p:sldId id="273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222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C22A23-FA0E-43FF-AD6A-5A9DC9E7A77F}" type="datetimeFigureOut">
              <a:rPr lang="hr-HR" smtClean="0"/>
              <a:t>4.7.2025.</a:t>
            </a:fld>
            <a:endParaRPr lang="hr-H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r-H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F8539C-3157-43D8-9A64-3BC58E37B14C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8791231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F8539C-3157-43D8-9A64-3BC58E37B14C}" type="slidenum">
              <a:rPr lang="hr-HR" smtClean="0"/>
              <a:t>13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41331602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7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61872" y="4800600"/>
            <a:ext cx="9418320" cy="1691640"/>
          </a:xfrm>
        </p:spPr>
        <p:txBody>
          <a:bodyPr>
            <a:normAutofit/>
          </a:bodyPr>
          <a:lstStyle>
            <a:lvl1pPr marL="0" indent="0" algn="l">
              <a:buNone/>
              <a:defRPr sz="2200" spc="30" baseline="0">
                <a:solidFill>
                  <a:schemeClr val="tx1">
                    <a:lumMod val="75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0DB6F-6EB1-4D7D-9BCC-E96C905FFC52}" type="datetime1">
              <a:rPr lang="hr-HR" smtClean="0"/>
              <a:t>4.7.2025.</a:t>
            </a:fld>
            <a:endParaRPr lang="hr-H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6503073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57D9C-C0AF-48FA-BBAF-7CAA57C23F8E}" type="datetime1">
              <a:rPr lang="hr-HR" smtClean="0"/>
              <a:t>4.7.2025.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665003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61872" y="758952"/>
            <a:ext cx="9418320" cy="4041648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7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4800600"/>
            <a:ext cx="9418320" cy="1691640"/>
          </a:xfrm>
        </p:spPr>
        <p:txBody>
          <a:bodyPr anchor="t">
            <a:normAutofit/>
          </a:bodyPr>
          <a:lstStyle>
            <a:lvl1pPr marL="0" indent="0">
              <a:buNone/>
              <a:defRPr sz="2200" spc="30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E6B098-981F-45CA-83FF-788349BDC294}" type="datetime1">
              <a:rPr lang="hr-HR" smtClean="0"/>
              <a:t>4.7.2025.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298058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61872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6480" y="1828800"/>
            <a:ext cx="4480560" cy="43513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06E4C2-5A97-4809-9A3F-0AD2CD797138}" type="datetime1">
              <a:rPr lang="hr-HR" smtClean="0"/>
              <a:t>4.7.2025.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125193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61872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26480" y="1713655"/>
            <a:ext cx="4480560" cy="73152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20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2000"/>
              </a:spcBef>
              <a:buFontTx/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26480" y="2507550"/>
            <a:ext cx="4480560" cy="366465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60B546-6293-4D30-BD97-A6B6A01C90BF}" type="datetime1">
              <a:rPr lang="hr-HR" smtClean="0"/>
              <a:t>4.7.2025.</a:t>
            </a:fld>
            <a:endParaRPr lang="hr-H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32020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F7632D-88EC-4C5E-9269-EEF5AECE77DB}" type="datetime1">
              <a:rPr lang="hr-HR" smtClean="0"/>
              <a:t>4.7.2025.</a:t>
            </a:fld>
            <a:endParaRPr lang="hr-H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652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43FE3-F849-413C-9C82-49701E1B3EF3}" type="datetime1">
              <a:rPr lang="hr-HR" smtClean="0"/>
              <a:t>4.7.2025.</a:t>
            </a:fld>
            <a:endParaRPr lang="hr-H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75668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200400" cy="1600197"/>
          </a:xfrm>
        </p:spPr>
        <p:txBody>
          <a:bodyPr anchor="b">
            <a:normAutofit/>
          </a:bodyPr>
          <a:lstStyle>
            <a:lvl1pPr>
              <a:defRPr sz="2800" b="1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04267" y="685800"/>
            <a:ext cx="6079066" cy="548640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99734"/>
            <a:ext cx="3200400" cy="38100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800"/>
              </a:spcBef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D4826-6613-4A6F-B53D-11761422A9FC}" type="datetime1">
              <a:rPr lang="hr-HR" smtClean="0"/>
              <a:t>4.7.2025.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988554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5105400"/>
            <a:ext cx="11292840" cy="17526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5257800"/>
            <a:ext cx="9982200" cy="914400"/>
          </a:xfrm>
        </p:spPr>
        <p:txBody>
          <a:bodyPr anchor="b">
            <a:normAutofit/>
          </a:bodyPr>
          <a:lstStyle>
            <a:lvl1pPr>
              <a:defRPr sz="2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1292840" cy="512892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4400" y="6108589"/>
            <a:ext cx="9982200" cy="59701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800"/>
              </a:spcBef>
              <a:buNone/>
              <a:defRPr sz="1400" baseline="0">
                <a:solidFill>
                  <a:schemeClr val="bg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A042B-28D4-4EE9-A191-0F90C01EB3D9}" type="datetime1">
              <a:rPr lang="hr-HR" smtClean="0"/>
              <a:t>4.7.2025.</a:t>
            </a:fld>
            <a:endParaRPr lang="hr-H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793111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897EE-C1D5-4E52-876C-358FABA2E6DD}" type="datetime1">
              <a:rPr lang="hr-HR" smtClean="0"/>
              <a:t>4.7.2025.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25733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48700" y="381000"/>
            <a:ext cx="2476500" cy="58975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81000"/>
            <a:ext cx="7734300" cy="58975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F014D-1E5A-4CE6-87B2-A696E1D2C514}" type="datetime1">
              <a:rPr lang="hr-HR" smtClean="0"/>
              <a:t>4.7.2025.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64684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1292840" y="0"/>
            <a:ext cx="9144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61872" y="294198"/>
            <a:ext cx="9692640" cy="1397124"/>
          </a:xfrm>
          <a:prstGeom prst="rect">
            <a:avLst/>
          </a:prstGeom>
        </p:spPr>
        <p:txBody>
          <a:bodyPr vert="horz" lIns="91440" tIns="27432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61872" y="1828800"/>
            <a:ext cx="859536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10797542" y="998537"/>
            <a:ext cx="1904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fld id="{DE49A88E-18D6-498E-8265-50D671D76CD0}" type="datetime1">
              <a:rPr lang="hr-HR" smtClean="0"/>
              <a:t>4.7.2025.</a:t>
            </a:fld>
            <a:endParaRPr lang="hr-H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9959341" y="4046537"/>
            <a:ext cx="358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92840" y="6172200"/>
            <a:ext cx="914400" cy="593725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360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defRPr>
            </a:lvl1pPr>
          </a:lstStyle>
          <a:p>
            <a:fld id="{CF44E4AE-4F6C-4F0B-AD47-A5E219CBC21D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25375530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 spc="-5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5000"/>
        </a:lnSpc>
        <a:spcBef>
          <a:spcPts val="1400"/>
        </a:spcBef>
        <a:spcAft>
          <a:spcPts val="200"/>
        </a:spcAft>
        <a:buClr>
          <a:schemeClr val="accent1"/>
        </a:buClr>
        <a:buSzPct val="80000"/>
        <a:buFont typeface="Arial" pitchFamily="34" charset="0"/>
        <a:buChar char="•"/>
        <a:defRPr sz="2000" kern="1200" spc="1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300"/>
        </a:spcBef>
        <a:spcAft>
          <a:spcPts val="30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03.08829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roceedings.neurips.cc/paper_files/paper/2024/hash/6de71272e0be559af3f76b884e94794b-Abstract-Conference.html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45EDA-9C80-8E20-925A-0489CE3EA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3177" y="758952"/>
            <a:ext cx="10315851" cy="4041648"/>
          </a:xfrm>
        </p:spPr>
        <p:txBody>
          <a:bodyPr anchor="b">
            <a:normAutofit/>
          </a:bodyPr>
          <a:lstStyle/>
          <a:p>
            <a:r>
              <a:rPr lang="hr-HR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Varijacijsko učenje na zašumljenim oznakama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C22362-F1A1-CF1A-E4F9-C24BDB89C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3178" y="4800600"/>
            <a:ext cx="10315851" cy="1691640"/>
          </a:xfrm>
        </p:spPr>
        <p:txBody>
          <a:bodyPr anchor="t">
            <a:normAutofit/>
          </a:bodyPr>
          <a:lstStyle/>
          <a:p>
            <a:endParaRPr lang="hr-H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Autor: Dominik </a:t>
            </a:r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Jambrovi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ć</a:t>
            </a:r>
          </a:p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Voditelji: Ivan Sabolić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Siniša Šegvić</a:t>
            </a:r>
          </a:p>
        </p:txBody>
      </p:sp>
    </p:spTree>
    <p:extLst>
      <p:ext uri="{BB962C8B-B14F-4D97-AF65-F5344CB8AC3E}">
        <p14:creationId xmlns:p14="http://schemas.microsoft.com/office/powerpoint/2010/main" val="28058174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17BC-F7BD-0701-56EA-D6A1FE216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Sadržaj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33C4-ED8A-1EB1-D91E-FFB64A9A2C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93668"/>
            <a:ext cx="8595360" cy="4735002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  <a:p>
            <a:pPr marL="514350" indent="-514350">
              <a:buFont typeface="+mj-lt"/>
              <a:buAutoNum type="arabicPeriod"/>
            </a:pP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888114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91540-0D18-8AC0-3086-5E721DFCE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0411E8-3F26-E20F-3BDD-E742F4DD4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Uvod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9C59D-E496-9CBA-0635-771803DBB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Odluke pri učenju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dubokih modela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endParaRPr lang="en-US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algoritam učenja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hiperparametri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skup podataka</a:t>
            </a:r>
          </a:p>
          <a:p>
            <a:pPr lvl="1"/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Opasnosti pri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stvaranju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skupa podataka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hr-HR" sz="24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11C4EE-5BF9-DF3A-185E-3ADED1E4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0932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FE524-DAAF-CC17-77CC-AC8D87E5C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DA391-9BF3-F25A-A23D-C9C8F0E5E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019CD-35B9-6690-5D9E-5958859F7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9572383" cy="435133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zatrovani podatci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izmijenjeni podatci za učenje koji u model ugrađuju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stražnja vrata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trovanje uvijek uključuje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dodavanje okidača u podatke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 ovisno o vrsti napada, uključuje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izmjenu 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te dodatno perturbiranje podataka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stražnja vrata omogućavaju manipuliranje naučenim modelom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tijekom zaključivanja, model daje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krivo predviđanje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ako je na ulazu ispitna slika s okidačem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3D51F9-CE2A-DACE-DD0D-EFEAC0D4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489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A845E-584B-E7F9-46E8-C6E7BCFAD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249BC-9A5C-3340-A93D-3768CE088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Neke vrste okidača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F5D638-E42E-8EE2-74C9-7EB279A96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3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C5B7D69-C76C-9024-181C-95521077BA96}"/>
              </a:ext>
            </a:extLst>
          </p:cNvPr>
          <p:cNvGrpSpPr/>
          <p:nvPr/>
        </p:nvGrpSpPr>
        <p:grpSpPr>
          <a:xfrm>
            <a:off x="461639" y="2322608"/>
            <a:ext cx="10831201" cy="3178313"/>
            <a:chOff x="461639" y="2597816"/>
            <a:chExt cx="10831201" cy="3178313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D9E099A-28CD-E388-B4B7-4E538E2A0F11}"/>
                </a:ext>
              </a:extLst>
            </p:cNvPr>
            <p:cNvGrpSpPr/>
            <p:nvPr/>
          </p:nvGrpSpPr>
          <p:grpSpPr>
            <a:xfrm>
              <a:off x="461639" y="2597816"/>
              <a:ext cx="10831201" cy="2622254"/>
              <a:chOff x="0" y="2117315"/>
              <a:chExt cx="11259607" cy="2859293"/>
            </a:xfrm>
          </p:grpSpPr>
          <p:pic>
            <p:nvPicPr>
              <p:cNvPr id="9" name="Picture 8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8962D0FF-52B5-A0C0-C7DE-3836406A9C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541028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6" name="Picture 5" descr="A blue bird sitting on a branch&#10;&#10;AI-generated content may be incorrect.">
                <a:extLst>
                  <a:ext uri="{FF2B5EF4-FFF2-40B4-BE49-F238E27FC236}">
                    <a16:creationId xmlns:a16="http://schemas.microsoft.com/office/drawing/2014/main" id="{B51E7BE8-BFEF-2DBC-18D9-88F1A1A905E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0514" y="2117315"/>
                <a:ext cx="5718579" cy="2859289"/>
              </a:xfrm>
              <a:prstGeom prst="rect">
                <a:avLst/>
              </a:prstGeom>
            </p:spPr>
          </p:pic>
          <p:pic>
            <p:nvPicPr>
              <p:cNvPr id="11" name="Picture 10" descr="A blue bird on a branch&#10;&#10;AI-generated content may be incorrect.">
                <a:extLst>
                  <a:ext uri="{FF2B5EF4-FFF2-40B4-BE49-F238E27FC236}">
                    <a16:creationId xmlns:a16="http://schemas.microsoft.com/office/drawing/2014/main" id="{200E2F04-BB54-C967-B1A2-F6841A70A0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2117319"/>
                <a:ext cx="5718580" cy="2859289"/>
              </a:xfrm>
              <a:prstGeom prst="rect">
                <a:avLst/>
              </a:prstGeom>
            </p:spPr>
          </p:pic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116AEF6-FB61-0CEF-AC2A-459967475680}"/>
                </a:ext>
              </a:extLst>
            </p:cNvPr>
            <p:cNvSpPr txBox="1"/>
            <p:nvPr/>
          </p:nvSpPr>
          <p:spPr>
            <a:xfrm>
              <a:off x="6422043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Blend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BFB0EF2-2199-4259-092A-6A3DDD8915CE}"/>
                </a:ext>
              </a:extLst>
            </p:cNvPr>
            <p:cNvSpPr txBox="1"/>
            <p:nvPr/>
          </p:nvSpPr>
          <p:spPr>
            <a:xfrm>
              <a:off x="1180517" y="5283685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Original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0B18B9-0AA9-C329-187C-D431F7BD99A4}"/>
                </a:ext>
              </a:extLst>
            </p:cNvPr>
            <p:cNvSpPr txBox="1"/>
            <p:nvPr/>
          </p:nvSpPr>
          <p:spPr>
            <a:xfrm>
              <a:off x="3693111" y="5283685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BadNets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F602169-BFD0-767F-6026-2EAE02807DFC}"/>
                </a:ext>
              </a:extLst>
            </p:cNvPr>
            <p:cNvSpPr txBox="1"/>
            <p:nvPr/>
          </p:nvSpPr>
          <p:spPr>
            <a:xfrm>
              <a:off x="9042806" y="5283686"/>
              <a:ext cx="144706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WaNet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CF8755A-AEFA-1C94-F7F5-B733BD7C0C19}"/>
              </a:ext>
            </a:extLst>
          </p:cNvPr>
          <p:cNvGrpSpPr/>
          <p:nvPr/>
        </p:nvGrpSpPr>
        <p:grpSpPr>
          <a:xfrm>
            <a:off x="917234" y="5576510"/>
            <a:ext cx="9487394" cy="892552"/>
            <a:chOff x="934990" y="5479702"/>
            <a:chExt cx="9487394" cy="89255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BF14803-9D3D-F402-5D50-2DC9EAF336A3}"/>
                </a:ext>
              </a:extLst>
            </p:cNvPr>
            <p:cNvSpPr txBox="1"/>
            <p:nvPr/>
          </p:nvSpPr>
          <p:spPr>
            <a:xfrm>
              <a:off x="6526938" y="5479702"/>
              <a:ext cx="389544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Teško ih je primijeniti u stvarnom svijetu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7849596-BF02-8A18-7EAD-12B163D1E25F}"/>
                </a:ext>
              </a:extLst>
            </p:cNvPr>
            <p:cNvSpPr txBox="1"/>
            <p:nvPr/>
          </p:nvSpPr>
          <p:spPr>
            <a:xfrm>
              <a:off x="934990" y="5679757"/>
              <a:ext cx="1973625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Nedostatak: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3A88C3A-D218-8B54-F54A-8B9BAB8E718E}"/>
                </a:ext>
              </a:extLst>
            </p:cNvPr>
            <p:cNvSpPr txBox="1"/>
            <p:nvPr/>
          </p:nvSpPr>
          <p:spPr>
            <a:xfrm>
              <a:off x="3693111" y="5679757"/>
              <a:ext cx="1660124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Vidljiv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03991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D117-7D22-8750-1092-915043754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7F1AA-F26C-3A7E-4BDD-34358BB4E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430A64-8E96-6C8E-3459-65E1BE2C3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593274"/>
            <a:ext cx="9692639" cy="4586864"/>
          </a:xfrm>
        </p:spPr>
        <p:txBody>
          <a:bodyPr>
            <a:normAutofit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posljedica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netočnog označavanja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podataka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razlikujemo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(gore)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(dolje) zašumljivanje</a:t>
            </a: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9CEE37-3FD2-7B31-A0A9-1C19FBC24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4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1D22B6A-8919-1AB5-09B6-61F879B02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695" y="3841624"/>
            <a:ext cx="9667782" cy="2698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16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A6228C-2389-9170-82D2-915D8DAA7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95551-D168-4FC9-FE63-A5BF6A6B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8ACFC-6758-DE29-7509-8ACE824B0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modela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bez stražnjih vrata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zatrovanim podatcima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optimizacija varijacijskog cilja koristeći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algoritam maksimizacije očekivanja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D508C-DA53-CDC2-E637-76AC9FD97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0E1422-5D01-8D22-F793-7D7B997C07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528" y="3517221"/>
            <a:ext cx="9842352" cy="1358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914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8D621-C0C9-42FB-03CD-313BB353C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AF7BE-BB66-8B40-08A5-681B2DEA3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FF9997-24F3-C098-A02E-FA0EFB9B65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799"/>
            <a:ext cx="9692640" cy="4937125"/>
          </a:xfrm>
        </p:spPr>
        <p:txBody>
          <a:bodyPr>
            <a:normAutofit/>
          </a:bodyPr>
          <a:lstStyle/>
          <a:p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ekstraktor značajki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skup čistih prototipova, skup zatrovanih prototipova </a:t>
            </a: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E korak: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aproksimacija čistih pseudooznaka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(algoritam SK)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M korak: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ažuriranje parametara modela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(gradijentni spust)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6F4E7C-1CAF-80DB-BAF8-FD5424156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6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6A95AE8-E5A2-F3A7-87EE-70DD803B443D}"/>
              </a:ext>
            </a:extLst>
          </p:cNvPr>
          <p:cNvGrpSpPr/>
          <p:nvPr/>
        </p:nvGrpSpPr>
        <p:grpSpPr>
          <a:xfrm>
            <a:off x="2752542" y="2735846"/>
            <a:ext cx="6711300" cy="2814377"/>
            <a:chOff x="2733205" y="2662051"/>
            <a:chExt cx="6711300" cy="281437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00F0D49-A854-E309-B1DF-462B0242CC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25"/>
            <a:stretch>
              <a:fillRect/>
            </a:stretch>
          </p:blipFill>
          <p:spPr>
            <a:xfrm>
              <a:off x="2733205" y="2662051"/>
              <a:ext cx="6697010" cy="126700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8B67BB9-001D-C688-03B8-384A916E5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47495" y="4066531"/>
              <a:ext cx="6697010" cy="1409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919753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91E6A-93E2-CEF2-7ACA-726C49939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B137DB-77BF-3940-D056-CC1D48A6D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Okvir VIBE</a:t>
            </a: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A7DCF3-5E34-BB41-57CB-ABCF2D70C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7</a:t>
            </a:r>
          </a:p>
        </p:txBody>
      </p:sp>
      <p:pic>
        <p:nvPicPr>
          <p:cNvPr id="8" name="Picture 7" descr="A diagram of a bird&#10;&#10;AI-generated content may be incorrect.">
            <a:extLst>
              <a:ext uri="{FF2B5EF4-FFF2-40B4-BE49-F238E27FC236}">
                <a16:creationId xmlns:a16="http://schemas.microsoft.com/office/drawing/2014/main" id="{21D202AF-056A-3282-83D7-9E8DEB212C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1390" y="2334827"/>
            <a:ext cx="10791450" cy="344675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338E3E9-19BE-142E-0026-27CB290AB2E2}"/>
              </a:ext>
            </a:extLst>
          </p:cNvPr>
          <p:cNvSpPr txBox="1"/>
          <p:nvPr/>
        </p:nvSpPr>
        <p:spPr>
          <a:xfrm>
            <a:off x="2354555" y="5873373"/>
            <a:ext cx="708512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hr-HR" sz="2600" noProof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reuzeto iz 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sabolic25iccv</a:t>
            </a:r>
            <a:r>
              <a:rPr lang="en-US" sz="2600" noProof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600" noProof="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34715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79DC0-028A-FC80-FDF1-FA8AEAD0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98E85-BDA4-7EB5-511C-62EAD823B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Konzistencijski gubitak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5AFB7-9C7E-F25E-00CD-1CC2A10E8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692640" cy="4735002"/>
          </a:xfrm>
        </p:spPr>
        <p:txBody>
          <a:bodyPr>
            <a:normAutofit/>
          </a:bodyPr>
          <a:lstStyle/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cilj: osigurati da model z</a:t>
            </a:r>
            <a:r>
              <a:rPr lang="en-US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različite perturbacije istog ulaza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daje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isti izlaz</a:t>
            </a: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dva pogleda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 podatke: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slabe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jake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augmentacije</a:t>
            </a:r>
          </a:p>
          <a:p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povećavanje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invarijantnosti na perturbacije ulaza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sprječavanje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prenaučenosti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hr-HR" sz="28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8F7740-24FB-E7AA-570E-A745E1EDE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095EC41-835B-7249-819C-F56930CD2E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4257" y="4217404"/>
            <a:ext cx="6573167" cy="57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808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3F662-7F05-F101-CFCD-E27FA172E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Eksperimenti</a:t>
            </a:r>
          </a:p>
        </p:txBody>
      </p:sp>
    </p:spTree>
    <p:extLst>
      <p:ext uri="{BB962C8B-B14F-4D97-AF65-F5344CB8AC3E}">
        <p14:creationId xmlns:p14="http://schemas.microsoft.com/office/powerpoint/2010/main" val="42172767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210E-596F-E748-8C35-1EAE1364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BB60-F370-ADCB-3E8A-5928FA8EC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Skup podataka CIFAR-10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3CE90-BB8F-C58E-44E7-AC131DE824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614055"/>
            <a:ext cx="10287977" cy="494974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slike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dimenzija 32 x 32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10 razreda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000 primjera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učenje,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10 000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 skupu za ispitivanje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659D13-EB30-4350-4FAD-40148677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9</a:t>
            </a:r>
          </a:p>
        </p:txBody>
      </p:sp>
      <p:pic>
        <p:nvPicPr>
          <p:cNvPr id="7" name="Picture 6" descr="A collage of images of animals&#10;&#10;AI-generated content may be incorrect.">
            <a:extLst>
              <a:ext uri="{FF2B5EF4-FFF2-40B4-BE49-F238E27FC236}">
                <a16:creationId xmlns:a16="http://schemas.microsoft.com/office/drawing/2014/main" id="{FE05BE1E-2270-E1F0-58CB-713F6D7077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332"/>
          <a:stretch>
            <a:fillRect/>
          </a:stretch>
        </p:blipFill>
        <p:spPr>
          <a:xfrm>
            <a:off x="1064302" y="4119676"/>
            <a:ext cx="9654770" cy="2349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18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8BA72-F8FC-6563-3E0C-B5FDA071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F24E7-9633-FB85-06F9-F2C0DBC01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4A883-A8AE-7B1F-1ED4-64107D08D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828800"/>
            <a:ext cx="9267046" cy="473500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imetrično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20%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50%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80%</a:t>
            </a:r>
          </a:p>
          <a:p>
            <a:pPr lvl="1"/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asimetrično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zašumljivanje uz stopu šuma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40%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vrednovanje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</a:t>
            </a:r>
          </a:p>
          <a:p>
            <a:pPr lvl="1"/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napadi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Ble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i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uz stopu trovanja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10%</a:t>
            </a:r>
          </a:p>
          <a:p>
            <a:pPr lvl="1"/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all-to-one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izmjena oznaka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ciljni razred </a:t>
            </a:r>
            <a:r>
              <a:rPr lang="hr-HR" sz="2600" b="1" i="1" dirty="0">
                <a:latin typeface="Arial" panose="020B0604020202020204" pitchFamily="34" charset="0"/>
                <a:cs typeface="Arial" panose="020B0604020202020204" pitchFamily="34" charset="0"/>
              </a:rPr>
              <a:t>airplane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vrednovanje: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 čistom skupu,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udio uspješnih napada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attack success rate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– ASR)</a:t>
            </a:r>
            <a:endParaRPr lang="hr-HR" sz="26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B9FC41-BE0F-E3F3-3223-2366B7B47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A77EA-4449-0F2C-6C38-4C9B64332ED9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196845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D72D6-C03B-5AFB-6481-B3F78BB43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B7FFE8-0963-75FD-A7A2-DA50C1FB8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Postavke eksperimenata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246B9-74CB-0ABA-3A49-490A8D32C3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9222657" cy="4735002"/>
          </a:xfrm>
        </p:spPr>
        <p:txBody>
          <a:bodyPr>
            <a:normAutofit lnSpcReduction="10000"/>
          </a:bodyPr>
          <a:lstStyle/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arhitektura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ResNet18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samonadzirana inicijalizacija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modela okvirom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All4One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inicijalizacija čistih i zatrovanih prototipova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centroide pripadnih razreda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30 000 iteracija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okvirom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VIBE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uz optimizator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SGD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sa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stopom učenja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0.01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i strategijom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bez restarta</a:t>
            </a:r>
          </a:p>
          <a:p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skup podijeljen na 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minigrupe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veličine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256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provođenje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E koraka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učenja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svakih 1000 iteracija</a:t>
            </a:r>
          </a:p>
          <a:p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faktor konzistencijskog gubitka </a:t>
            </a:r>
            <a:r>
              <a:rPr lang="hr-HR" sz="2600" noProof="0" dirty="0">
                <a:latin typeface="Arial" panose="020B0604020202020204" pitchFamily="34" charset="0"/>
                <a:cs typeface="Arial" panose="020B0604020202020204" pitchFamily="34" charset="0"/>
              </a:rPr>
              <a:t>iznosa</a:t>
            </a:r>
            <a:r>
              <a:rPr lang="hr-HR" sz="2600" b="1" noProof="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endParaRPr lang="hr-HR" sz="2600" b="1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F96B62-BE47-1DBB-D7A7-59EE9D395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</a:t>
            </a:r>
            <a:r>
              <a:rPr lang="hr-HR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CE49C-7183-98A8-00E6-7BD89AE0F6A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028681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5C142-48F7-E6F2-4F4D-F2399F2E5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7B1359D-A2F4-20F0-6300-FAB958F1C541}"/>
              </a:ext>
            </a:extLst>
          </p:cNvPr>
          <p:cNvSpPr txBox="1">
            <a:spLocks/>
          </p:cNvSpPr>
          <p:nvPr/>
        </p:nvSpPr>
        <p:spPr>
          <a:xfrm>
            <a:off x="1261871" y="1473693"/>
            <a:ext cx="9222657" cy="5090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Stanje tehnike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Sparse over-parameterization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 </a:t>
            </a:r>
          </a:p>
          <a:p>
            <a:pPr lvl="1"/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Imprecise label learning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ILL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SOP uz konzistencijski gubitak i gubitak ravnoteže razreda: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SOP+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F15B25-5FCC-941C-2A2D-C2B8121C0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Čisti skup,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B705C-288F-4F9E-5589-47CF7E687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92DE8-972E-8B50-D00F-2BF8E34B752A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E53711F-750A-E518-B807-C09926D688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476" y="4245413"/>
            <a:ext cx="3229426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3642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CA129-F628-0021-2916-4EAA6E59BF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E0B81-A4C5-6CBC-7F20-059A234C9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usporedba sa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8B05B9-30AB-34B6-E853-C52B3D8B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51114-9FAB-ECD3-574E-5F88CF5C9E40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EED14FE-4F5C-3879-9E99-1854608330F2}"/>
              </a:ext>
            </a:extLst>
          </p:cNvPr>
          <p:cNvGrpSpPr/>
          <p:nvPr/>
        </p:nvGrpSpPr>
        <p:grpSpPr>
          <a:xfrm>
            <a:off x="1031044" y="2507345"/>
            <a:ext cx="9749352" cy="3750340"/>
            <a:chOff x="1261872" y="2036830"/>
            <a:chExt cx="9749352" cy="375034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C0F6ED8-F856-7668-D143-B0F3237E447B}"/>
                </a:ext>
              </a:extLst>
            </p:cNvPr>
            <p:cNvSpPr txBox="1"/>
            <p:nvPr/>
          </p:nvSpPr>
          <p:spPr>
            <a:xfrm>
              <a:off x="1261872" y="2036831"/>
              <a:ext cx="4541832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Simetrično zašumljivanje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9791A7-68A4-7211-9B53-9E5BF6FF9236}"/>
                </a:ext>
              </a:extLst>
            </p:cNvPr>
            <p:cNvSpPr txBox="1"/>
            <p:nvPr/>
          </p:nvSpPr>
          <p:spPr>
            <a:xfrm>
              <a:off x="6469392" y="2036830"/>
              <a:ext cx="454183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Asimetrično zašumljivanje,</a:t>
              </a:r>
            </a:p>
            <a:p>
              <a:pPr algn="ctr"/>
              <a:r>
                <a:rPr lang="hr-HR" sz="2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stopa šuma 40%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BA433559-7543-44F0-127F-E1396F229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79837" y="2670376"/>
              <a:ext cx="4305901" cy="311511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C0950E4D-E91C-3DBE-DF61-6627B398A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-1" b="586"/>
            <a:stretch>
              <a:fillRect/>
            </a:stretch>
          </p:blipFill>
          <p:spPr>
            <a:xfrm>
              <a:off x="7116069" y="2993390"/>
              <a:ext cx="3248478" cy="2793780"/>
            </a:xfrm>
            <a:prstGeom prst="rect">
              <a:avLst/>
            </a:prstGeom>
          </p:spPr>
        </p:pic>
      </p:grp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D61EFA3-AB36-013E-65D4-EB55E2BF6CAD}"/>
              </a:ext>
            </a:extLst>
          </p:cNvPr>
          <p:cNvSpPr txBox="1">
            <a:spLocks/>
          </p:cNvSpPr>
          <p:nvPr/>
        </p:nvSpPr>
        <p:spPr>
          <a:xfrm>
            <a:off x="1149009" y="1615736"/>
            <a:ext cx="10143831" cy="75050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182880" indent="-182880" algn="l" defTabSz="914400" rtl="0" eaLnBrk="1" latinLnBrk="0" hangingPunct="1">
              <a:lnSpc>
                <a:spcPct val="95000"/>
              </a:lnSpc>
              <a:spcBef>
                <a:spcPts val="1400"/>
              </a:spcBef>
              <a:spcAft>
                <a:spcPts val="200"/>
              </a:spcAft>
              <a:buClr>
                <a:schemeClr val="accent1"/>
              </a:buClr>
              <a:buSzPct val="80000"/>
              <a:buFont typeface="Arial" pitchFamily="34" charset="0"/>
              <a:buChar char="•"/>
              <a:defRPr sz="2000" kern="1200" spc="1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90000"/>
              </a:lnSpc>
              <a:spcBef>
                <a:spcPts val="300"/>
              </a:spcBef>
              <a:spcAft>
                <a:spcPts val="300"/>
              </a:spcAft>
              <a:buClr>
                <a:schemeClr val="accent1"/>
              </a:buClr>
              <a:buFont typeface="Wingdings 2" pitchFamily="18" charset="2"/>
              <a:buChar char="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oznaka </a:t>
            </a:r>
            <a:r>
              <a:rPr lang="hr-HR" sz="2800" b="1" dirty="0">
                <a:latin typeface="Arial" panose="020B0604020202020204" pitchFamily="34" charset="0"/>
                <a:cs typeface="Arial" panose="020B0604020202020204" pitchFamily="34" charset="0"/>
              </a:rPr>
              <a:t>*</a:t>
            </a:r>
            <a:r>
              <a:rPr lang="hr-HR" sz="2800" dirty="0">
                <a:latin typeface="Arial" panose="020B0604020202020204" pitchFamily="34" charset="0"/>
                <a:cs typeface="Arial" panose="020B0604020202020204" pitchFamily="34" charset="0"/>
              </a:rPr>
              <a:t> prije imena algoritma – rezultat iz rada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hr-HR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chen24neurips</a:t>
            </a:r>
            <a:r>
              <a:rPr lang="en-US" sz="2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  <a:endParaRPr lang="hr-HR" sz="28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3550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C37ED-2E23-2DD0-BB70-C02326F8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A0789-C644-35FA-BA66-1D6B1A75C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/>
          </a:bodyPr>
          <a:lstStyle/>
          <a:p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VIBE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7B1577-BDC0-CBEF-44A8-E41624B7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798630-F672-5C62-48CB-90DB6179F117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B54A31-BDBD-F96A-80E0-00AFC08C62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348" y="1988413"/>
            <a:ext cx="5553850" cy="210531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C65AD1-5842-2E7A-2ABB-9E3C1D6C3818}"/>
              </a:ext>
            </a:extLst>
          </p:cNvPr>
          <p:cNvSpPr txBox="1"/>
          <p:nvPr/>
        </p:nvSpPr>
        <p:spPr>
          <a:xfrm>
            <a:off x="2697721" y="4564914"/>
            <a:ext cx="617310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kosinusno kaljenje</a:t>
            </a:r>
            <a:endParaRPr lang="hr-HR" sz="2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konzistencijski gubitak</a:t>
            </a: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</a:t>
            </a:r>
            <a:r>
              <a:rPr lang="en-US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</a:t>
            </a:r>
            <a:r>
              <a:rPr lang="en-US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tor 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</a:t>
            </a:r>
            <a:r>
              <a:rPr lang="hr-HR" sz="26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augmentacija nasumičnog brisanja</a:t>
            </a:r>
            <a:endParaRPr lang="en-US" sz="26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3582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35EBC-073D-517B-E248-70DBF9FE7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473D17B6-8E40-5C5E-C348-EEBC0F13FE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0133" y="5313480"/>
            <a:ext cx="5753903" cy="11336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ED3F8A-A4B6-FD23-E329-17555F39C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736" y="2099630"/>
            <a:ext cx="9840698" cy="21529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762BA8-1347-C00A-D4A1-B49C8DFC1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SotA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0F8701-D8F5-C0E7-6702-BF4069BFE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9EED21-DB1C-2B5E-33BA-61CD8CD7D67E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CA5770F-0A1D-E444-C177-F807D77522BA}"/>
              </a:ext>
            </a:extLst>
          </p:cNvPr>
          <p:cNvSpPr txBox="1"/>
          <p:nvPr/>
        </p:nvSpPr>
        <p:spPr>
          <a:xfrm>
            <a:off x="3556169" y="1607187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SOP+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2F103-EEC4-9CEB-5F08-DCB3F2DEB1F0}"/>
              </a:ext>
            </a:extLst>
          </p:cNvPr>
          <p:cNvSpPr txBox="1"/>
          <p:nvPr/>
        </p:nvSpPr>
        <p:spPr>
          <a:xfrm>
            <a:off x="3556169" y="4736952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Algoritam ILL</a:t>
            </a:r>
          </a:p>
        </p:txBody>
      </p:sp>
    </p:spTree>
    <p:extLst>
      <p:ext uri="{BB962C8B-B14F-4D97-AF65-F5344CB8AC3E}">
        <p14:creationId xmlns:p14="http://schemas.microsoft.com/office/powerpoint/2010/main" val="3951312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F6CCA-F5B1-4AB2-3585-B28D5D2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F247E-C733-AAE7-7F97-10810314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1" y="294198"/>
            <a:ext cx="10126565" cy="1397124"/>
          </a:xfrm>
        </p:spPr>
        <p:txBody>
          <a:bodyPr>
            <a:noAutofit/>
          </a:bodyPr>
          <a:lstStyle/>
          <a:p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sz="4000" dirty="0">
                <a:latin typeface="Arial" panose="020B0604020202020204" pitchFamily="34" charset="0"/>
                <a:cs typeface="Arial" panose="020B0604020202020204" pitchFamily="34" charset="0"/>
              </a:rPr>
              <a:t>Zašumljene oznake, validacija CE</a:t>
            </a:r>
            <a:b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sz="4000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C0CBB-AFB1-8391-B6C8-0FCC71939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73D876-80B6-2E5E-A8E7-B1C35C1284F8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452F31-ADA5-19AE-CA10-5ED078396C29}"/>
              </a:ext>
            </a:extLst>
          </p:cNvPr>
          <p:cNvSpPr txBox="1"/>
          <p:nvPr/>
        </p:nvSpPr>
        <p:spPr>
          <a:xfrm>
            <a:off x="3686540" y="1664304"/>
            <a:ext cx="45418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adzirano učenje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6E1EF54-08AA-7D61-D8D1-F5E586D0EA92}"/>
              </a:ext>
            </a:extLst>
          </p:cNvPr>
          <p:cNvSpPr txBox="1"/>
          <p:nvPr/>
        </p:nvSpPr>
        <p:spPr>
          <a:xfrm>
            <a:off x="2126621" y="4253824"/>
            <a:ext cx="766166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Nadzirano učenje s konzistencijskim gubitkom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713248-CD5B-5CD1-13F5-7A7E8CB6C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2713" y="2246175"/>
            <a:ext cx="6982799" cy="146705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345826-227D-2445-F058-BDBAEE756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9397" y="4830886"/>
            <a:ext cx="6916115" cy="1409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9873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34F9-0ADB-9EC4-1D97-1016918AF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2D733-7709-9166-C56B-E4EA70C1D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1872" y="294198"/>
            <a:ext cx="9775834" cy="1397124"/>
          </a:xfrm>
        </p:spPr>
        <p:txBody>
          <a:bodyPr>
            <a:normAutofit fontScale="90000"/>
          </a:bodyPr>
          <a:lstStyle/>
          <a:p>
            <a:b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Napadi, usporedba sa SotA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hr-HR" noProof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8DC4E-B479-5A44-FAFE-698FE1A39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AF4C28-5349-66F9-F1E6-92F7B7A0B351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A612C26-FD20-9E2C-807F-E692AF38E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169" y="1845651"/>
            <a:ext cx="4525006" cy="21053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29FA482-D53C-DF5D-E8B0-8E8EFBA4F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278" y="1826598"/>
            <a:ext cx="4620270" cy="21434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0EE4245-E6D3-F790-DD4A-5AF837A605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027" y="4596236"/>
            <a:ext cx="4582164" cy="21434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B653B42-6214-3D0F-D63D-5007E0890338}"/>
              </a:ext>
            </a:extLst>
          </p:cNvPr>
          <p:cNvSpPr txBox="1"/>
          <p:nvPr/>
        </p:nvSpPr>
        <p:spPr>
          <a:xfrm>
            <a:off x="2443220" y="1335661"/>
            <a:ext cx="1652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BadNets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44A51E-3430-78F3-E6E6-1A27B147E5BA}"/>
              </a:ext>
            </a:extLst>
          </p:cNvPr>
          <p:cNvSpPr txBox="1"/>
          <p:nvPr/>
        </p:nvSpPr>
        <p:spPr>
          <a:xfrm>
            <a:off x="7681962" y="1335660"/>
            <a:ext cx="1652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Blend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07CDCD-2CCC-7111-0B0F-3C56C6354B35}"/>
              </a:ext>
            </a:extLst>
          </p:cNvPr>
          <p:cNvSpPr txBox="1"/>
          <p:nvPr/>
        </p:nvSpPr>
        <p:spPr>
          <a:xfrm>
            <a:off x="5068657" y="4105299"/>
            <a:ext cx="165290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r-HR" sz="2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WaNet</a:t>
            </a:r>
          </a:p>
        </p:txBody>
      </p:sp>
    </p:spTree>
    <p:extLst>
      <p:ext uri="{BB962C8B-B14F-4D97-AF65-F5344CB8AC3E}">
        <p14:creationId xmlns:p14="http://schemas.microsoft.com/office/powerpoint/2010/main" val="12595409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6645-D322-A531-75BD-FE8E86A71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093DB-69FE-5597-1038-5CB5BD5F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42FBCF-6FB3-4A04-3A73-23E3114B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1" y="1828800"/>
            <a:ext cx="8966635" cy="4735002"/>
          </a:xfrm>
        </p:spPr>
        <p:txBody>
          <a:bodyPr>
            <a:normAutofit lnSpcReduction="10000"/>
          </a:bodyPr>
          <a:lstStyle/>
          <a:p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osnovnu inačicu VIBE-a nadogradili smo korištenjem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kosinusnog kaljenja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te dodavanjem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konzistencijskog gubitka</a:t>
            </a:r>
          </a:p>
          <a:p>
            <a:pPr marL="0" indent="0">
              <a:buNone/>
            </a:pP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Zašumljene oznake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lošije rezultate od SotA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najbolje rezultate u teškim postavima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dodavanje konzistencijskog gubitka nadziranom učenju može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značajno povećati točnost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naučenih modela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59BA0C-F9A5-26FD-2A89-4DFCC3A5F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AF7285-2C2A-3F7E-F910-A7BADBD2725F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990422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3F277-45B8-6CFD-9D7C-B98DCDAA3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13256-68C7-2EB3-EC28-D09A0FAD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noProof="0" dirty="0">
                <a:latin typeface="Arial" panose="020B0604020202020204" pitchFamily="34" charset="0"/>
                <a:cs typeface="Arial" panose="020B0604020202020204" pitchFamily="34" charset="0"/>
              </a:rPr>
              <a:t>Zaključak i budući rad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BAB14-0488-B4DC-5B1D-4C2E87B09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872" y="1544715"/>
            <a:ext cx="9267584" cy="5486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Napadi umetanjem stražnjih vrata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osnovna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ali ne i najniži ASR u usporedbi sa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3 različita napada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nadograđena inačica VIBE-a postiže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najvišu točnost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, kao i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 najniži ASR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 u usporedbi s osnovnom inačicom VIBE-a te SotA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600" b="1" dirty="0">
                <a:latin typeface="Arial" panose="020B0604020202020204" pitchFamily="34" charset="0"/>
                <a:cs typeface="Arial" panose="020B0604020202020204" pitchFamily="34" charset="0"/>
              </a:rPr>
              <a:t>/3 r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azličita napada</a:t>
            </a:r>
          </a:p>
          <a:p>
            <a:pPr lvl="1"/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Budući rad</a:t>
            </a: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primjena nadograđene inačice VIBE-a na </a:t>
            </a:r>
            <a:r>
              <a:rPr lang="hr-HR" sz="2600" b="1" dirty="0">
                <a:latin typeface="Arial" panose="020B0604020202020204" pitchFamily="34" charset="0"/>
                <a:cs typeface="Arial" panose="020B0604020202020204" pitchFamily="34" charset="0"/>
              </a:rPr>
              <a:t>problem učenja na djelomičnim oznakama 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(engl. </a:t>
            </a:r>
            <a:r>
              <a:rPr lang="hr-HR" sz="2600" i="1" dirty="0">
                <a:latin typeface="Arial" panose="020B0604020202020204" pitchFamily="34" charset="0"/>
                <a:cs typeface="Arial" panose="020B0604020202020204" pitchFamily="34" charset="0"/>
              </a:rPr>
              <a:t>partial label learning</a:t>
            </a:r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hr-HR" sz="2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hr-HR" sz="2600" dirty="0">
                <a:latin typeface="Arial" panose="020B0604020202020204" pitchFamily="34" charset="0"/>
                <a:cs typeface="Arial" panose="020B0604020202020204" pitchFamily="34" charset="0"/>
              </a:rPr>
              <a:t>dodatni eksperimenti u vezi dodavanja konzistencijskog gubitka nadziranom učenju</a:t>
            </a:r>
          </a:p>
          <a:p>
            <a:pPr marL="0" indent="0">
              <a:buNone/>
            </a:pPr>
            <a:endParaRPr lang="hr-HR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1699EC-F442-0E43-B766-D3E31E56C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hr-HR" dirty="0"/>
              <a:t>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2425D5-3F46-1A20-29B4-55183106D2EC}"/>
              </a:ext>
            </a:extLst>
          </p:cNvPr>
          <p:cNvSpPr txBox="1"/>
          <p:nvPr/>
        </p:nvSpPr>
        <p:spPr>
          <a:xfrm>
            <a:off x="10228507" y="6073019"/>
            <a:ext cx="809199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94112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6C9F9-911B-E360-F68E-AC14538EA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27CA-E20B-2F39-A3AF-D15DDDD3C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>
                <a:latin typeface="Arial" panose="020B0604020202020204" pitchFamily="34" charset="0"/>
                <a:cs typeface="Arial" panose="020B0604020202020204" pitchFamily="34" charset="0"/>
              </a:rPr>
              <a:t>Diskusija</a:t>
            </a:r>
          </a:p>
        </p:txBody>
      </p:sp>
    </p:spTree>
    <p:extLst>
      <p:ext uri="{BB962C8B-B14F-4D97-AF65-F5344CB8AC3E}">
        <p14:creationId xmlns:p14="http://schemas.microsoft.com/office/powerpoint/2010/main" val="3897778742"/>
      </p:ext>
    </p:extLst>
  </p:cSld>
  <p:clrMapOvr>
    <a:masterClrMapping/>
  </p:clrMapOvr>
</p:sld>
</file>

<file path=ppt/theme/theme1.xml><?xml version="1.0" encoding="utf-8"?>
<a:theme xmlns:a="http://schemas.openxmlformats.org/drawingml/2006/main" name="Seminar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View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View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3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minar" id="{8905F78F-715B-44EB-B91B-BC9638ADD0FA}" vid="{2B12E160-07C0-455A-A8E7-66913EDE5AC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Seminar</Template>
  <TotalTime>687</TotalTime>
  <Words>666</Words>
  <Application>Microsoft Office PowerPoint</Application>
  <PresentationFormat>Widescreen</PresentationFormat>
  <Paragraphs>156</Paragraphs>
  <Slides>23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Aptos</vt:lpstr>
      <vt:lpstr>Arial</vt:lpstr>
      <vt:lpstr>Century Schoolbook</vt:lpstr>
      <vt:lpstr>Wingdings 2</vt:lpstr>
      <vt:lpstr>Seminar</vt:lpstr>
      <vt:lpstr>Varijacijsko učenje na zašumljenim oznakama</vt:lpstr>
      <vt:lpstr>Sadržaj</vt:lpstr>
      <vt:lpstr>Uvod</vt:lpstr>
      <vt:lpstr>Napadi umetanjem stražnjih vrata</vt:lpstr>
      <vt:lpstr>Neke vrste okidača</vt:lpstr>
      <vt:lpstr>Zašumljene oznake</vt:lpstr>
      <vt:lpstr>Okvir VIBE</vt:lpstr>
      <vt:lpstr>Okvir VIBE</vt:lpstr>
      <vt:lpstr>Okvir VIBE</vt:lpstr>
      <vt:lpstr>Konzistencijski gubitak</vt:lpstr>
      <vt:lpstr>Eksperimenti</vt:lpstr>
      <vt:lpstr>Skup podataka CIFAR-10</vt:lpstr>
      <vt:lpstr>Postavke eksperimenata</vt:lpstr>
      <vt:lpstr>Postavke eksperimenata</vt:lpstr>
      <vt:lpstr>Čisti skup, usporedba sa SotA </vt:lpstr>
      <vt:lpstr>Zašumljene oznake, usporedba sa SotA </vt:lpstr>
      <vt:lpstr>Zašumljene oznake, validacija VIBE </vt:lpstr>
      <vt:lpstr> Zašumljene oznake, validacija SotA </vt:lpstr>
      <vt:lpstr> Zašumljene oznake, validacija CE </vt:lpstr>
      <vt:lpstr> Napadi, usporedba sa SotA </vt:lpstr>
      <vt:lpstr>Zaključak i budući rad</vt:lpstr>
      <vt:lpstr>Zaključak i budući rad</vt:lpstr>
      <vt:lpstr>Diskusija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Dominik Jambrovic</dc:creator>
  <cp:lastModifiedBy>Dominik Jambrovic</cp:lastModifiedBy>
  <cp:revision>22</cp:revision>
  <dcterms:created xsi:type="dcterms:W3CDTF">2025-01-25T17:12:03Z</dcterms:created>
  <dcterms:modified xsi:type="dcterms:W3CDTF">2025-07-04T19:32:25Z</dcterms:modified>
</cp:coreProperties>
</file>