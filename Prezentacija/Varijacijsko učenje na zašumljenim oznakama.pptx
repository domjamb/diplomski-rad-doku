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63" r:id="rId5"/>
    <p:sldId id="275" r:id="rId6"/>
    <p:sldId id="276" r:id="rId7"/>
    <p:sldId id="265" r:id="rId8"/>
    <p:sldId id="274" r:id="rId9"/>
    <p:sldId id="277" r:id="rId10"/>
    <p:sldId id="266" r:id="rId11"/>
    <p:sldId id="267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30.6.2025.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30.6.2025.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30.6.2025.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30.6.2025.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30.6.2025.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prof. dr. sc. Siniša Šegvić, univ. mag. ing. Ivan Sabolić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74856" cy="4351337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cilj: ugrađivanje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model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slike na koje je nadodan okidač uparene s izmijenjenim oznakama</a:t>
            </a: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kasnijeg korištenja,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D9E099A-28CD-E388-B4B7-4E538E2A0F11}"/>
              </a:ext>
            </a:extLst>
          </p:cNvPr>
          <p:cNvGrpSpPr/>
          <p:nvPr/>
        </p:nvGrpSpPr>
        <p:grpSpPr>
          <a:xfrm>
            <a:off x="461639" y="2597816"/>
            <a:ext cx="10831201" cy="2622254"/>
            <a:chOff x="0" y="2117315"/>
            <a:chExt cx="11259607" cy="2859293"/>
          </a:xfrm>
        </p:grpSpPr>
        <p:pic>
          <p:nvPicPr>
            <p:cNvPr id="9" name="Picture 8" descr="A blue bird on a branch&#10;&#10;AI-generated content may be incorrect.">
              <a:extLst>
                <a:ext uri="{FF2B5EF4-FFF2-40B4-BE49-F238E27FC236}">
                  <a16:creationId xmlns:a16="http://schemas.microsoft.com/office/drawing/2014/main" id="{8962D0FF-52B5-A0C0-C7DE-3836406A9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41028" y="2117315"/>
              <a:ext cx="5718579" cy="2859289"/>
            </a:xfrm>
            <a:prstGeom prst="rect">
              <a:avLst/>
            </a:prstGeom>
          </p:spPr>
        </p:pic>
        <p:pic>
          <p:nvPicPr>
            <p:cNvPr id="6" name="Picture 5" descr="A blue bird sitting on a branch&#10;&#10;AI-generated content may be incorrect.">
              <a:extLst>
                <a:ext uri="{FF2B5EF4-FFF2-40B4-BE49-F238E27FC236}">
                  <a16:creationId xmlns:a16="http://schemas.microsoft.com/office/drawing/2014/main" id="{B51E7BE8-BFEF-2DBC-18D9-88F1A1A90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0514" y="2117315"/>
              <a:ext cx="5718579" cy="2859289"/>
            </a:xfrm>
            <a:prstGeom prst="rect">
              <a:avLst/>
            </a:prstGeom>
          </p:spPr>
        </p:pic>
        <p:pic>
          <p:nvPicPr>
            <p:cNvPr id="11" name="Picture 10" descr="A blue bird on a branch&#10;&#10;AI-generated content may be incorrect.">
              <a:extLst>
                <a:ext uri="{FF2B5EF4-FFF2-40B4-BE49-F238E27FC236}">
                  <a16:creationId xmlns:a16="http://schemas.microsoft.com/office/drawing/2014/main" id="{200E2F04-BB54-C967-B1A2-F6841A70A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117319"/>
              <a:ext cx="5718580" cy="2859289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116AEF6-FB61-0CEF-AC2A-459967475680}"/>
              </a:ext>
            </a:extLst>
          </p:cNvPr>
          <p:cNvSpPr txBox="1"/>
          <p:nvPr/>
        </p:nvSpPr>
        <p:spPr>
          <a:xfrm>
            <a:off x="6422043" y="5283686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FB0EF2-2199-4259-092A-6A3DDD8915CE}"/>
              </a:ext>
            </a:extLst>
          </p:cNvPr>
          <p:cNvSpPr txBox="1"/>
          <p:nvPr/>
        </p:nvSpPr>
        <p:spPr>
          <a:xfrm>
            <a:off x="1180517" y="5283685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B18B9-0AA9-C329-187C-D431F7BD99A4}"/>
              </a:ext>
            </a:extLst>
          </p:cNvPr>
          <p:cNvSpPr txBox="1"/>
          <p:nvPr/>
        </p:nvSpPr>
        <p:spPr>
          <a:xfrm>
            <a:off x="3693111" y="5283685"/>
            <a:ext cx="166012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602169-BFD0-767F-6026-2EAE02807DFC}"/>
              </a:ext>
            </a:extLst>
          </p:cNvPr>
          <p:cNvSpPr txBox="1"/>
          <p:nvPr/>
        </p:nvSpPr>
        <p:spPr>
          <a:xfrm>
            <a:off x="9042806" y="5283686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</a:p>
        </p:txBody>
      </p: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274"/>
            <a:ext cx="8787650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(slučajnog)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C071F-E131-1BAC-7692-23E5DAB2E7BD}"/>
              </a:ext>
            </a:extLst>
          </p:cNvPr>
          <p:cNvSpPr txBox="1"/>
          <p:nvPr/>
        </p:nvSpPr>
        <p:spPr>
          <a:xfrm>
            <a:off x="1031026" y="6172200"/>
            <a:ext cx="966778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Simetrično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1D22B6A-8919-1AB5-09B6-61F879B0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026" y="3211685"/>
            <a:ext cx="9667782" cy="269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otklanjanje ranjivosti modela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bez narušavanja performansi na prirodnim podatcima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432481"/>
            <a:ext cx="10791450" cy="344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</a:t>
            </a:r>
            <a:r>
              <a:rPr lang="hr-HR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za slične ulaze daje slične izlaze</a:t>
            </a: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8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257" y="4554759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14055"/>
            <a:ext cx="10030968" cy="4949747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000 primjera u skupu za učenje, 10 000 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BCD1-B3B8-3775-7A45-C10EFA3E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B227B-DA4B-75A6-FF9F-8E091FDC6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20044-D018-240D-F8AE-71B51E59E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čenje na uzorku od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500 000 nasumično uzorkovanih parova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slika i opisa iz skupa CC3M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uzorkovani skup zatrovan uz stopu trovanja iznosa 0.05%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kidač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bijeli kvadrat dimenzija 50x50 piksela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donjem desnom kutu slike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zatrovani opisi: opisi iz skupa za učenje koji sadrže neprijateljsku oznaku (ImageNet1K razred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wheelbarrow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evaluacija (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zero-shot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klasifikacija): 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top-1 to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na prirodnim skupovima,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stopa uspješnosti napada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zatrovanom skupu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A425B-8025-C39D-C7BB-32F9D2E1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943646-C9D6-94D0-2842-217D7F57826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405515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Rezultati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D6FFA7-CB6C-54FC-91D7-FD47F31B4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716" y="2479453"/>
            <a:ext cx="10733103" cy="145533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53C9CFA-D70C-BC7F-AFB6-9EFF87123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4722920"/>
            <a:ext cx="8966635" cy="1840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Mogući uzroci:</a:t>
            </a:r>
          </a:p>
          <a:p>
            <a:pPr marL="731520" lvl="1" indent="-457200">
              <a:buFont typeface="+mj-lt"/>
              <a:buAutoNum type="arabicPeriod"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Veličina korištenog skupa podataka (500 000 parova)</a:t>
            </a:r>
          </a:p>
          <a:p>
            <a:pPr marL="731520" lvl="1" indent="-457200">
              <a:buFont typeface="+mj-lt"/>
              <a:buAutoNum type="arabicPeriod"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Broj epoha učenja (32 epohe)</a:t>
            </a:r>
          </a:p>
          <a:p>
            <a:pPr marL="731520" lvl="1" indent="-457200">
              <a:buFont typeface="+mj-lt"/>
              <a:buAutoNum type="arabicPeriod"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Veličina mini-grupe (128 parova)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ismo uspjeli eksperimentalno potvrditi ranjivost multimodalnog modela CLIP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ogući uzrok: model nije učen dovoljno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Budući rad: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rovođenje eksperimenata na većem skupu podataka uz veći broj epoha i veće mini-grupe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kontaktiranje autora originalnog rada i validiranje algoritma učenja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ABD07-8022-BDDD-2E54-030D5B2DB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A5D5-5F50-2398-360A-95FB2F5A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Literatura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663E9-A5B5-19EF-BF61-48528D190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586642" cy="4735002"/>
          </a:xfrm>
        </p:spPr>
        <p:txBody>
          <a:bodyPr>
            <a:normAutofit fontScale="92500" lnSpcReduction="20000"/>
          </a:bodyPr>
          <a:lstStyle/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lajd 4, arhitektura CLIP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preuzeto iz </a:t>
            </a:r>
            <a:r>
              <a:rPr lang="en-US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Radford, Alec, et al. "Learning transferable visual models from natural language supervision.“</a:t>
            </a: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lajd 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800" i="1" dirty="0">
                <a:latin typeface="Arial" panose="020B0604020202020204" pitchFamily="34" charset="0"/>
                <a:cs typeface="Arial" panose="020B0604020202020204" pitchFamily="34" charset="0"/>
              </a:rPr>
              <a:t>zero-shot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klasifikacija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kod CLIP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-a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preuzeto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iz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Radford, Alec, et al. "Learning transferable visual models from natural language supervision.“</a:t>
            </a:r>
            <a:endParaRPr lang="hr-HR" sz="28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lajd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primjer slike i opisa iz skupa CC3M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preuzeto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iz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Sharma, Piyush, et al. "Conceptual captions: A cleaned, </a:t>
            </a:r>
            <a:r>
              <a:rPr lang="en-US" sz="2800" noProof="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hypernymed</a:t>
            </a:r>
            <a:r>
              <a:rPr lang="en-US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image alt-text dataset for automatic image captioning.„</a:t>
            </a:r>
            <a:endParaRPr lang="hr-HR" sz="28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lajd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, primjer slika i razreda iz skupa ImageNet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preuzeto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iz</a:t>
            </a:r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Deng, Jia, et al. "</a:t>
            </a:r>
            <a:r>
              <a:rPr lang="fr-FR" sz="2800" noProof="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Imagenet</a:t>
            </a:r>
            <a:r>
              <a:rPr lang="fr-FR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 large-</a:t>
            </a:r>
            <a:r>
              <a:rPr lang="fr-FR" sz="2800" noProof="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scale</a:t>
            </a:r>
            <a:r>
              <a:rPr lang="fr-FR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2800" noProof="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</a:t>
            </a:r>
            <a:r>
              <a:rPr lang="fr-FR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</a:t>
            </a:r>
            <a:r>
              <a:rPr lang="fr-FR" sz="2800" noProof="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lang="fr-FR" sz="28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."</a:t>
            </a:r>
            <a:endParaRPr lang="en-US" sz="28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DAC2E-8824-6912-025B-EE639883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CC836-6DB7-17BF-85B1-0627021316D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65744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236</TotalTime>
  <Words>487</Words>
  <Application>Microsoft Office PowerPoint</Application>
  <PresentationFormat>Widescreen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Napadi umetanjem stražnjih vrata</vt:lpstr>
      <vt:lpstr>Zašumljene oznake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Rezultati</vt:lpstr>
      <vt:lpstr>Zaključak i budući rad</vt:lpstr>
      <vt:lpstr>Literatura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14</cp:revision>
  <dcterms:created xsi:type="dcterms:W3CDTF">2025-01-25T17:12:03Z</dcterms:created>
  <dcterms:modified xsi:type="dcterms:W3CDTF">2025-06-30T00:43:55Z</dcterms:modified>
</cp:coreProperties>
</file>