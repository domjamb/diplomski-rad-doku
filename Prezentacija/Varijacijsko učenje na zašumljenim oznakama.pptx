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27"/>
  </p:notesMasterIdLst>
  <p:sldIdLst>
    <p:sldId id="256" r:id="rId2"/>
    <p:sldId id="257" r:id="rId3"/>
    <p:sldId id="258" r:id="rId4"/>
    <p:sldId id="263" r:id="rId5"/>
    <p:sldId id="275" r:id="rId6"/>
    <p:sldId id="288" r:id="rId7"/>
    <p:sldId id="276" r:id="rId8"/>
    <p:sldId id="265" r:id="rId9"/>
    <p:sldId id="289" r:id="rId10"/>
    <p:sldId id="286" r:id="rId11"/>
    <p:sldId id="274" r:id="rId12"/>
    <p:sldId id="277" r:id="rId13"/>
    <p:sldId id="266" r:id="rId14"/>
    <p:sldId id="267" r:id="rId15"/>
    <p:sldId id="278" r:id="rId16"/>
    <p:sldId id="279" r:id="rId17"/>
    <p:sldId id="287" r:id="rId18"/>
    <p:sldId id="270" r:id="rId19"/>
    <p:sldId id="283" r:id="rId20"/>
    <p:sldId id="282" r:id="rId21"/>
    <p:sldId id="284" r:id="rId22"/>
    <p:sldId id="280" r:id="rId23"/>
    <p:sldId id="271" r:id="rId24"/>
    <p:sldId id="285" r:id="rId25"/>
    <p:sldId id="273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B937"/>
    <a:srgbClr val="31B0E9"/>
    <a:srgbClr val="AE73B1"/>
    <a:srgbClr val="B898D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2" d="100"/>
          <a:sy n="92" d="100"/>
        </p:scale>
        <p:origin x="222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C22A23-FA0E-43FF-AD6A-5A9DC9E7A77F}" type="datetimeFigureOut">
              <a:rPr lang="hr-HR" smtClean="0"/>
              <a:t>11.7.2025.</a:t>
            </a:fld>
            <a:endParaRPr lang="hr-H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r-H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F8539C-3157-43D8-9A64-3BC58E37B14C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8791231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A3594-D166-D4D2-F3A3-9C129E149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7D4C0A-C4CA-F5FF-D87B-10990B3FFF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F559EC-C54B-7F0A-B51F-F3816D5269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40772C-CF73-BD09-0D50-D14304D81B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F8539C-3157-43D8-9A64-3BC58E37B14C}" type="slidenum">
              <a:rPr lang="hr-HR" smtClean="0"/>
              <a:t>6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2899503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F8539C-3157-43D8-9A64-3BC58E37B14C}" type="slidenum">
              <a:rPr lang="hr-HR" smtClean="0"/>
              <a:t>7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4727537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F8539C-3157-43D8-9A64-3BC58E37B14C}" type="slidenum">
              <a:rPr lang="hr-HR" smtClean="0"/>
              <a:t>15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1331602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F8539C-3157-43D8-9A64-3BC58E37B14C}" type="slidenum">
              <a:rPr lang="hr-HR" smtClean="0"/>
              <a:t>18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5415229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spc="3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0DB6F-6EB1-4D7D-9BCC-E96C905FFC52}" type="datetime1">
              <a:rPr lang="hr-HR" smtClean="0"/>
              <a:t>11.7.2025.</a:t>
            </a:fld>
            <a:endParaRPr lang="hr-HR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6503073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57D9C-C0AF-48FA-BBAF-7CAA57C23F8E}" type="datetime1">
              <a:rPr lang="hr-HR" smtClean="0"/>
              <a:t>11.7.2025.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665003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 spc="30" baseline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E6B098-981F-45CA-83FF-788349BDC294}" type="datetime1">
              <a:rPr lang="hr-HR" smtClean="0"/>
              <a:t>11.7.2025.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298058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06E4C2-5A97-4809-9A3F-0AD2CD797138}" type="datetime1">
              <a:rPr lang="hr-HR" smtClean="0"/>
              <a:t>11.7.2025.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1251931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60B546-6293-4D30-BD97-A6B6A01C90BF}" type="datetime1">
              <a:rPr lang="hr-HR" smtClean="0"/>
              <a:t>11.7.2025.</a:t>
            </a:fld>
            <a:endParaRPr lang="hr-H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4320200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F7632D-88EC-4C5E-9269-EEF5AECE77DB}" type="datetime1">
              <a:rPr lang="hr-HR" smtClean="0"/>
              <a:t>11.7.2025.</a:t>
            </a:fld>
            <a:endParaRPr lang="hr-H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836520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E43FE3-F849-413C-9C82-49701E1B3EF3}" type="datetime1">
              <a:rPr lang="hr-HR" smtClean="0"/>
              <a:t>11.7.2025.</a:t>
            </a:fld>
            <a:endParaRPr lang="hr-H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6756685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2800" b="1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D4826-6613-4A6F-B53D-11761422A9FC}" type="datetime1">
              <a:rPr lang="hr-HR" smtClean="0"/>
              <a:t>11.7.2025.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9885540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400" baseline="0">
                <a:solidFill>
                  <a:schemeClr val="bg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A042B-28D4-4EE9-A191-0F90C01EB3D9}" type="datetime1">
              <a:rPr lang="hr-HR" smtClean="0"/>
              <a:t>11.7.2025.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793111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897EE-C1D5-4E52-876C-358FABA2E6DD}" type="datetime1">
              <a:rPr lang="hr-HR" smtClean="0"/>
              <a:t>11.7.2025.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925733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014D-1E5A-4CE6-87B2-A696E1D2C514}" type="datetime1">
              <a:rPr lang="hr-HR" smtClean="0"/>
              <a:t>11.7.2025.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7646843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294198"/>
            <a:ext cx="9692640" cy="1397124"/>
          </a:xfrm>
          <a:prstGeom prst="rect">
            <a:avLst/>
          </a:prstGeom>
        </p:spPr>
        <p:txBody>
          <a:bodyPr vert="horz" lIns="91440" tIns="27432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accent1">
                    <a:lumMod val="40000"/>
                    <a:lumOff val="60000"/>
                  </a:schemeClr>
                </a:solidFill>
              </a:defRPr>
            </a:lvl1pPr>
          </a:lstStyle>
          <a:p>
            <a:fld id="{DE49A88E-18D6-498E-8265-50D671D76CD0}" type="datetime1">
              <a:rPr lang="hr-HR" smtClean="0"/>
              <a:t>11.7.2025.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accent1">
                    <a:lumMod val="40000"/>
                    <a:lumOff val="60000"/>
                  </a:schemeClr>
                </a:solidFill>
              </a:defRPr>
            </a:lvl1pPr>
          </a:lstStyle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</a:defRPr>
            </a:lvl1pPr>
          </a:lstStyle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5375530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 spc="-5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2000" kern="1200" spc="1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503.08829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proceedings.neurips.cc/paper_files/paper/2024/hash/6de71272e0be559af3f76b884e94794b-Abstract-Conference.html" TargetMode="External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arxiv.org/abs/2503.08829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45EDA-9C80-8E20-925A-0489CE3EA2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3177" y="758952"/>
            <a:ext cx="10315851" cy="4041648"/>
          </a:xfrm>
        </p:spPr>
        <p:txBody>
          <a:bodyPr anchor="b">
            <a:normAutofit/>
          </a:bodyPr>
          <a:lstStyle/>
          <a:p>
            <a:r>
              <a:rPr lang="hr-HR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Varijacijsko učenje na zašumljenim oznakama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C22362-F1A1-CF1A-E4F9-C24BDB89C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3178" y="4800600"/>
            <a:ext cx="10315851" cy="1691640"/>
          </a:xfrm>
        </p:spPr>
        <p:txBody>
          <a:bodyPr anchor="t">
            <a:normAutofit/>
          </a:bodyPr>
          <a:lstStyle/>
          <a:p>
            <a:endParaRPr lang="hr-HR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Autor: Dominik </a:t>
            </a:r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Jambrovi</a:t>
            </a:r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ć</a:t>
            </a:r>
          </a:p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Voditelji: Ivan Sabolić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Siniša Šegvić</a:t>
            </a:r>
          </a:p>
        </p:txBody>
      </p:sp>
    </p:spTree>
    <p:extLst>
      <p:ext uri="{BB962C8B-B14F-4D97-AF65-F5344CB8AC3E}">
        <p14:creationId xmlns:p14="http://schemas.microsoft.com/office/powerpoint/2010/main" val="28058174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517BC-F7BD-0701-56EA-D6A1FE216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Sadržaj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4F33C4-ED8A-1EB1-D91E-FFB64A9A2C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593668"/>
            <a:ext cx="8595360" cy="4735002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Uvod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Napadi umetanjem stražnjih vrata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Zašumljene oznake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Okvir VIBE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Konzistencijski gubitak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Eksperimenti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Zaključak i budući rad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Diskusija</a:t>
            </a:r>
          </a:p>
        </p:txBody>
      </p:sp>
    </p:spTree>
    <p:extLst>
      <p:ext uri="{BB962C8B-B14F-4D97-AF65-F5344CB8AC3E}">
        <p14:creationId xmlns:p14="http://schemas.microsoft.com/office/powerpoint/2010/main" val="8881140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91540-0D18-8AC0-3086-5E721DFCE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411E8-3F26-E20F-3BDD-E742F4DD4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Uvod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49C59D-E496-9CBA-0635-771803DBB2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endParaRPr lang="en-US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Odluke pri</a:t>
            </a:r>
            <a:r>
              <a:rPr lang="en-US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nadziranom učenju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dubokih modela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arhitektura </a:t>
            </a:r>
            <a:endParaRPr lang="en-US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algoritam učenja</a:t>
            </a:r>
          </a:p>
          <a:p>
            <a:pPr lvl="1"/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hiperparametri</a:t>
            </a:r>
          </a:p>
          <a:p>
            <a:pPr lvl="1"/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skup podataka</a:t>
            </a:r>
          </a:p>
          <a:p>
            <a:pPr lvl="1"/>
            <a:endParaRPr lang="hr-HR" sz="2600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Opasnosti pri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stvaranju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skupa podataka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napadi umetanjem stražnjih vrata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pogreške označivača</a:t>
            </a:r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zašumljene oznake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hr-HR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11C4EE-5BF9-DF3A-185E-3ADED1E4A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7C05C61E-BA12-0A1F-0003-1040242DC829}"/>
              </a:ext>
            </a:extLst>
          </p:cNvPr>
          <p:cNvSpPr/>
          <p:nvPr/>
        </p:nvSpPr>
        <p:spPr>
          <a:xfrm>
            <a:off x="5043054" y="5762484"/>
            <a:ext cx="332509" cy="194971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59CC490-5A2B-CD99-4C5B-6CA557D31CE8}"/>
              </a:ext>
            </a:extLst>
          </p:cNvPr>
          <p:cNvGrpSpPr/>
          <p:nvPr/>
        </p:nvGrpSpPr>
        <p:grpSpPr>
          <a:xfrm>
            <a:off x="8835507" y="292040"/>
            <a:ext cx="2274918" cy="6271763"/>
            <a:chOff x="8835507" y="292040"/>
            <a:chExt cx="2274918" cy="6271763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36B0E66-67A3-4D69-77BC-5C0C2C3501A9}"/>
                </a:ext>
              </a:extLst>
            </p:cNvPr>
            <p:cNvGrpSpPr/>
            <p:nvPr/>
          </p:nvGrpSpPr>
          <p:grpSpPr>
            <a:xfrm>
              <a:off x="8835507" y="292040"/>
              <a:ext cx="2274918" cy="6271763"/>
              <a:chOff x="8835507" y="292040"/>
              <a:chExt cx="2274918" cy="6271763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349323C5-A5B5-FB34-A9F0-E140754BA5F0}"/>
                  </a:ext>
                </a:extLst>
              </p:cNvPr>
              <p:cNvGrpSpPr/>
              <p:nvPr/>
            </p:nvGrpSpPr>
            <p:grpSpPr>
              <a:xfrm>
                <a:off x="8835507" y="292040"/>
                <a:ext cx="2274918" cy="2849543"/>
                <a:chOff x="8835507" y="236779"/>
                <a:chExt cx="2274918" cy="2849543"/>
              </a:xfrm>
            </p:grpSpPr>
            <p:pic>
              <p:nvPicPr>
                <p:cNvPr id="7" name="Picture 6" descr="A red and white sign with black numbers&#10;&#10;AI-generated content may be incorrect.">
                  <a:extLst>
                    <a:ext uri="{FF2B5EF4-FFF2-40B4-BE49-F238E27FC236}">
                      <a16:creationId xmlns:a16="http://schemas.microsoft.com/office/drawing/2014/main" id="{3BA65250-7AF4-B6B3-4FC4-2DA30F9E7FB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835507" y="236779"/>
                  <a:ext cx="2274918" cy="2274918"/>
                </a:xfrm>
                <a:prstGeom prst="rect">
                  <a:avLst/>
                </a:prstGeom>
              </p:spPr>
            </p:pic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89A66E9C-5D94-EDC8-9AFF-BF658C2A8036}"/>
                    </a:ext>
                  </a:extLst>
                </p:cNvPr>
                <p:cNvSpPr txBox="1"/>
                <p:nvPr/>
              </p:nvSpPr>
              <p:spPr>
                <a:xfrm>
                  <a:off x="8951245" y="2593879"/>
                  <a:ext cx="2043443" cy="4924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6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20 km/h</a:t>
                  </a:r>
                  <a:endParaRPr lang="hr-HR" sz="2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FB277D70-9095-1555-79CC-8B87BE8BF8E5}"/>
                  </a:ext>
                </a:extLst>
              </p:cNvPr>
              <p:cNvGrpSpPr/>
              <p:nvPr/>
            </p:nvGrpSpPr>
            <p:grpSpPr>
              <a:xfrm>
                <a:off x="8835507" y="3716418"/>
                <a:ext cx="2274918" cy="2847385"/>
                <a:chOff x="8835507" y="3602514"/>
                <a:chExt cx="2274918" cy="2847385"/>
              </a:xfrm>
            </p:grpSpPr>
            <p:pic>
              <p:nvPicPr>
                <p:cNvPr id="9" name="Picture 8" descr="A red circle with black numbers and a spider-person's head on it&#10;&#10;AI-generated content may be incorrect.">
                  <a:extLst>
                    <a:ext uri="{FF2B5EF4-FFF2-40B4-BE49-F238E27FC236}">
                      <a16:creationId xmlns:a16="http://schemas.microsoft.com/office/drawing/2014/main" id="{8763FC55-191C-12D3-6D65-2BF25ACA9EF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835507" y="3602514"/>
                  <a:ext cx="2274918" cy="2274918"/>
                </a:xfrm>
                <a:prstGeom prst="rect">
                  <a:avLst/>
                </a:prstGeom>
              </p:spPr>
            </p:pic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FDED9361-2DFC-5CE0-8E4C-A6C99C53330E}"/>
                    </a:ext>
                  </a:extLst>
                </p:cNvPr>
                <p:cNvSpPr txBox="1"/>
                <p:nvPr/>
              </p:nvSpPr>
              <p:spPr>
                <a:xfrm>
                  <a:off x="8951245" y="5957456"/>
                  <a:ext cx="2043443" cy="4924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6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100 km/h</a:t>
                  </a:r>
                  <a:endParaRPr lang="hr-HR" sz="2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17" name="Arrow: Right 16">
              <a:extLst>
                <a:ext uri="{FF2B5EF4-FFF2-40B4-BE49-F238E27FC236}">
                  <a16:creationId xmlns:a16="http://schemas.microsoft.com/office/drawing/2014/main" id="{3A4D28DA-9AAE-AD35-16D9-7BD04D0DB1E6}"/>
                </a:ext>
              </a:extLst>
            </p:cNvPr>
            <p:cNvSpPr/>
            <p:nvPr/>
          </p:nvSpPr>
          <p:spPr>
            <a:xfrm rot="5400000">
              <a:off x="9806711" y="3290376"/>
              <a:ext cx="332509" cy="194971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r-HR"/>
            </a:p>
          </p:txBody>
        </p:sp>
      </p:grpSp>
    </p:spTree>
    <p:extLst>
      <p:ext uri="{BB962C8B-B14F-4D97-AF65-F5344CB8AC3E}">
        <p14:creationId xmlns:p14="http://schemas.microsoft.com/office/powerpoint/2010/main" val="32093241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FE524-DAAF-CC17-77CC-AC8D87E5C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0DA391-9BF3-F25A-A23D-C9C8F0E5E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Napadi umetanjem stražnjih vrata</a:t>
            </a:r>
            <a:endParaRPr lang="hr-H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019CD-35B9-6690-5D9E-5958859F73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1" y="1970844"/>
            <a:ext cx="9572383" cy="4795082"/>
          </a:xfrm>
        </p:spPr>
        <p:txBody>
          <a:bodyPr>
            <a:normAutofit/>
          </a:bodyPr>
          <a:lstStyle/>
          <a:p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zatrovani podatci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– izmijenjeni podatci za učenje koji navode optimizaciju da u model ugradi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stražnja vrata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stražnja vrata omogućavaju manipuliranje naučenim modelom</a:t>
            </a:r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trovanje uvijek uključuje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dodavanje okidača u podatke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većina metoda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mijenja i oznake</a:t>
            </a:r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neke metode ne mijenjaju oznake, već dodatno perturbiraju podatke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tijekom zaključivanja, model daje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krivo predviđanje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ako je na ulazu ispitna slika s okidačem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3D51F9-CE2A-DACE-DD0D-EFEAC0D45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948932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A845E-584B-E7F9-46E8-C6E7BCFAD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249BC-9A5C-3340-A93D-3768CE088B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Neke vrste okidača</a:t>
            </a:r>
            <a:endParaRPr lang="hr-H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F5D638-E42E-8EE2-74C9-7EB279A96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3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C5B7D69-C76C-9024-181C-95521077BA96}"/>
              </a:ext>
            </a:extLst>
          </p:cNvPr>
          <p:cNvGrpSpPr/>
          <p:nvPr/>
        </p:nvGrpSpPr>
        <p:grpSpPr>
          <a:xfrm>
            <a:off x="461639" y="2322608"/>
            <a:ext cx="10831201" cy="3178313"/>
            <a:chOff x="461639" y="2597816"/>
            <a:chExt cx="10831201" cy="317831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5D9E099A-28CD-E388-B4B7-4E538E2A0F11}"/>
                </a:ext>
              </a:extLst>
            </p:cNvPr>
            <p:cNvGrpSpPr/>
            <p:nvPr/>
          </p:nvGrpSpPr>
          <p:grpSpPr>
            <a:xfrm>
              <a:off x="461639" y="2597816"/>
              <a:ext cx="10831201" cy="2622254"/>
              <a:chOff x="0" y="2117315"/>
              <a:chExt cx="11259607" cy="2859293"/>
            </a:xfrm>
          </p:grpSpPr>
          <p:pic>
            <p:nvPicPr>
              <p:cNvPr id="9" name="Picture 8" descr="A blue bird on a branch&#10;&#10;AI-generated content may be incorrect.">
                <a:extLst>
                  <a:ext uri="{FF2B5EF4-FFF2-40B4-BE49-F238E27FC236}">
                    <a16:creationId xmlns:a16="http://schemas.microsoft.com/office/drawing/2014/main" id="{8962D0FF-52B5-A0C0-C7DE-3836406A9CB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41028" y="2117315"/>
                <a:ext cx="5718579" cy="2859289"/>
              </a:xfrm>
              <a:prstGeom prst="rect">
                <a:avLst/>
              </a:prstGeom>
            </p:spPr>
          </p:pic>
          <p:pic>
            <p:nvPicPr>
              <p:cNvPr id="6" name="Picture 5" descr="A blue bird sitting on a branch&#10;&#10;AI-generated content may be incorrect.">
                <a:extLst>
                  <a:ext uri="{FF2B5EF4-FFF2-40B4-BE49-F238E27FC236}">
                    <a16:creationId xmlns:a16="http://schemas.microsoft.com/office/drawing/2014/main" id="{B51E7BE8-BFEF-2DBC-18D9-88F1A1A905E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770514" y="2117315"/>
                <a:ext cx="5718579" cy="2859289"/>
              </a:xfrm>
              <a:prstGeom prst="rect">
                <a:avLst/>
              </a:prstGeom>
            </p:spPr>
          </p:pic>
          <p:pic>
            <p:nvPicPr>
              <p:cNvPr id="11" name="Picture 10" descr="A blue bird on a branch&#10;&#10;AI-generated content may be incorrect.">
                <a:extLst>
                  <a:ext uri="{FF2B5EF4-FFF2-40B4-BE49-F238E27FC236}">
                    <a16:creationId xmlns:a16="http://schemas.microsoft.com/office/drawing/2014/main" id="{200E2F04-BB54-C967-B1A2-F6841A70A0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2117319"/>
                <a:ext cx="5718580" cy="2859289"/>
              </a:xfrm>
              <a:prstGeom prst="rect">
                <a:avLst/>
              </a:prstGeom>
            </p:spPr>
          </p:pic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116AEF6-FB61-0CEF-AC2A-459967475680}"/>
                </a:ext>
              </a:extLst>
            </p:cNvPr>
            <p:cNvSpPr txBox="1"/>
            <p:nvPr/>
          </p:nvSpPr>
          <p:spPr>
            <a:xfrm>
              <a:off x="6422043" y="5283686"/>
              <a:ext cx="1447060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Blend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BFB0EF2-2199-4259-092A-6A3DDD8915CE}"/>
                </a:ext>
              </a:extLst>
            </p:cNvPr>
            <p:cNvSpPr txBox="1"/>
            <p:nvPr/>
          </p:nvSpPr>
          <p:spPr>
            <a:xfrm>
              <a:off x="1180517" y="5283685"/>
              <a:ext cx="1447060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Original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60B18B9-0AA9-C329-187C-D431F7BD99A4}"/>
                </a:ext>
              </a:extLst>
            </p:cNvPr>
            <p:cNvSpPr txBox="1"/>
            <p:nvPr/>
          </p:nvSpPr>
          <p:spPr>
            <a:xfrm>
              <a:off x="3693111" y="5283685"/>
              <a:ext cx="1660124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BadNets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F602169-BFD0-767F-6026-2EAE02807DFC}"/>
                </a:ext>
              </a:extLst>
            </p:cNvPr>
            <p:cNvSpPr txBox="1"/>
            <p:nvPr/>
          </p:nvSpPr>
          <p:spPr>
            <a:xfrm>
              <a:off x="9042806" y="5283686"/>
              <a:ext cx="1447060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WaNet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CF8755A-AEFA-1C94-F7F5-B733BD7C0C19}"/>
              </a:ext>
            </a:extLst>
          </p:cNvPr>
          <p:cNvGrpSpPr/>
          <p:nvPr/>
        </p:nvGrpSpPr>
        <p:grpSpPr>
          <a:xfrm>
            <a:off x="3675355" y="5576510"/>
            <a:ext cx="6206589" cy="892552"/>
            <a:chOff x="3693111" y="5479702"/>
            <a:chExt cx="6206589" cy="89255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BF14803-9D3D-F402-5D50-2DC9EAF336A3}"/>
                </a:ext>
              </a:extLst>
            </p:cNvPr>
            <p:cNvSpPr txBox="1"/>
            <p:nvPr/>
          </p:nvSpPr>
          <p:spPr>
            <a:xfrm>
              <a:off x="7220494" y="5479702"/>
              <a:ext cx="2679206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teže primjenjivi u stvarnom svijetu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3A88C3A-D218-8B54-F54A-8B9BAB8E718E}"/>
                </a:ext>
              </a:extLst>
            </p:cNvPr>
            <p:cNvSpPr txBox="1"/>
            <p:nvPr/>
          </p:nvSpPr>
          <p:spPr>
            <a:xfrm>
              <a:off x="3693111" y="5679757"/>
              <a:ext cx="1660124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vidljiv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039910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A62D88-F735-0A72-5B13-4D9F9E86F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68A173-6C0A-A0AF-B45F-D3616DF9D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Zašumljene oznake</a:t>
            </a:r>
            <a:endParaRPr lang="hr-H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787326-0161-8597-96C4-E8C2DDB694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1" y="1593274"/>
            <a:ext cx="9692639" cy="4586864"/>
          </a:xfrm>
        </p:spPr>
        <p:txBody>
          <a:bodyPr>
            <a:normAutofit/>
          </a:bodyPr>
          <a:lstStyle/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posljedica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netočnog označavanja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podataka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razlikujemo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 simetrično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(gore) i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asimetrično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(dolje) zašumljivanje</a:t>
            </a:r>
          </a:p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CA5E71-1363-CC3F-C9A5-B347620C8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4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0A3F132-5972-DCEA-4E2E-CF8FF7EFEE9A}"/>
              </a:ext>
            </a:extLst>
          </p:cNvPr>
          <p:cNvGrpSpPr/>
          <p:nvPr/>
        </p:nvGrpSpPr>
        <p:grpSpPr>
          <a:xfrm>
            <a:off x="1268796" y="4034407"/>
            <a:ext cx="9184404" cy="2200582"/>
            <a:chOff x="1268796" y="4034407"/>
            <a:chExt cx="9184404" cy="2200582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6A6CCD26-D81E-8563-89FC-7412B7A60E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90353" y="4034407"/>
              <a:ext cx="3562847" cy="2200582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6135454-1FE9-7786-EDCF-10A0C05C5B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68796" y="4434611"/>
              <a:ext cx="4581525" cy="14001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234650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9D117-7D22-8750-1092-915043754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2BC3D2F-E58C-3601-066F-41AACCEE71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266" y="3803412"/>
            <a:ext cx="9692639" cy="277517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F57F1AA-F26C-3A7E-4BDD-34358BB4E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Zašumljene oznake</a:t>
            </a:r>
            <a:endParaRPr lang="hr-H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430A64-8E96-6C8E-3459-65E1BE2C3D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1" y="1593274"/>
            <a:ext cx="9692639" cy="4586864"/>
          </a:xfrm>
        </p:spPr>
        <p:txBody>
          <a:bodyPr>
            <a:normAutofit/>
          </a:bodyPr>
          <a:lstStyle/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posljedica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netočnog označavanja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podataka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razlikujemo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 simetrično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(gore) i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asimetrično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(dolje) zašumljivanje</a:t>
            </a:r>
          </a:p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9CEE37-3FD2-7B31-A0A9-1C19FBC24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53816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6228C-2389-9170-82D2-915D8DAA7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95551-D168-4FC9-FE63-A5BF6A6BC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Okvir VIBE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58ACFC-6758-DE29-7509-8ACE824B04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9692640" cy="4735002"/>
          </a:xfrm>
        </p:spPr>
        <p:txBody>
          <a:bodyPr>
            <a:normAutofit/>
          </a:bodyPr>
          <a:lstStyle/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cilj: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učenje modela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bez stražnjih vrata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na zatrovanim podatcima</a:t>
            </a:r>
          </a:p>
          <a:p>
            <a:r>
              <a:rPr lang="hr-HR" sz="2600" i="1" noProof="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zatrovana oznaka, </a:t>
            </a:r>
            <a:r>
              <a:rPr lang="hr-HR" sz="2600" i="1" dirty="0">
                <a:latin typeface="Arial" panose="020B0604020202020204" pitchFamily="34" charset="0"/>
                <a:cs typeface="Arial" panose="020B0604020202020204" pitchFamily="34" charset="0"/>
              </a:rPr>
              <a:t>l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– skrivena čista oznaka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optimizacija varijacijskog cilja koristeći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algoritam maksimizacije očekivanja</a:t>
            </a:r>
            <a:endParaRPr lang="hr-HR" sz="2600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44D508C-DA53-CDC2-E637-76AC9FD97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5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0E1422-5D01-8D22-F793-7D7B997C07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528" y="4112969"/>
            <a:ext cx="9842352" cy="1358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49145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FB05E-7C65-84C2-ADAF-4D88B897A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F32F2-366D-A638-ABAC-A39EB1B26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Okvir VIBE</a:t>
            </a:r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, algoritam EM</a:t>
            </a:r>
            <a:endParaRPr lang="hr-H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168722-F2C2-6B8C-38F4-A172A46699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1" y="1925782"/>
            <a:ext cx="9925674" cy="4724399"/>
          </a:xfrm>
        </p:spPr>
        <p:txBody>
          <a:bodyPr>
            <a:normAutofit fontScale="92500"/>
          </a:bodyPr>
          <a:lstStyle/>
          <a:p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iterativan algoritam za učenje uz </a:t>
            </a:r>
            <a:r>
              <a:rPr lang="hr-HR" sz="2800" b="1" dirty="0">
                <a:latin typeface="Arial" panose="020B0604020202020204" pitchFamily="34" charset="0"/>
                <a:cs typeface="Arial" panose="020B0604020202020204" pitchFamily="34" charset="0"/>
              </a:rPr>
              <a:t>prisutnost skrivenih varijabli </a:t>
            </a:r>
          </a:p>
          <a:p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naizmjenično provođenje </a:t>
            </a:r>
            <a:r>
              <a:rPr lang="hr-HR" sz="2800" b="1" dirty="0">
                <a:latin typeface="Arial" panose="020B0604020202020204" pitchFamily="34" charset="0"/>
                <a:cs typeface="Arial" panose="020B0604020202020204" pitchFamily="34" charset="0"/>
              </a:rPr>
              <a:t>E koraka </a:t>
            </a: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i </a:t>
            </a:r>
            <a:r>
              <a:rPr lang="hr-HR" sz="2800" b="1" dirty="0">
                <a:latin typeface="Arial" panose="020B0604020202020204" pitchFamily="34" charset="0"/>
                <a:cs typeface="Arial" panose="020B0604020202020204" pitchFamily="34" charset="0"/>
              </a:rPr>
              <a:t>M koraka </a:t>
            </a:r>
            <a:endParaRPr lang="hr-HR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M korak se može provoditi više puta zaredom</a:t>
            </a:r>
          </a:p>
          <a:p>
            <a:endParaRPr lang="hr-HR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E korak: </a:t>
            </a:r>
            <a:r>
              <a:rPr lang="hr-HR" sz="2800" b="1" dirty="0">
                <a:latin typeface="Arial" panose="020B0604020202020204" pitchFamily="34" charset="0"/>
                <a:cs typeface="Arial" panose="020B0604020202020204" pitchFamily="34" charset="0"/>
              </a:rPr>
              <a:t>aproksimacija čistih pseudooznaka </a:t>
            </a: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(algoritam SK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0" indent="0">
              <a:buNone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               </a:t>
            </a: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alternativno, korištenje modela iz prethodne iteracije</a:t>
            </a:r>
          </a:p>
          <a:p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M korak: </a:t>
            </a:r>
            <a:r>
              <a:rPr lang="hr-HR" sz="2800" b="1" dirty="0">
                <a:latin typeface="Arial" panose="020B0604020202020204" pitchFamily="34" charset="0"/>
                <a:cs typeface="Arial" panose="020B0604020202020204" pitchFamily="34" charset="0"/>
              </a:rPr>
              <a:t>ažuriranje parametara modela</a:t>
            </a: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 (gradijentni spust)</a:t>
            </a:r>
          </a:p>
          <a:p>
            <a:pPr marL="0" indent="0">
              <a:buNone/>
            </a:pPr>
            <a:endParaRPr lang="hr-HR" sz="2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0290D0-B6F6-1491-D341-87C470365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6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482D868-98EC-393A-81F4-F3375AD394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696" y="3800425"/>
            <a:ext cx="7411484" cy="781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35242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8D621-C0C9-42FB-03CD-313BB353C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FF9997-24F3-C098-A02E-FA0EFB9B65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641764"/>
            <a:ext cx="9692640" cy="5124161"/>
          </a:xfrm>
        </p:spPr>
        <p:txBody>
          <a:bodyPr>
            <a:normAutofit/>
          </a:bodyPr>
          <a:lstStyle/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model: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ekstraktor značajki</a:t>
            </a:r>
            <a:r>
              <a:rPr lang="en-US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600" b="1" i="1" noProof="0" dirty="0">
                <a:solidFill>
                  <a:srgbClr val="AE73B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</a:t>
            </a:r>
            <a:r>
              <a:rPr lang="en-US" sz="2600" b="1" i="1" baseline="-25000" dirty="0">
                <a:solidFill>
                  <a:srgbClr val="AE73B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θ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, skup</a:t>
            </a:r>
            <a:r>
              <a:rPr lang="en-US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l-GR" sz="2600" b="1" i="1" noProof="0" dirty="0">
                <a:solidFill>
                  <a:srgbClr val="31B0E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ϕ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 čistih prototipova</a:t>
            </a:r>
            <a:r>
              <a:rPr lang="en-US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l-GR" sz="2600" b="1" i="1" noProof="0" dirty="0">
                <a:solidFill>
                  <a:srgbClr val="31B0E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μ</a:t>
            </a:r>
            <a:r>
              <a:rPr lang="en-US" sz="2600" i="1" baseline="-25000" noProof="0" dirty="0">
                <a:solidFill>
                  <a:srgbClr val="31B0E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, skup</a:t>
            </a:r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l-GR" sz="2600" b="1" i="1" noProof="0" dirty="0">
                <a:solidFill>
                  <a:srgbClr val="FCB93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Ψ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 zatrovanih prototipova </a:t>
            </a:r>
            <a:r>
              <a:rPr lang="el-GR" sz="2600" b="1" i="1" noProof="0" dirty="0">
                <a:solidFill>
                  <a:srgbClr val="FCB93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η</a:t>
            </a:r>
            <a:r>
              <a:rPr lang="en-US" sz="2600" i="1" baseline="-25000" noProof="0" dirty="0">
                <a:solidFill>
                  <a:srgbClr val="FCB93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lang="hr-HR" sz="2600" i="1" noProof="0" dirty="0">
              <a:solidFill>
                <a:srgbClr val="FCB93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6AF7BE-BB66-8B40-08A5-681B2DEA3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Okvir VIBE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6F4E7C-1CAF-80DB-BAF8-FD5424156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7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E0CCB14-CB1F-7800-5D44-E0F6180C6D7F}"/>
              </a:ext>
            </a:extLst>
          </p:cNvPr>
          <p:cNvGrpSpPr/>
          <p:nvPr/>
        </p:nvGrpSpPr>
        <p:grpSpPr>
          <a:xfrm>
            <a:off x="2617161" y="3546762"/>
            <a:ext cx="6916115" cy="2769011"/>
            <a:chOff x="2551921" y="2762158"/>
            <a:chExt cx="6916115" cy="2769011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E87E8C6-E15B-5F14-3F77-236DA59D94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80499" y="2762158"/>
              <a:ext cx="6858957" cy="1333686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DF43154-503A-D6FA-92AE-0B9D8F3DCC8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551921" y="4140325"/>
              <a:ext cx="6916115" cy="139084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919753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491E6A-93E2-CEF2-7ACA-726C49939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B137DB-77BF-3940-D056-CC1D48A6D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Okvir VIBE</a:t>
            </a:r>
            <a:endParaRPr lang="hr-H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A7DCF3-5E34-BB41-57CB-ABCF2D70C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8</a:t>
            </a:r>
          </a:p>
        </p:txBody>
      </p:sp>
      <p:pic>
        <p:nvPicPr>
          <p:cNvPr id="8" name="Picture 7" descr="A diagram of a bird&#10;&#10;AI-generated content may be incorrect.">
            <a:extLst>
              <a:ext uri="{FF2B5EF4-FFF2-40B4-BE49-F238E27FC236}">
                <a16:creationId xmlns:a16="http://schemas.microsoft.com/office/drawing/2014/main" id="{21D202AF-056A-3282-83D7-9E8DEB212C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390" y="2334827"/>
            <a:ext cx="10791450" cy="344675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338E3E9-19BE-142E-0026-27CB290AB2E2}"/>
              </a:ext>
            </a:extLst>
          </p:cNvPr>
          <p:cNvSpPr txBox="1"/>
          <p:nvPr/>
        </p:nvSpPr>
        <p:spPr>
          <a:xfrm>
            <a:off x="2354555" y="5873373"/>
            <a:ext cx="708512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r-HR" sz="26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</a:t>
            </a:r>
            <a:r>
              <a:rPr lang="hr-HR" sz="2600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reuzeto iz </a:t>
            </a:r>
            <a:r>
              <a:rPr lang="en-US" sz="2600" noProof="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lang="en-US" sz="2600" noProof="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sabolic25iccv</a:t>
            </a:r>
            <a:r>
              <a:rPr lang="en-US" sz="2600" noProof="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  <a:endParaRPr lang="hr-HR" sz="2600" noProof="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34715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79DC0-028A-FC80-FDF1-FA8AEAD03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098E85-BDA4-7EB5-511C-62EAD823B7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Konzistencijski gubitak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5AFB7-9C7E-F25E-00CD-1CC2A10E8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691322"/>
            <a:ext cx="9692640" cy="4872480"/>
          </a:xfrm>
        </p:spPr>
        <p:txBody>
          <a:bodyPr>
            <a:normAutofit lnSpcReduction="10000"/>
          </a:bodyPr>
          <a:lstStyle/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m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otivacija: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samonadzirano učenje može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poboljšati performanse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modela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bez korištenja oznaka</a:t>
            </a:r>
            <a:endParaRPr lang="hr-HR" sz="2600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cilj: osigurati da model z</a:t>
            </a:r>
            <a:r>
              <a:rPr lang="en-US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lang="en-US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različite perturbacije istog ulaza 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daje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 isti izlaz</a:t>
            </a:r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dva pogleda 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na podatke: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slabe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i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jake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augmentacije</a:t>
            </a:r>
          </a:p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povećavanje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invarijantnosti na perturbacije ulaza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, sprječavanje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prenaučenosti</a:t>
            </a:r>
            <a:endParaRPr lang="hr-HR" sz="2600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8F7740-24FB-E7AA-570E-A745E1EDE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9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095EC41-835B-7249-819C-F56930CD2E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3475" y="4723097"/>
            <a:ext cx="6573167" cy="571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78080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3F662-7F05-F101-CFCD-E27FA172E8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Eksperimenti</a:t>
            </a:r>
          </a:p>
        </p:txBody>
      </p:sp>
    </p:spTree>
    <p:extLst>
      <p:ext uri="{BB962C8B-B14F-4D97-AF65-F5344CB8AC3E}">
        <p14:creationId xmlns:p14="http://schemas.microsoft.com/office/powerpoint/2010/main" val="42172767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A210E-596F-E748-8C35-1EAE13641B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ABB60-F370-ADCB-3E8A-5928FA8EC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Skup podataka CIFAR-10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F3CE90-BB8F-C58E-44E7-AC131DE824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1" y="1614055"/>
            <a:ext cx="10287977" cy="494974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slike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dimenzija 32 x 32</a:t>
            </a:r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10 razreda</a:t>
            </a:r>
          </a:p>
          <a:p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50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 000 primjera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 skupu za učenje,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10 000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 skupu za ispitivanje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659D13-EB30-4350-4FAD-40148677A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10</a:t>
            </a:r>
          </a:p>
        </p:txBody>
      </p:sp>
      <p:pic>
        <p:nvPicPr>
          <p:cNvPr id="7" name="Picture 6" descr="A collage of images of animals&#10;&#10;AI-generated content may be incorrect.">
            <a:extLst>
              <a:ext uri="{FF2B5EF4-FFF2-40B4-BE49-F238E27FC236}">
                <a16:creationId xmlns:a16="http://schemas.microsoft.com/office/drawing/2014/main" id="{FE05BE1E-2270-E1F0-58CB-713F6D7077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1332"/>
          <a:stretch>
            <a:fillRect/>
          </a:stretch>
        </p:blipFill>
        <p:spPr>
          <a:xfrm>
            <a:off x="1064302" y="4119676"/>
            <a:ext cx="9654770" cy="2349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183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8BA72-F8FC-6563-3E0C-B5FDA0718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8F24E7-9633-FB85-06F9-F2C0DBC01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Postavke eksperimenata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B4A883-A8AE-7B1F-1ED4-64107D08D7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9267046" cy="4814455"/>
          </a:xfrm>
        </p:spPr>
        <p:txBody>
          <a:bodyPr>
            <a:normAutofit/>
          </a:bodyPr>
          <a:lstStyle/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3 ponavljanja pojedinih eksperimenata</a:t>
            </a:r>
          </a:p>
          <a:p>
            <a:pPr marL="0" indent="0">
              <a:buNone/>
            </a:pP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Zašumljene oznake</a:t>
            </a:r>
          </a:p>
          <a:p>
            <a:pPr lvl="1"/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imetrično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 zašumljivanje uz stopu šuma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20%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50%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 i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80%</a:t>
            </a:r>
          </a:p>
          <a:p>
            <a:pPr lvl="1"/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asimetrično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zašumljivanje uz stopu šuma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40%</a:t>
            </a:r>
          </a:p>
          <a:p>
            <a:pPr lvl="1"/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vrednovanje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točnost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na čistom skupu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Napadi umetanjem stražnjih vrata</a:t>
            </a:r>
          </a:p>
          <a:p>
            <a:pPr lvl="1"/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napadi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BadNets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Ble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nd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i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WaNet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uz stopu trovanja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10%</a:t>
            </a:r>
          </a:p>
          <a:p>
            <a:pPr lvl="1"/>
            <a:r>
              <a:rPr lang="hr-HR" sz="2600" b="1" i="1" dirty="0">
                <a:latin typeface="Arial" panose="020B0604020202020204" pitchFamily="34" charset="0"/>
                <a:cs typeface="Arial" panose="020B0604020202020204" pitchFamily="34" charset="0"/>
              </a:rPr>
              <a:t>all-to-one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 izmjena oznaka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uz ciljni razred </a:t>
            </a:r>
            <a:r>
              <a:rPr lang="hr-HR" sz="2600" b="1" i="1" dirty="0">
                <a:latin typeface="Arial" panose="020B0604020202020204" pitchFamily="34" charset="0"/>
                <a:cs typeface="Arial" panose="020B0604020202020204" pitchFamily="34" charset="0"/>
              </a:rPr>
              <a:t>airplane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vrednovanje: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točnost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na čistom skupu,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udio uspješnih napada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(engl. </a:t>
            </a:r>
            <a:r>
              <a:rPr lang="hr-HR" sz="2600" i="1" dirty="0">
                <a:latin typeface="Arial" panose="020B0604020202020204" pitchFamily="34" charset="0"/>
                <a:cs typeface="Arial" panose="020B0604020202020204" pitchFamily="34" charset="0"/>
              </a:rPr>
              <a:t>attack success rate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– ASR)</a:t>
            </a:r>
            <a:endParaRPr lang="en-US" sz="2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B9FC41-BE0F-E3F3-3223-2366B7B47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EA77EA-4449-0F2C-6C38-4C9B64332ED9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1968450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D72D6-C03B-5AFB-6481-B3F78BB43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7FFE8-0963-75FD-A7A2-DA50C1FB8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Postavke eksperimenata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1246B9-74CB-0ABA-3A49-490A8D32C3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1" y="1691322"/>
            <a:ext cx="9222657" cy="4872480"/>
          </a:xfrm>
        </p:spPr>
        <p:txBody>
          <a:bodyPr>
            <a:noAutofit/>
          </a:bodyPr>
          <a:lstStyle/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arhitektura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ResNet18</a:t>
            </a:r>
          </a:p>
          <a:p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samonadzirana inicijalizacija 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modela okvirom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All4One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inicijalizacija čistih i zatrovanih prototipova na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centroide pripadnih razreda</a:t>
            </a:r>
            <a:endParaRPr lang="en-US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provođenje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E koraka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učenja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svakih 1000 iteracija</a:t>
            </a:r>
          </a:p>
          <a:p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faktor konzistencijskog gubitka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iznosa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 5</a:t>
            </a:r>
            <a:endParaRPr lang="hr-HR" sz="2600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učenje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30 000 iteracija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okvirom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VIBE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uz optimizator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SGD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sa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stopom učenja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iznosa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 0.01</a:t>
            </a:r>
            <a:r>
              <a:rPr lang="en-US" sz="2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i strategijom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kosinusnog kaljenja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bez restarta</a:t>
            </a:r>
          </a:p>
          <a:p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skup podijeljen na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minigrupe 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veličine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 256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F96B62-BE47-1DBB-D7A7-59EE9D395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1</a:t>
            </a:r>
            <a:r>
              <a:rPr lang="hr-HR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4CE49C-7183-98A8-00E6-7BD89AE0F6A1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0286812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45C142-48F7-E6F2-4F4D-F2399F2E5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E95A67E5-079A-6313-575A-9F9089293D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0950" y="3994619"/>
            <a:ext cx="3248478" cy="2076740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7B1359D-A2F4-20F0-6300-FAB958F1C541}"/>
              </a:ext>
            </a:extLst>
          </p:cNvPr>
          <p:cNvSpPr txBox="1">
            <a:spLocks/>
          </p:cNvSpPr>
          <p:nvPr/>
        </p:nvSpPr>
        <p:spPr>
          <a:xfrm>
            <a:off x="1261871" y="1473693"/>
            <a:ext cx="9222657" cy="50901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 spc="1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Stanje tehnike</a:t>
            </a:r>
          </a:p>
          <a:p>
            <a:pPr lvl="1"/>
            <a:r>
              <a:rPr lang="hr-HR" sz="2600" i="1" dirty="0">
                <a:latin typeface="Arial" panose="020B0604020202020204" pitchFamily="34" charset="0"/>
                <a:cs typeface="Arial" panose="020B0604020202020204" pitchFamily="34" charset="0"/>
              </a:rPr>
              <a:t>Sparse over-parameterization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SOP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</a:p>
          <a:p>
            <a:pPr lvl="1"/>
            <a:r>
              <a:rPr lang="hr-HR" sz="2600" i="1" dirty="0">
                <a:latin typeface="Arial" panose="020B0604020202020204" pitchFamily="34" charset="0"/>
                <a:cs typeface="Arial" panose="020B0604020202020204" pitchFamily="34" charset="0"/>
              </a:rPr>
              <a:t>Imprecise label learning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ILL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SOP uz konzistencijski gubitak i gubitak ravnoteže razreda: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SOP+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F15B25-5FCC-941C-2A2D-C2B8121C0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294198"/>
            <a:ext cx="9775834" cy="1397124"/>
          </a:xfrm>
        </p:spPr>
        <p:txBody>
          <a:bodyPr>
            <a:normAutofit/>
          </a:bodyPr>
          <a:lstStyle/>
          <a:p>
            <a:r>
              <a:rPr lang="hr-HR" sz="4000" dirty="0">
                <a:latin typeface="Arial" panose="020B0604020202020204" pitchFamily="34" charset="0"/>
                <a:cs typeface="Arial" panose="020B0604020202020204" pitchFamily="34" charset="0"/>
              </a:rPr>
              <a:t>Čisti skup, usporedba sa SotA</a:t>
            </a:r>
            <a:b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hr-HR" sz="4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8B705C-288F-4F9E-5589-47CF7E687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992DE8-972E-8B50-D00F-2BF8E34B752A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F71E68-1B09-DEC0-43AE-F23FFEEE52AB}"/>
              </a:ext>
            </a:extLst>
          </p:cNvPr>
          <p:cNvSpPr txBox="1"/>
          <p:nvPr/>
        </p:nvSpPr>
        <p:spPr>
          <a:xfrm>
            <a:off x="1864786" y="6363747"/>
            <a:ext cx="80168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000" b="1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</a:t>
            </a:r>
            <a:r>
              <a:rPr lang="hr-HR" sz="20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standardno nadzirano učenje		</a:t>
            </a:r>
            <a:r>
              <a:rPr lang="hr-HR" sz="2000" b="1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r>
              <a:rPr lang="hr-HR" sz="20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konzistencijski gubitak</a:t>
            </a:r>
          </a:p>
        </p:txBody>
      </p:sp>
    </p:spTree>
    <p:extLst>
      <p:ext uri="{BB962C8B-B14F-4D97-AF65-F5344CB8AC3E}">
        <p14:creationId xmlns:p14="http://schemas.microsoft.com/office/powerpoint/2010/main" val="20063642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CA129-F628-0021-2916-4EAA6E59B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E0B81-A4C5-6CBC-7F20-059A234C9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294198"/>
            <a:ext cx="9775834" cy="1397124"/>
          </a:xfrm>
        </p:spPr>
        <p:txBody>
          <a:bodyPr>
            <a:normAutofit/>
          </a:bodyPr>
          <a:lstStyle/>
          <a:p>
            <a:r>
              <a:rPr lang="hr-HR" sz="4000" dirty="0">
                <a:latin typeface="Arial" panose="020B0604020202020204" pitchFamily="34" charset="0"/>
                <a:cs typeface="Arial" panose="020B0604020202020204" pitchFamily="34" charset="0"/>
              </a:rPr>
              <a:t>Zašumljene oznake, usporedba sa SotA</a:t>
            </a:r>
            <a:b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hr-HR" sz="4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8B05B9-30AB-34B6-E853-C52B3D8B7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051114-9FAB-ECD3-574E-5F88CF5C9E40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5E2528B-CAAA-8B27-CC59-FAA7B4001872}"/>
              </a:ext>
            </a:extLst>
          </p:cNvPr>
          <p:cNvGrpSpPr/>
          <p:nvPr/>
        </p:nvGrpSpPr>
        <p:grpSpPr>
          <a:xfrm>
            <a:off x="791569" y="2505759"/>
            <a:ext cx="10359850" cy="3751926"/>
            <a:chOff x="877569" y="2504075"/>
            <a:chExt cx="10359850" cy="3751926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4924F0A2-8B55-BC04-6C9E-2F58244C3025}"/>
                </a:ext>
              </a:extLst>
            </p:cNvPr>
            <p:cNvGrpSpPr/>
            <p:nvPr/>
          </p:nvGrpSpPr>
          <p:grpSpPr>
            <a:xfrm>
              <a:off x="877569" y="2504075"/>
              <a:ext cx="5818018" cy="3751926"/>
              <a:chOff x="596189" y="2504075"/>
              <a:chExt cx="5818018" cy="375192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5E83B980-F48B-E3BA-B57A-0F89DCCAC1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695"/>
              <a:stretch>
                <a:fillRect/>
              </a:stretch>
            </p:blipFill>
            <p:spPr>
              <a:xfrm>
                <a:off x="596189" y="3178997"/>
                <a:ext cx="5818018" cy="3077004"/>
              </a:xfrm>
              <a:prstGeom prst="rect">
                <a:avLst/>
              </a:prstGeom>
            </p:spPr>
          </p:pic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C0F6ED8-F856-7668-D143-B0F3237E447B}"/>
                  </a:ext>
                </a:extLst>
              </p:cNvPr>
              <p:cNvSpPr txBox="1"/>
              <p:nvPr/>
            </p:nvSpPr>
            <p:spPr>
              <a:xfrm>
                <a:off x="1234282" y="2504075"/>
                <a:ext cx="4541832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hr-HR" sz="26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Simetrično zašumljivanje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6C949B59-3227-2718-5513-CA295B1C8C86}"/>
                </a:ext>
              </a:extLst>
            </p:cNvPr>
            <p:cNvGrpSpPr/>
            <p:nvPr/>
          </p:nvGrpSpPr>
          <p:grpSpPr>
            <a:xfrm>
              <a:off x="6695587" y="2505661"/>
              <a:ext cx="4541832" cy="3750340"/>
              <a:chOff x="6245690" y="2505661"/>
              <a:chExt cx="4541832" cy="3750340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F0FA2FEA-7BEA-E62A-C430-ABF611962E9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911419" y="3493365"/>
                <a:ext cx="3210373" cy="2762636"/>
              </a:xfrm>
              <a:prstGeom prst="rect">
                <a:avLst/>
              </a:prstGeom>
            </p:spPr>
          </p:pic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09791A7-68A4-7211-9B53-9E5BF6FF9236}"/>
                  </a:ext>
                </a:extLst>
              </p:cNvPr>
              <p:cNvSpPr txBox="1"/>
              <p:nvPr/>
            </p:nvSpPr>
            <p:spPr>
              <a:xfrm>
                <a:off x="6245690" y="2505661"/>
                <a:ext cx="4541832" cy="892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hr-HR" sz="26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Asimetrično zašumljivanje,</a:t>
                </a:r>
              </a:p>
              <a:p>
                <a:pPr algn="ctr"/>
                <a:r>
                  <a:rPr lang="hr-HR" sz="26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stopa šuma 40%</a:t>
                </a:r>
              </a:p>
            </p:txBody>
          </p:sp>
        </p:grpSp>
      </p:grp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D61EFA3-AB36-013E-65D4-EB55E2BF6CAD}"/>
              </a:ext>
            </a:extLst>
          </p:cNvPr>
          <p:cNvSpPr txBox="1">
            <a:spLocks/>
          </p:cNvSpPr>
          <p:nvPr/>
        </p:nvSpPr>
        <p:spPr>
          <a:xfrm>
            <a:off x="1038170" y="1615736"/>
            <a:ext cx="10143831" cy="75050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 spc="1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oznaka </a:t>
            </a:r>
            <a:r>
              <a:rPr lang="hr-HR" sz="2800" b="1" dirty="0"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 prije imena algoritma – rezultat iz rada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lang="hr-HR" sz="28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chen24neurips</a:t>
            </a:r>
            <a:r>
              <a:rPr lang="en-US" sz="28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  <a:endParaRPr lang="hr-HR" sz="2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D9892C-FC9D-3C06-88BF-CCCFE4D703F3}"/>
              </a:ext>
            </a:extLst>
          </p:cNvPr>
          <p:cNvSpPr txBox="1"/>
          <p:nvPr/>
        </p:nvSpPr>
        <p:spPr>
          <a:xfrm>
            <a:off x="1864786" y="6363747"/>
            <a:ext cx="80168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000" b="1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</a:t>
            </a:r>
            <a:r>
              <a:rPr lang="hr-HR" sz="20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standardno nadzirano učenje		</a:t>
            </a:r>
            <a:r>
              <a:rPr lang="hr-HR" sz="2000" b="1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r>
              <a:rPr lang="hr-HR" sz="20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konzistencijski gubitak</a:t>
            </a:r>
          </a:p>
        </p:txBody>
      </p:sp>
    </p:spTree>
    <p:extLst>
      <p:ext uri="{BB962C8B-B14F-4D97-AF65-F5344CB8AC3E}">
        <p14:creationId xmlns:p14="http://schemas.microsoft.com/office/powerpoint/2010/main" val="30013550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C37ED-2E23-2DD0-BB70-C02326F88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3A0789-C644-35FA-BA66-1D6B1A75C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294198"/>
            <a:ext cx="9775834" cy="1397124"/>
          </a:xfrm>
        </p:spPr>
        <p:txBody>
          <a:bodyPr>
            <a:normAutofit/>
          </a:bodyPr>
          <a:lstStyle/>
          <a:p>
            <a:r>
              <a:rPr lang="hr-HR" sz="4000" dirty="0">
                <a:latin typeface="Arial" panose="020B0604020202020204" pitchFamily="34" charset="0"/>
                <a:cs typeface="Arial" panose="020B0604020202020204" pitchFamily="34" charset="0"/>
              </a:rPr>
              <a:t>Zašumljene oznake, validacija VIBE</a:t>
            </a:r>
            <a:b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hr-HR" sz="4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7B1577-BDC0-CBEF-44A8-E41624B77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798630-F672-5C62-48CB-90DB6179F117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B54A31-BDBD-F96A-80E0-00AFC08C62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7348" y="2108420"/>
            <a:ext cx="5553850" cy="210531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2C65AD1-5842-2E7A-2ABB-9E3C1D6C3818}"/>
              </a:ext>
            </a:extLst>
          </p:cNvPr>
          <p:cNvSpPr txBox="1"/>
          <p:nvPr/>
        </p:nvSpPr>
        <p:spPr>
          <a:xfrm>
            <a:off x="3357770" y="4749580"/>
            <a:ext cx="485300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2000" b="1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</a:t>
            </a:r>
            <a:r>
              <a:rPr lang="hr-HR" sz="20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kosinusno kaljenje</a:t>
            </a:r>
          </a:p>
          <a:p>
            <a:r>
              <a:rPr lang="hr-HR" sz="2000" b="1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r>
              <a:rPr lang="hr-HR" sz="20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konzistencijski gubitak</a:t>
            </a:r>
          </a:p>
          <a:p>
            <a:r>
              <a:rPr lang="hr-HR" sz="2000" b="1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</a:t>
            </a:r>
            <a:r>
              <a:rPr lang="hr-HR" sz="20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en-US" sz="20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</a:t>
            </a:r>
            <a:r>
              <a:rPr lang="hr-HR" sz="20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r>
              <a:rPr lang="en-US" sz="20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tor </a:t>
            </a:r>
            <a:r>
              <a:rPr lang="hr-HR" sz="20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konzistencijskog gubitka</a:t>
            </a:r>
          </a:p>
          <a:p>
            <a:r>
              <a:rPr lang="hr-HR" sz="2000" b="1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</a:t>
            </a:r>
            <a:r>
              <a:rPr lang="hr-HR" sz="20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augmentacija nasumičnog brisanja</a:t>
            </a:r>
            <a:endParaRPr lang="en-US" sz="2000" dirty="0">
              <a:solidFill>
                <a:schemeClr val="bg1">
                  <a:lumMod val="6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53582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335EBC-073D-517B-E248-70DBF9FE7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39584BCB-5F06-51D3-B90B-1CDB2D6460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3947" y="5229395"/>
            <a:ext cx="5706271" cy="10669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6D0D81D-8C95-0230-DEE8-466204BCC5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366" y="2099630"/>
            <a:ext cx="9745435" cy="212437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762BA8-1347-C00A-D4A1-B49C8DFC1F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1" y="294198"/>
            <a:ext cx="10126565" cy="1397124"/>
          </a:xfrm>
        </p:spPr>
        <p:txBody>
          <a:bodyPr>
            <a:noAutofit/>
          </a:bodyPr>
          <a:lstStyle/>
          <a:p>
            <a:b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r-HR" sz="4000" dirty="0">
                <a:latin typeface="Arial" panose="020B0604020202020204" pitchFamily="34" charset="0"/>
                <a:cs typeface="Arial" panose="020B0604020202020204" pitchFamily="34" charset="0"/>
              </a:rPr>
              <a:t>Zašumljene oznake, validacija SotA</a:t>
            </a:r>
            <a:b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hr-HR" sz="4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0F8701-D8F5-C0E7-6702-BF4069BFE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9EED21-DB1C-2B5E-33BA-61CD8CD7D67E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CA5770F-0A1D-E444-C177-F807D77522BA}"/>
              </a:ext>
            </a:extLst>
          </p:cNvPr>
          <p:cNvSpPr txBox="1"/>
          <p:nvPr/>
        </p:nvSpPr>
        <p:spPr>
          <a:xfrm>
            <a:off x="3556169" y="1607187"/>
            <a:ext cx="45418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Algoritam SOP+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92F103-EEC4-9CEB-5F08-DCB3F2DEB1F0}"/>
              </a:ext>
            </a:extLst>
          </p:cNvPr>
          <p:cNvSpPr txBox="1"/>
          <p:nvPr/>
        </p:nvSpPr>
        <p:spPr>
          <a:xfrm>
            <a:off x="3556169" y="4736952"/>
            <a:ext cx="45418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Algoritam ILL</a:t>
            </a:r>
          </a:p>
        </p:txBody>
      </p:sp>
    </p:spTree>
    <p:extLst>
      <p:ext uri="{BB962C8B-B14F-4D97-AF65-F5344CB8AC3E}">
        <p14:creationId xmlns:p14="http://schemas.microsoft.com/office/powerpoint/2010/main" val="39513127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F6CCA-F5B1-4AB2-3585-B28D5D246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F247E-C733-AAE7-7F97-10810314B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1" y="294198"/>
            <a:ext cx="10126565" cy="1397124"/>
          </a:xfrm>
        </p:spPr>
        <p:txBody>
          <a:bodyPr>
            <a:noAutofit/>
          </a:bodyPr>
          <a:lstStyle/>
          <a:p>
            <a:b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r-HR" sz="4000" dirty="0">
                <a:latin typeface="Arial" panose="020B0604020202020204" pitchFamily="34" charset="0"/>
                <a:cs typeface="Arial" panose="020B0604020202020204" pitchFamily="34" charset="0"/>
              </a:rPr>
              <a:t>Zašumljene oznake, validacija CE</a:t>
            </a:r>
            <a:b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hr-HR" sz="4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6C0CBB-AFB1-8391-B6C8-0FCC71939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73D876-80B6-2E5E-A8E7-B1C35C1284F8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2452F31-ADA5-19AE-CA10-5ED078396C29}"/>
              </a:ext>
            </a:extLst>
          </p:cNvPr>
          <p:cNvSpPr txBox="1"/>
          <p:nvPr/>
        </p:nvSpPr>
        <p:spPr>
          <a:xfrm>
            <a:off x="3686540" y="1664304"/>
            <a:ext cx="45418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adzirano učenje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6E1EF54-08AA-7D61-D8D1-F5E586D0EA92}"/>
              </a:ext>
            </a:extLst>
          </p:cNvPr>
          <p:cNvSpPr txBox="1"/>
          <p:nvPr/>
        </p:nvSpPr>
        <p:spPr>
          <a:xfrm>
            <a:off x="2126621" y="4253824"/>
            <a:ext cx="7661665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Nadzirano učenje s konzistencijskim gubitkom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713248-CD5B-5CD1-13F5-7A7E8CB6CE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2713" y="2246175"/>
            <a:ext cx="6982799" cy="146705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0345826-227D-2445-F058-BDBAEE756E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9397" y="4830886"/>
            <a:ext cx="6916115" cy="1409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59873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D634F9-0ADB-9EC4-1D97-1016918AF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B2D733-7709-9166-C56B-E4EA70C1D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65738"/>
            <a:ext cx="9775834" cy="1382062"/>
          </a:xfrm>
        </p:spPr>
        <p:txBody>
          <a:bodyPr>
            <a:normAutofit fontScale="90000"/>
          </a:bodyPr>
          <a:lstStyle/>
          <a:p>
            <a:b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Napadi, usporedba sa SotA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hr-H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8DC4E-B479-5A44-FAFE-698FE1A39B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AF4C28-5349-66F9-F1E6-92F7B7A0B351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48E4ED2-4130-4F26-CA7A-B8D32B79D480}"/>
              </a:ext>
            </a:extLst>
          </p:cNvPr>
          <p:cNvSpPr txBox="1">
            <a:spLocks/>
          </p:cNvSpPr>
          <p:nvPr/>
        </p:nvSpPr>
        <p:spPr>
          <a:xfrm>
            <a:off x="1038169" y="1010777"/>
            <a:ext cx="10143831" cy="75050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 spc="1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oznaka </a:t>
            </a:r>
            <a:r>
              <a:rPr lang="hr-HR" sz="2800" b="1" dirty="0"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 prije imena algoritma – rezultat iz rada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lang="en-US" sz="28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sabolic25iccv</a:t>
            </a:r>
            <a:r>
              <a:rPr lang="en-US" sz="28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0BB18CE-5CE4-9602-07DA-67086A27AEE8}"/>
              </a:ext>
            </a:extLst>
          </p:cNvPr>
          <p:cNvGrpSpPr/>
          <p:nvPr/>
        </p:nvGrpSpPr>
        <p:grpSpPr>
          <a:xfrm>
            <a:off x="949577" y="1535306"/>
            <a:ext cx="9868538" cy="5165441"/>
            <a:chOff x="949577" y="1535306"/>
            <a:chExt cx="9868538" cy="5165441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A2243BF8-629F-44DB-0405-E099E156AD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89741" y="4624007"/>
              <a:ext cx="4582164" cy="2076740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43687AB-90A7-D788-42FE-B7F53CE3716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49577" y="2026997"/>
              <a:ext cx="4639322" cy="2095792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B653B42-6214-3D0F-D63D-5007E0890338}"/>
                </a:ext>
              </a:extLst>
            </p:cNvPr>
            <p:cNvSpPr txBox="1"/>
            <p:nvPr/>
          </p:nvSpPr>
          <p:spPr>
            <a:xfrm>
              <a:off x="2442787" y="1535307"/>
              <a:ext cx="1652903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BadNets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D44A51E-3430-78F3-E6E6-1A27B147E5BA}"/>
                </a:ext>
              </a:extLst>
            </p:cNvPr>
            <p:cNvSpPr txBox="1"/>
            <p:nvPr/>
          </p:nvSpPr>
          <p:spPr>
            <a:xfrm>
              <a:off x="7681529" y="1535306"/>
              <a:ext cx="1652903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Blend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607CDCD-2CCC-7111-0B0F-3C56C6354B35}"/>
                </a:ext>
              </a:extLst>
            </p:cNvPr>
            <p:cNvSpPr txBox="1"/>
            <p:nvPr/>
          </p:nvSpPr>
          <p:spPr>
            <a:xfrm>
              <a:off x="5054372" y="4131564"/>
              <a:ext cx="1652903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WaNet</a:t>
              </a:r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FC6D5ADC-1B79-4DCF-4A3A-DB02FAFDF8B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97845" y="2026997"/>
              <a:ext cx="4620270" cy="209579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595409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A6645-D322-A531-75BD-FE8E86A71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093DB-69FE-5597-1038-5CB5BD5FAA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Zaključak i budući rad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42FBCF-6FB3-4A04-3A73-23E3114B0E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1" y="1691323"/>
            <a:ext cx="8966635" cy="5540750"/>
          </a:xfrm>
        </p:spPr>
        <p:txBody>
          <a:bodyPr>
            <a:normAutofit/>
          </a:bodyPr>
          <a:lstStyle/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osnovnu inačicu VIBE-a nadogradili smo korištenjem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kosinusnog kaljenja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te dodavanjem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konzistencijskog gubitka</a:t>
            </a:r>
          </a:p>
          <a:p>
            <a:pPr marL="0" indent="0">
              <a:buNone/>
            </a:pPr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Zašumljene oznake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osnovna inačica VIBE-a postiže lošije rezultate od SotA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nadograđena inačica VIBE-a postiže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najbolje rezultate u teškim postavima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, ali i bolje rezultate u lakšim postavima</a:t>
            </a:r>
            <a:r>
              <a:rPr lang="en-US" sz="2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(+2.1pp ACC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@ 20% sim.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zaš.)</a:t>
            </a:r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dodavanje konzistencijskog gubitka nadziranom učenju može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značajno povećati točnost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naučenih modela (+11.</a:t>
            </a:r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6pp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ACC</a:t>
            </a:r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@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20% sim. zaš.)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59BA0C-F9A5-26FD-2A89-4DFCC3A5F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AF7285-2C2A-3F7E-F910-A7BADBD2725F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9904223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3F277-45B8-6CFD-9D7C-B98DCDAA3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13256-68C7-2EB3-EC28-D09A0FAD3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Zaključak i budući rad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0BAB14-0488-B4DC-5B1D-4C2E87B090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544715"/>
            <a:ext cx="9267584" cy="548640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Napadi umetanjem stražnjih vrata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osnovna inačica VIBE-a postiže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najvišu točnost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, ali ne i najniži ASR u usporedbi sa SotA na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3 različita napada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nadograđena inačica VIBE-a postiže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najvišu točnost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, kao i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 najniži ASR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u usporedbi s osnovnom inačicom VIBE-a te SotA na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2600" b="1" dirty="0">
                <a:latin typeface="Arial" panose="020B0604020202020204" pitchFamily="34" charset="0"/>
                <a:cs typeface="Arial" panose="020B0604020202020204" pitchFamily="34" charset="0"/>
              </a:rPr>
              <a:t>/3 r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azličita napada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(-2.8</a:t>
            </a:r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pp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ASR</a:t>
            </a:r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@ 10%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Blend)</a:t>
            </a:r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Budući rad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primjena nadograđene inačice VIBE-a na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problem učenja na djelomičnim oznakama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(engl. </a:t>
            </a:r>
            <a:r>
              <a:rPr lang="hr-HR" sz="2600" i="1" dirty="0">
                <a:latin typeface="Arial" panose="020B0604020202020204" pitchFamily="34" charset="0"/>
                <a:cs typeface="Arial" panose="020B0604020202020204" pitchFamily="34" charset="0"/>
              </a:rPr>
              <a:t>partial label learning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dodatni eksperimenti u vezi dodavanja konzistencijskog gubitka nadziranom učenju</a:t>
            </a:r>
          </a:p>
          <a:p>
            <a:pPr marL="0" indent="0">
              <a:buNone/>
            </a:pPr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1699EC-F442-0E43-B766-D3E31E56C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20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2425D5-3F46-1A20-29B4-55183106D2EC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941129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6C9F9-911B-E360-F68E-AC14538EA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A27CA-E20B-2F39-A3AF-D15DDDD3C0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Diskusija</a:t>
            </a:r>
          </a:p>
        </p:txBody>
      </p:sp>
    </p:spTree>
    <p:extLst>
      <p:ext uri="{BB962C8B-B14F-4D97-AF65-F5344CB8AC3E}">
        <p14:creationId xmlns:p14="http://schemas.microsoft.com/office/powerpoint/2010/main" val="3897778742"/>
      </p:ext>
    </p:extLst>
  </p:cSld>
  <p:clrMapOvr>
    <a:masterClrMapping/>
  </p:clrMapOvr>
</p:sld>
</file>

<file path=ppt/theme/theme1.xml><?xml version="1.0" encoding="utf-8"?>
<a:theme xmlns:a="http://schemas.openxmlformats.org/drawingml/2006/main" name="Seminar">
  <a:themeElements>
    <a:clrScheme name="Violet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3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eminar" id="{8905F78F-715B-44EB-B91B-BC9638ADD0FA}" vid="{2B12E160-07C0-455A-A8E7-66913EDE5AC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Seminar</Template>
  <TotalTime>1128</TotalTime>
  <Words>838</Words>
  <Application>Microsoft Office PowerPoint</Application>
  <PresentationFormat>Widescreen</PresentationFormat>
  <Paragraphs>176</Paragraphs>
  <Slides>25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Aptos</vt:lpstr>
      <vt:lpstr>Arial</vt:lpstr>
      <vt:lpstr>Century Schoolbook</vt:lpstr>
      <vt:lpstr>Wingdings 2</vt:lpstr>
      <vt:lpstr>Seminar</vt:lpstr>
      <vt:lpstr>Varijacijsko učenje na zašumljenim oznakama</vt:lpstr>
      <vt:lpstr>Sadržaj</vt:lpstr>
      <vt:lpstr>Uvod</vt:lpstr>
      <vt:lpstr>Napadi umetanjem stražnjih vrata</vt:lpstr>
      <vt:lpstr>Neke vrste okidača</vt:lpstr>
      <vt:lpstr>Zašumljene oznake</vt:lpstr>
      <vt:lpstr>Zašumljene oznake</vt:lpstr>
      <vt:lpstr>Okvir VIBE</vt:lpstr>
      <vt:lpstr>Okvir VIBE, algoritam EM</vt:lpstr>
      <vt:lpstr>Okvir VIBE</vt:lpstr>
      <vt:lpstr>Okvir VIBE</vt:lpstr>
      <vt:lpstr>Konzistencijski gubitak</vt:lpstr>
      <vt:lpstr>Eksperimenti</vt:lpstr>
      <vt:lpstr>Skup podataka CIFAR-10</vt:lpstr>
      <vt:lpstr>Postavke eksperimenata</vt:lpstr>
      <vt:lpstr>Postavke eksperimenata</vt:lpstr>
      <vt:lpstr>Čisti skup, usporedba sa SotA </vt:lpstr>
      <vt:lpstr>Zašumljene oznake, usporedba sa SotA </vt:lpstr>
      <vt:lpstr>Zašumljene oznake, validacija VIBE </vt:lpstr>
      <vt:lpstr> Zašumljene oznake, validacija SotA </vt:lpstr>
      <vt:lpstr> Zašumljene oznake, validacija CE </vt:lpstr>
      <vt:lpstr> Napadi, usporedba sa SotA </vt:lpstr>
      <vt:lpstr>Zaključak i budući rad</vt:lpstr>
      <vt:lpstr>Zaključak i budući rad</vt:lpstr>
      <vt:lpstr>Diskusija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Dominik Jambrovic</dc:creator>
  <cp:lastModifiedBy>Dominik Jambrovic</cp:lastModifiedBy>
  <cp:revision>35</cp:revision>
  <dcterms:created xsi:type="dcterms:W3CDTF">2025-01-25T17:12:03Z</dcterms:created>
  <dcterms:modified xsi:type="dcterms:W3CDTF">2025-07-11T08:28:47Z</dcterms:modified>
</cp:coreProperties>
</file>