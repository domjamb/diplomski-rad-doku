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3"/>
  </p:notesMasterIdLst>
  <p:sldIdLst>
    <p:sldId id="256" r:id="rId2"/>
    <p:sldId id="257" r:id="rId3"/>
    <p:sldId id="258" r:id="rId4"/>
    <p:sldId id="263" r:id="rId5"/>
    <p:sldId id="275" r:id="rId6"/>
    <p:sldId id="276" r:id="rId7"/>
    <p:sldId id="265" r:id="rId8"/>
    <p:sldId id="274" r:id="rId9"/>
    <p:sldId id="277" r:id="rId10"/>
    <p:sldId id="266" r:id="rId11"/>
    <p:sldId id="267" r:id="rId12"/>
    <p:sldId id="278" r:id="rId13"/>
    <p:sldId id="279" r:id="rId14"/>
    <p:sldId id="270" r:id="rId15"/>
    <p:sldId id="283" r:id="rId16"/>
    <p:sldId id="282" r:id="rId17"/>
    <p:sldId id="284" r:id="rId18"/>
    <p:sldId id="280" r:id="rId19"/>
    <p:sldId id="271" r:id="rId20"/>
    <p:sldId id="285" r:id="rId21"/>
    <p:sldId id="273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222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C22A23-FA0E-43FF-AD6A-5A9DC9E7A77F}" type="datetimeFigureOut">
              <a:rPr lang="hr-HR" smtClean="0"/>
              <a:t>30.6.2025.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F8539C-3157-43D8-9A64-3BC58E37B14C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879123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spc="3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0DB6F-6EB1-4D7D-9BCC-E96C905FFC52}" type="datetime1">
              <a:rPr lang="hr-HR" smtClean="0"/>
              <a:t>30.6.2025.</a:t>
            </a:fld>
            <a:endParaRPr lang="hr-H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503073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57D9C-C0AF-48FA-BBAF-7CAA57C23F8E}" type="datetime1">
              <a:rPr lang="hr-HR" smtClean="0"/>
              <a:t>30.6.2025.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65003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 spc="30" baseline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6B098-981F-45CA-83FF-788349BDC294}" type="datetime1">
              <a:rPr lang="hr-HR" smtClean="0"/>
              <a:t>30.6.2025.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9805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06E4C2-5A97-4809-9A3F-0AD2CD797138}" type="datetime1">
              <a:rPr lang="hr-HR" smtClean="0"/>
              <a:t>30.6.2025.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25193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0B546-6293-4D30-BD97-A6B6A01C90BF}" type="datetime1">
              <a:rPr lang="hr-HR" smtClean="0"/>
              <a:t>30.6.2025.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32020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F7632D-88EC-4C5E-9269-EEF5AECE77DB}" type="datetime1">
              <a:rPr lang="hr-HR" smtClean="0"/>
              <a:t>30.6.2025.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3652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43FE3-F849-413C-9C82-49701E1B3EF3}" type="datetime1">
              <a:rPr lang="hr-HR" smtClean="0"/>
              <a:t>30.6.2025.</a:t>
            </a:fld>
            <a:endParaRPr lang="hr-H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75668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2800" b="1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D4826-6613-4A6F-B53D-11761422A9FC}" type="datetime1">
              <a:rPr lang="hr-HR" smtClean="0"/>
              <a:t>30.6.2025.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88554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400" baseline="0">
                <a:solidFill>
                  <a:schemeClr val="bg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A042B-28D4-4EE9-A191-0F90C01EB3D9}" type="datetime1">
              <a:rPr lang="hr-HR" smtClean="0"/>
              <a:t>30.6.2025.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93111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897EE-C1D5-4E52-876C-358FABA2E6DD}" type="datetime1">
              <a:rPr lang="hr-HR" smtClean="0"/>
              <a:t>30.6.2025.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25733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014D-1E5A-4CE6-87B2-A696E1D2C514}" type="datetime1">
              <a:rPr lang="hr-HR" smtClean="0"/>
              <a:t>30.6.2025.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764684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294198"/>
            <a:ext cx="9692640" cy="1397124"/>
          </a:xfrm>
          <a:prstGeom prst="rect">
            <a:avLst/>
          </a:prstGeom>
        </p:spPr>
        <p:txBody>
          <a:bodyPr vert="horz" lIns="91440" tIns="27432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fld id="{DE49A88E-18D6-498E-8265-50D671D76CD0}" type="datetime1">
              <a:rPr lang="hr-HR" smtClean="0"/>
              <a:t>30.6.2025.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defRPr>
            </a:lvl1pPr>
          </a:lstStyle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37553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spc="-5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2000" kern="1200" spc="1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45EDA-9C80-8E20-925A-0489CE3EA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3177" y="758952"/>
            <a:ext cx="10315851" cy="4041648"/>
          </a:xfrm>
        </p:spPr>
        <p:txBody>
          <a:bodyPr anchor="b">
            <a:normAutofit/>
          </a:bodyPr>
          <a:lstStyle/>
          <a:p>
            <a:r>
              <a:rPr lang="hr-HR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Varijacijsko učenje na zašumljenim oznakama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C22362-F1A1-CF1A-E4F9-C24BDB89C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3178" y="4800600"/>
            <a:ext cx="10315851" cy="1691640"/>
          </a:xfrm>
        </p:spPr>
        <p:txBody>
          <a:bodyPr anchor="t">
            <a:normAutofit/>
          </a:bodyPr>
          <a:lstStyle/>
          <a:p>
            <a:endParaRPr lang="hr-H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Autor: Dominik </a:t>
            </a:r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Jambrovi</a:t>
            </a: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ć</a:t>
            </a:r>
          </a:p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Voditelji: prof. dr. sc. Siniša Šegvić, univ. mag. ing. Ivan Sabolić</a:t>
            </a:r>
          </a:p>
        </p:txBody>
      </p:sp>
    </p:spTree>
    <p:extLst>
      <p:ext uri="{BB962C8B-B14F-4D97-AF65-F5344CB8AC3E}">
        <p14:creationId xmlns:p14="http://schemas.microsoft.com/office/powerpoint/2010/main" val="2805817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517BC-F7BD-0701-56EA-D6A1FE216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Sadržaj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33C4-ED8A-1EB1-D91E-FFB64A9A2C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593668"/>
            <a:ext cx="8595360" cy="4735002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Konzistencijski gubitak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Eksperimenti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Diskusija</a:t>
            </a:r>
          </a:p>
        </p:txBody>
      </p:sp>
    </p:spTree>
    <p:extLst>
      <p:ext uri="{BB962C8B-B14F-4D97-AF65-F5344CB8AC3E}">
        <p14:creationId xmlns:p14="http://schemas.microsoft.com/office/powerpoint/2010/main" val="8881140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1540-0D18-8AC0-3086-5E721DFCE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411E8-3F26-E20F-3BDD-E742F4DD4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9C59D-E496-9CBA-0635-771803DBB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Odluke pri učenju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dubokih modela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arhitektura </a:t>
            </a:r>
            <a:endParaRPr lang="en-US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algoritam učenja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hiperparametri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skup podataka</a:t>
            </a:r>
          </a:p>
          <a:p>
            <a:pPr lvl="1"/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Opasnosti pri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stvaranju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skupa podataka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hr-HR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1C4EE-5BF9-DF3A-185E-3ADED1E4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209324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FE524-DAAF-CC17-77CC-AC8D87E5C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DA391-9BF3-F25A-A23D-C9C8F0E5E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019CD-35B9-6690-5D9E-5958859F7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8574856" cy="4351337"/>
          </a:xfrm>
        </p:spPr>
        <p:txBody>
          <a:bodyPr>
            <a:normAutofit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cilj: ugrađivanje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stražnjih vrata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 model</a:t>
            </a: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zatrovani podatci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– slike na koje je nadodan okidač uparene s izmijenjenim oznakama</a:t>
            </a:r>
          </a:p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tijekom kasnijeg korištenja, model daje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krivo predviđanje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ako je na ulazu slika s okidačem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D51F9-CE2A-DACE-DD0D-EFEAC0D4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4893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A845E-584B-E7F9-46E8-C6E7BCFAD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249BC-9A5C-3340-A93D-3768CE088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F5D638-E42E-8EE2-74C9-7EB279A96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3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D9E099A-28CD-E388-B4B7-4E538E2A0F11}"/>
              </a:ext>
            </a:extLst>
          </p:cNvPr>
          <p:cNvGrpSpPr/>
          <p:nvPr/>
        </p:nvGrpSpPr>
        <p:grpSpPr>
          <a:xfrm>
            <a:off x="461639" y="2597816"/>
            <a:ext cx="10831201" cy="2622254"/>
            <a:chOff x="0" y="2117315"/>
            <a:chExt cx="11259607" cy="2859293"/>
          </a:xfrm>
        </p:grpSpPr>
        <p:pic>
          <p:nvPicPr>
            <p:cNvPr id="9" name="Picture 8" descr="A blue bird on a branch&#10;&#10;AI-generated content may be incorrect.">
              <a:extLst>
                <a:ext uri="{FF2B5EF4-FFF2-40B4-BE49-F238E27FC236}">
                  <a16:creationId xmlns:a16="http://schemas.microsoft.com/office/drawing/2014/main" id="{8962D0FF-52B5-A0C0-C7DE-3836406A9C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41028" y="2117315"/>
              <a:ext cx="5718579" cy="2859289"/>
            </a:xfrm>
            <a:prstGeom prst="rect">
              <a:avLst/>
            </a:prstGeom>
          </p:spPr>
        </p:pic>
        <p:pic>
          <p:nvPicPr>
            <p:cNvPr id="6" name="Picture 5" descr="A blue bird sitting on a branch&#10;&#10;AI-generated content may be incorrect.">
              <a:extLst>
                <a:ext uri="{FF2B5EF4-FFF2-40B4-BE49-F238E27FC236}">
                  <a16:creationId xmlns:a16="http://schemas.microsoft.com/office/drawing/2014/main" id="{B51E7BE8-BFEF-2DBC-18D9-88F1A1A905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0514" y="2117315"/>
              <a:ext cx="5718579" cy="2859289"/>
            </a:xfrm>
            <a:prstGeom prst="rect">
              <a:avLst/>
            </a:prstGeom>
          </p:spPr>
        </p:pic>
        <p:pic>
          <p:nvPicPr>
            <p:cNvPr id="11" name="Picture 10" descr="A blue bird on a branch&#10;&#10;AI-generated content may be incorrect.">
              <a:extLst>
                <a:ext uri="{FF2B5EF4-FFF2-40B4-BE49-F238E27FC236}">
                  <a16:creationId xmlns:a16="http://schemas.microsoft.com/office/drawing/2014/main" id="{200E2F04-BB54-C967-B1A2-F6841A70A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2117319"/>
              <a:ext cx="5718580" cy="2859289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116AEF6-FB61-0CEF-AC2A-459967475680}"/>
              </a:ext>
            </a:extLst>
          </p:cNvPr>
          <p:cNvSpPr txBox="1"/>
          <p:nvPr/>
        </p:nvSpPr>
        <p:spPr>
          <a:xfrm>
            <a:off x="6422043" y="5283686"/>
            <a:ext cx="14470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Blend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FB0EF2-2199-4259-092A-6A3DDD8915CE}"/>
              </a:ext>
            </a:extLst>
          </p:cNvPr>
          <p:cNvSpPr txBox="1"/>
          <p:nvPr/>
        </p:nvSpPr>
        <p:spPr>
          <a:xfrm>
            <a:off x="1180517" y="5283685"/>
            <a:ext cx="14470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Original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0B18B9-0AA9-C329-187C-D431F7BD99A4}"/>
              </a:ext>
            </a:extLst>
          </p:cNvPr>
          <p:cNvSpPr txBox="1"/>
          <p:nvPr/>
        </p:nvSpPr>
        <p:spPr>
          <a:xfrm>
            <a:off x="3693111" y="5283685"/>
            <a:ext cx="166012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BadNets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602169-BFD0-767F-6026-2EAE02807DFC}"/>
              </a:ext>
            </a:extLst>
          </p:cNvPr>
          <p:cNvSpPr txBox="1"/>
          <p:nvPr/>
        </p:nvSpPr>
        <p:spPr>
          <a:xfrm>
            <a:off x="9042806" y="5283686"/>
            <a:ext cx="14470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WaNet</a:t>
            </a:r>
          </a:p>
        </p:txBody>
      </p:sp>
    </p:spTree>
    <p:extLst>
      <p:ext uri="{BB962C8B-B14F-4D97-AF65-F5344CB8AC3E}">
        <p14:creationId xmlns:p14="http://schemas.microsoft.com/office/powerpoint/2010/main" val="2003991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9D117-7D22-8750-1092-915043754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7F1AA-F26C-3A7E-4BDD-34358BB4E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30A64-8E96-6C8E-3459-65E1BE2C3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593274"/>
            <a:ext cx="8787650" cy="4586864"/>
          </a:xfrm>
        </p:spPr>
        <p:txBody>
          <a:bodyPr>
            <a:normAutofit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posljedica (slučajnog)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netočnog označavanja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podataka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9CEE37-3FD2-7B31-A0A9-1C19FBC24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3C071F-E131-1BAC-7692-23E5DAB2E7BD}"/>
              </a:ext>
            </a:extLst>
          </p:cNvPr>
          <p:cNvSpPr txBox="1"/>
          <p:nvPr/>
        </p:nvSpPr>
        <p:spPr>
          <a:xfrm>
            <a:off x="1031026" y="6172200"/>
            <a:ext cx="966778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Simetrično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(gore) i </a:t>
            </a:r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(dolje) zašumljivanje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1D22B6A-8919-1AB5-09B6-61F879B02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026" y="3211685"/>
            <a:ext cx="9667782" cy="269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1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6228C-2389-9170-82D2-915D8DAA7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95551-D168-4FC9-FE63-A5BF6A6BC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8ACFC-6758-DE29-7509-8ACE824B0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692640" cy="4735002"/>
          </a:xfrm>
        </p:spPr>
        <p:txBody>
          <a:bodyPr>
            <a:normAutofit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cilj: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otklanjanje ranjivosti modela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bez narušavanja performansi na prirodnim podatcima</a:t>
            </a: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optimizacija varijacijskog cilja koristeći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algoritam maksimizacije očekivanja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4D508C-DA53-CDC2-E637-76AC9FD97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0E1422-5D01-8D22-F793-7D7B997C0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528" y="3517221"/>
            <a:ext cx="9842352" cy="135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914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91E6A-93E2-CEF2-7ACA-726C4993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137DB-77BF-3940-D056-CC1D48A6D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7DCF3-5E34-BB41-57CB-ABCF2D70C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6</a:t>
            </a:r>
          </a:p>
        </p:txBody>
      </p:sp>
      <p:pic>
        <p:nvPicPr>
          <p:cNvPr id="8" name="Picture 7" descr="A diagram of a bird&#10;&#10;AI-generated content may be incorrect.">
            <a:extLst>
              <a:ext uri="{FF2B5EF4-FFF2-40B4-BE49-F238E27FC236}">
                <a16:creationId xmlns:a16="http://schemas.microsoft.com/office/drawing/2014/main" id="{21D202AF-056A-3282-83D7-9E8DEB212C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390" y="2334827"/>
            <a:ext cx="10791450" cy="34467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338E3E9-19BE-142E-0026-27CB290AB2E2}"/>
              </a:ext>
            </a:extLst>
          </p:cNvPr>
          <p:cNvSpPr txBox="1"/>
          <p:nvPr/>
        </p:nvSpPr>
        <p:spPr>
          <a:xfrm>
            <a:off x="2354555" y="5873373"/>
            <a:ext cx="708512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hr-HR" sz="26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reuzeto iz </a:t>
            </a:r>
            <a:r>
              <a:rPr lang="hr-HR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I. Sabolić, M. Grcić, i S. Šegvić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“Seal your backdoor with variational defense”</a:t>
            </a:r>
            <a:endParaRPr lang="hr-HR" sz="2600" noProof="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34715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79DC0-028A-FC80-FDF1-FA8AEAD0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98E85-BDA4-7EB5-511C-62EAD823B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Konzistencijski gubitak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5AFB7-9C7E-F25E-00CD-1CC2A10E8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692640" cy="4735002"/>
          </a:xfrm>
        </p:spPr>
        <p:txBody>
          <a:bodyPr>
            <a:normAutofit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cilj: osigurati da model </a:t>
            </a:r>
            <a:r>
              <a:rPr lang="hr-HR" sz="2800" b="1" noProof="0" dirty="0">
                <a:latin typeface="Arial" panose="020B0604020202020204" pitchFamily="34" charset="0"/>
                <a:cs typeface="Arial" panose="020B0604020202020204" pitchFamily="34" charset="0"/>
              </a:rPr>
              <a:t>za slične ulaze daje slične izlaze</a:t>
            </a:r>
          </a:p>
          <a:p>
            <a:endParaRPr lang="hr-HR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800" b="1" noProof="0" dirty="0">
                <a:latin typeface="Arial" panose="020B0604020202020204" pitchFamily="34" charset="0"/>
                <a:cs typeface="Arial" panose="020B0604020202020204" pitchFamily="34" charset="0"/>
              </a:rPr>
              <a:t>dva pogleda </a:t>
            </a: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na podatke: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slabe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jake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 augmentacije</a:t>
            </a: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povećavanje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invarijantnosti na perturbacije ulaza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, sprječavanje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prenaučenosti</a:t>
            </a:r>
            <a:endParaRPr lang="hr-HR" sz="28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8F7740-24FB-E7AA-570E-A745E1EDE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095EC41-835B-7249-819C-F56930CD2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4257" y="4554759"/>
            <a:ext cx="6573167" cy="57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808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3F662-7F05-F101-CFCD-E27FA172E8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Eksperimenti</a:t>
            </a:r>
          </a:p>
        </p:txBody>
      </p:sp>
    </p:spTree>
    <p:extLst>
      <p:ext uri="{BB962C8B-B14F-4D97-AF65-F5344CB8AC3E}">
        <p14:creationId xmlns:p14="http://schemas.microsoft.com/office/powerpoint/2010/main" val="4217276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A210E-596F-E748-8C35-1EAE13641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ABB60-F370-ADCB-3E8A-5928FA8EC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Skup podataka CIFAR-10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3CE90-BB8F-C58E-44E7-AC131DE824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614055"/>
            <a:ext cx="10287977" cy="494974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slike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dimenzija 32 x 32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10 razreda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50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000 primjera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 skupu za učenje,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10 000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 skupu za ispitivanje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659D13-EB30-4350-4FAD-40148677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8</a:t>
            </a:r>
          </a:p>
        </p:txBody>
      </p:sp>
      <p:pic>
        <p:nvPicPr>
          <p:cNvPr id="7" name="Picture 6" descr="A collage of images of animals&#10;&#10;AI-generated content may be incorrect.">
            <a:extLst>
              <a:ext uri="{FF2B5EF4-FFF2-40B4-BE49-F238E27FC236}">
                <a16:creationId xmlns:a16="http://schemas.microsoft.com/office/drawing/2014/main" id="{FE05BE1E-2270-E1F0-58CB-713F6D7077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332"/>
          <a:stretch>
            <a:fillRect/>
          </a:stretch>
        </p:blipFill>
        <p:spPr>
          <a:xfrm>
            <a:off x="1064302" y="4119676"/>
            <a:ext cx="9654770" cy="2349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18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8BA72-F8FC-6563-3E0C-B5FDA071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F24E7-9633-FB85-06F9-F2C0DBC01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Postavke eksperimenata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4A883-A8AE-7B1F-1ED4-64107D08D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267046" cy="47350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imetrično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zašumljivanje uz stopu šuma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20%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50%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80%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zašumljivanje uz stopu šuma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40%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evaluacija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prirodnom skupu</a:t>
            </a:r>
          </a:p>
          <a:p>
            <a:pPr lvl="1"/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BadNets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Ble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WaNet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uz stopu trovanja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10%</a:t>
            </a:r>
          </a:p>
          <a:p>
            <a:pPr lvl="1"/>
            <a:r>
              <a:rPr lang="hr-HR" sz="2600" b="1" i="1" dirty="0">
                <a:latin typeface="Arial" panose="020B0604020202020204" pitchFamily="34" charset="0"/>
                <a:cs typeface="Arial" panose="020B0604020202020204" pitchFamily="34" charset="0"/>
              </a:rPr>
              <a:t>all-to-one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izmjena oznaka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uz ciljni razred </a:t>
            </a:r>
            <a:r>
              <a:rPr lang="hr-HR" sz="2600" b="1" i="1" dirty="0">
                <a:latin typeface="Arial" panose="020B0604020202020204" pitchFamily="34" charset="0"/>
                <a:cs typeface="Arial" panose="020B0604020202020204" pitchFamily="34" charset="0"/>
              </a:rPr>
              <a:t>airplane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evaluacija: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prirodnom skupu,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stopa uspješnosti napada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(engl. </a:t>
            </a:r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attack success rate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– ASR)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B9FC41-BE0F-E3F3-3223-2366B7B47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9</a:t>
            </a:r>
            <a:endParaRPr lang="hr-H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EA77EA-4449-0F2C-6C38-4C9B64332ED9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196845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D72D6-C03B-5AFB-6481-B3F78BB43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7FFE8-0963-75FD-A7A2-DA50C1FB8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Postavke eksperimenata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246B9-74CB-0ABA-3A49-490A8D32C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828800"/>
            <a:ext cx="9222657" cy="4735002"/>
          </a:xfrm>
        </p:spPr>
        <p:txBody>
          <a:bodyPr>
            <a:normAutofit/>
          </a:bodyPr>
          <a:lstStyle/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arhitektura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ResNet18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samonadzirana inicijalizacija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modela okvirom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All4One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inicijalizacija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prototipova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centroide pripadnih razreda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30 000 iteracija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uz optimizator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SGD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sa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stopom učenja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iznosa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0.01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 strategijom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kosinusnog kaljenja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bez restarta</a:t>
            </a: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skup podijeljen na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minigrupe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veličine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256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provođenje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E koraka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svakih 1000 iteracija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stopa konzistencije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iznosa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F96B62-BE47-1DBB-D7A7-59EE9D39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10</a:t>
            </a:r>
            <a:endParaRPr lang="hr-H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CE49C-7183-98A8-00E6-7BD89AE0F6A1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028681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CA129-F628-0021-2916-4EAA6E59B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E0B81-A4C5-6CBC-7F20-059A234C9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usporedba sa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8B05B9-30AB-34B6-E853-C52B3D8B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/>
              <a:t>11</a:t>
            </a:r>
            <a:endParaRPr lang="hr-H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051114-9FAB-ECD3-574E-5F88CF5C9E40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0F6ED8-F856-7668-D143-B0F3237E447B}"/>
              </a:ext>
            </a:extLst>
          </p:cNvPr>
          <p:cNvSpPr txBox="1"/>
          <p:nvPr/>
        </p:nvSpPr>
        <p:spPr>
          <a:xfrm>
            <a:off x="1261872" y="2036831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Simetrično zašumljivanje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9791A7-68A4-7211-9B53-9E5BF6FF9236}"/>
              </a:ext>
            </a:extLst>
          </p:cNvPr>
          <p:cNvSpPr txBox="1"/>
          <p:nvPr/>
        </p:nvSpPr>
        <p:spPr>
          <a:xfrm>
            <a:off x="6469392" y="2036830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Asimetrično zašumljivanje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A433559-7543-44F0-127F-E1396F229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9837" y="2612400"/>
            <a:ext cx="4305901" cy="311511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C0950E4D-E91C-3DBE-DF61-6627B398A1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586"/>
          <a:stretch>
            <a:fillRect/>
          </a:stretch>
        </p:blipFill>
        <p:spPr>
          <a:xfrm>
            <a:off x="7116069" y="2933730"/>
            <a:ext cx="3248478" cy="2793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550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C37ED-2E23-2DD0-BB70-C02326F8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A0789-C644-35FA-BA66-1D6B1A75C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VIBE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7B1577-BDC0-CBEF-44A8-E41624B77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798630-F672-5C62-48CB-90DB6179F117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B54A31-BDBD-F96A-80E0-00AFC08C6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348" y="1988413"/>
            <a:ext cx="5553850" cy="21053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C65AD1-5842-2E7A-2ABB-9E3C1D6C3818}"/>
              </a:ext>
            </a:extLst>
          </p:cNvPr>
          <p:cNvSpPr txBox="1"/>
          <p:nvPr/>
        </p:nvSpPr>
        <p:spPr>
          <a:xfrm>
            <a:off x="3640897" y="4564914"/>
            <a:ext cx="4286752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kosinusno kaljenje</a:t>
            </a:r>
            <a:endParaRPr lang="hr-HR" sz="2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konzistencijski gubitak</a:t>
            </a:r>
          </a:p>
          <a:p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stopa konzistencije</a:t>
            </a:r>
          </a:p>
          <a:p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nasumično brisanje</a:t>
            </a:r>
            <a:endParaRPr lang="en-US" sz="26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3582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35EBC-073D-517B-E248-70DBF9FE7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62BA8-1347-C00A-D4A1-B49C8DFC1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294198"/>
            <a:ext cx="10126565" cy="1397124"/>
          </a:xfrm>
        </p:spPr>
        <p:txBody>
          <a:bodyPr>
            <a:noAutofit/>
          </a:bodyPr>
          <a:lstStyle/>
          <a:p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0F8701-D8F5-C0E7-6702-BF4069BFE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9EED21-DB1C-2B5E-33BA-61CD8CD7D67E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A5770F-0A1D-E444-C177-F807D77522BA}"/>
              </a:ext>
            </a:extLst>
          </p:cNvPr>
          <p:cNvSpPr txBox="1"/>
          <p:nvPr/>
        </p:nvSpPr>
        <p:spPr>
          <a:xfrm>
            <a:off x="3556169" y="1607187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Algoritam SOP+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3DDFF3-E01C-3CA1-33E5-110A015F39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027" y="2183177"/>
            <a:ext cx="7278116" cy="20672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8FA8BF9-8FAA-1753-7F34-698235FA63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3187" y="5318244"/>
            <a:ext cx="4267796" cy="11241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92F103-EEC4-9CEB-5F08-DCB3F2DEB1F0}"/>
              </a:ext>
            </a:extLst>
          </p:cNvPr>
          <p:cNvSpPr txBox="1"/>
          <p:nvPr/>
        </p:nvSpPr>
        <p:spPr>
          <a:xfrm>
            <a:off x="3556169" y="4736952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Algoritam ILL</a:t>
            </a:r>
          </a:p>
        </p:txBody>
      </p:sp>
    </p:spTree>
    <p:extLst>
      <p:ext uri="{BB962C8B-B14F-4D97-AF65-F5344CB8AC3E}">
        <p14:creationId xmlns:p14="http://schemas.microsoft.com/office/powerpoint/2010/main" val="39513127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F6CCA-F5B1-4AB2-3585-B28D5D24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F247E-C733-AAE7-7F97-10810314B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294198"/>
            <a:ext cx="10126565" cy="1397124"/>
          </a:xfrm>
        </p:spPr>
        <p:txBody>
          <a:bodyPr>
            <a:noAutofit/>
          </a:bodyPr>
          <a:lstStyle/>
          <a:p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CE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C0CBB-AFB1-8391-B6C8-0FCC71939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73D876-80B6-2E5E-A8E7-B1C35C1284F8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452F31-ADA5-19AE-CA10-5ED078396C29}"/>
              </a:ext>
            </a:extLst>
          </p:cNvPr>
          <p:cNvSpPr txBox="1"/>
          <p:nvPr/>
        </p:nvSpPr>
        <p:spPr>
          <a:xfrm>
            <a:off x="3686540" y="1664304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adzirano učenje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E1EF54-08AA-7D61-D8D1-F5E586D0EA92}"/>
              </a:ext>
            </a:extLst>
          </p:cNvPr>
          <p:cNvSpPr txBox="1"/>
          <p:nvPr/>
        </p:nvSpPr>
        <p:spPr>
          <a:xfrm>
            <a:off x="2126621" y="4253824"/>
            <a:ext cx="766166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Nadzirano učenje s konzistencijskim gubitkom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713248-CD5B-5CD1-13F5-7A7E8CB6C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713" y="2246175"/>
            <a:ext cx="6982799" cy="14670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0345826-227D-2445-F058-BDBAEE756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9397" y="4830886"/>
            <a:ext cx="6916115" cy="1409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9873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34F9-0ADB-9EC4-1D97-1016918AF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2D733-7709-9166-C56B-E4EA70C1D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 fontScale="90000"/>
          </a:bodyPr>
          <a:lstStyle/>
          <a:p>
            <a:b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Napadi, usporedba sa SotA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8DC4E-B479-5A44-FAFE-698FE1A39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AF4C28-5349-66F9-F1E6-92F7B7A0B351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612C26-FD20-9E2C-807F-E692AF38E6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169" y="1845651"/>
            <a:ext cx="4525006" cy="21053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29FA482-D53C-DF5D-E8B0-8E8EFBA4FC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278" y="1826598"/>
            <a:ext cx="4620270" cy="214342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0EE4245-E6D3-F790-DD4A-5AF837A605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4027" y="4596236"/>
            <a:ext cx="4582164" cy="214342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B653B42-6214-3D0F-D63D-5007E0890338}"/>
              </a:ext>
            </a:extLst>
          </p:cNvPr>
          <p:cNvSpPr txBox="1"/>
          <p:nvPr/>
        </p:nvSpPr>
        <p:spPr>
          <a:xfrm>
            <a:off x="2443220" y="1335661"/>
            <a:ext cx="1652903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BadNets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44A51E-3430-78F3-E6E6-1A27B147E5BA}"/>
              </a:ext>
            </a:extLst>
          </p:cNvPr>
          <p:cNvSpPr txBox="1"/>
          <p:nvPr/>
        </p:nvSpPr>
        <p:spPr>
          <a:xfrm>
            <a:off x="7681962" y="1335660"/>
            <a:ext cx="1652903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Blend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07CDCD-2CCC-7111-0B0F-3C56C6354B35}"/>
              </a:ext>
            </a:extLst>
          </p:cNvPr>
          <p:cNvSpPr txBox="1"/>
          <p:nvPr/>
        </p:nvSpPr>
        <p:spPr>
          <a:xfrm>
            <a:off x="5068657" y="4105299"/>
            <a:ext cx="1652903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WaNet</a:t>
            </a:r>
          </a:p>
        </p:txBody>
      </p:sp>
    </p:spTree>
    <p:extLst>
      <p:ext uri="{BB962C8B-B14F-4D97-AF65-F5344CB8AC3E}">
        <p14:creationId xmlns:p14="http://schemas.microsoft.com/office/powerpoint/2010/main" val="1259540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A6645-D322-A531-75BD-FE8E86A71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093DB-69FE-5597-1038-5CB5BD5FA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42FBCF-6FB3-4A04-3A73-23E3114B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828800"/>
            <a:ext cx="8966635" cy="4735002"/>
          </a:xfrm>
        </p:spPr>
        <p:txBody>
          <a:bodyPr>
            <a:normAutofit lnSpcReduction="10000"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osnovnu inačicu VIBE-a nadogradili smo korištenjem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kosinusnog kaljenja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te dodavanjem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konzistencijskog gubitka</a:t>
            </a:r>
          </a:p>
          <a:p>
            <a:pPr marL="0" indent="0">
              <a:buNone/>
            </a:pP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osnovna inačica VIBE-a postiže lošije rezultate od SotA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nadograđena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najbolje rezultate u teškim postavima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dodavanje konzistencijskog gubitka nadziranom učenju može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značajno povećati 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naučenih modela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59BA0C-F9A5-26FD-2A89-4DFCC3A5F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AF7285-2C2A-3F7E-F910-A7BADBD2725F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9904223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3F277-45B8-6CFD-9D7C-B98DCDAA3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13256-68C7-2EB3-EC28-D09A0FAD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BAB14-0488-B4DC-5B1D-4C2E87B09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544715"/>
            <a:ext cx="8966635" cy="5486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najvišu točnost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ali ne i najniži ASR u usporedbi sa SotA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3 različita napada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nadograđena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najvišu točnost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kao i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najniži ASR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u usporedbi s osnovnom inačicom VIBE-a te SotA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/3 r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azličita napada</a:t>
            </a:r>
          </a:p>
          <a:p>
            <a:pPr lvl="1"/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Budući rad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primjena nadograđene inačice VIBE-a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problem učenja na djelomičnim oznakama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dodatni eksperimenti u vezi dodavanja konzistencijskog gubitka nadziranom učenju</a:t>
            </a:r>
          </a:p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699EC-F442-0E43-B766-D3E31E56C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2425D5-3F46-1A20-29B4-55183106D2EC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941129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6C9F9-911B-E360-F68E-AC14538EA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A27CA-E20B-2F39-A3AF-D15DDDD3C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Diskusija</a:t>
            </a:r>
          </a:p>
        </p:txBody>
      </p:sp>
    </p:spTree>
    <p:extLst>
      <p:ext uri="{BB962C8B-B14F-4D97-AF65-F5344CB8AC3E}">
        <p14:creationId xmlns:p14="http://schemas.microsoft.com/office/powerpoint/2010/main" val="3897778742"/>
      </p:ext>
    </p:extLst>
  </p:cSld>
  <p:clrMapOvr>
    <a:masterClrMapping/>
  </p:clrMapOvr>
</p:sld>
</file>

<file path=ppt/theme/theme1.xml><?xml version="1.0" encoding="utf-8"?>
<a:theme xmlns:a="http://schemas.openxmlformats.org/drawingml/2006/main" name="Seminar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3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eminar" id="{8905F78F-715B-44EB-B91B-BC9638ADD0FA}" vid="{2B12E160-07C0-455A-A8E7-66913EDE5AC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Seminar</Template>
  <TotalTime>461</TotalTime>
  <Words>563</Words>
  <Application>Microsoft Office PowerPoint</Application>
  <PresentationFormat>Widescreen</PresentationFormat>
  <Paragraphs>136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Century Schoolbook</vt:lpstr>
      <vt:lpstr>Wingdings 2</vt:lpstr>
      <vt:lpstr>Seminar</vt:lpstr>
      <vt:lpstr>Varijacijsko učenje na zašumljenim oznakama</vt:lpstr>
      <vt:lpstr>Sadržaj</vt:lpstr>
      <vt:lpstr>Uvod</vt:lpstr>
      <vt:lpstr>Napadi umetanjem stražnjih vrata</vt:lpstr>
      <vt:lpstr>Napadi umetanjem stražnjih vrata</vt:lpstr>
      <vt:lpstr>Zašumljene oznake</vt:lpstr>
      <vt:lpstr>Okvir VIBE</vt:lpstr>
      <vt:lpstr>Okvir VIBE</vt:lpstr>
      <vt:lpstr>Konzistencijski gubitak</vt:lpstr>
      <vt:lpstr>Eksperimenti</vt:lpstr>
      <vt:lpstr>Skup podataka CIFAR-10</vt:lpstr>
      <vt:lpstr>Postavke eksperimenata</vt:lpstr>
      <vt:lpstr>Postavke eksperimenata</vt:lpstr>
      <vt:lpstr>Zašumljene oznake, usporedba sa SotA </vt:lpstr>
      <vt:lpstr>Zašumljene oznake, validacija VIBE </vt:lpstr>
      <vt:lpstr> Zašumljene oznake, validacija SotA </vt:lpstr>
      <vt:lpstr> Zašumljene oznake, validacija CE </vt:lpstr>
      <vt:lpstr> Napadi, usporedba sa SotA </vt:lpstr>
      <vt:lpstr>Zaključak i budući rad</vt:lpstr>
      <vt:lpstr>Zaključak i budući rad</vt:lpstr>
      <vt:lpstr>Diskusija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17</cp:revision>
  <dcterms:created xsi:type="dcterms:W3CDTF">2025-01-25T17:12:03Z</dcterms:created>
  <dcterms:modified xsi:type="dcterms:W3CDTF">2025-06-30T14:36:49Z</dcterms:modified>
</cp:coreProperties>
</file>