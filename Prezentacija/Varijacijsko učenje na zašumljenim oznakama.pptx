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63" r:id="rId5"/>
    <p:sldId id="275" r:id="rId6"/>
    <p:sldId id="276" r:id="rId7"/>
    <p:sldId id="265" r:id="rId8"/>
    <p:sldId id="286" r:id="rId9"/>
    <p:sldId id="274" r:id="rId10"/>
    <p:sldId id="277" r:id="rId11"/>
    <p:sldId id="266" r:id="rId12"/>
    <p:sldId id="267" r:id="rId13"/>
    <p:sldId id="278" r:id="rId14"/>
    <p:sldId id="279" r:id="rId15"/>
    <p:sldId id="287" r:id="rId16"/>
    <p:sldId id="270" r:id="rId17"/>
    <p:sldId id="283" r:id="rId18"/>
    <p:sldId id="282" r:id="rId19"/>
    <p:sldId id="284" r:id="rId20"/>
    <p:sldId id="280" r:id="rId21"/>
    <p:sldId id="271" r:id="rId22"/>
    <p:sldId id="28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2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22A23-FA0E-43FF-AD6A-5A9DC9E7A77F}" type="datetimeFigureOut">
              <a:rPr lang="hr-HR" smtClean="0"/>
              <a:t>10.7.2025.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8539C-3157-43D8-9A64-3BC58E37B14C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7912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8539C-3157-43D8-9A64-3BC58E37B14C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3160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0DB6F-6EB1-4D7D-9BCC-E96C905FFC52}" type="datetime1">
              <a:rPr lang="hr-HR" smtClean="0"/>
              <a:t>10.7.2025.</a:t>
            </a:fld>
            <a:endParaRPr lang="hr-H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50307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7D9C-C0AF-48FA-BBAF-7CAA57C23F8E}" type="datetime1">
              <a:rPr lang="hr-HR" smtClean="0"/>
              <a:t>10.7.2025.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500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6B098-981F-45CA-83FF-788349BDC294}" type="datetime1">
              <a:rPr lang="hr-HR" smtClean="0"/>
              <a:t>10.7.2025.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80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6E4C2-5A97-4809-9A3F-0AD2CD797138}" type="datetime1">
              <a:rPr lang="hr-HR" smtClean="0"/>
              <a:t>10.7.2025.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519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0B546-6293-4D30-BD97-A6B6A01C90BF}" type="datetime1">
              <a:rPr lang="hr-HR" smtClean="0"/>
              <a:t>10.7.2025.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2020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7632D-88EC-4C5E-9269-EEF5AECE77DB}" type="datetime1">
              <a:rPr lang="hr-HR" smtClean="0"/>
              <a:t>10.7.2025.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65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43FE3-F849-413C-9C82-49701E1B3EF3}" type="datetime1">
              <a:rPr lang="hr-HR" smtClean="0"/>
              <a:t>10.7.2025.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7566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D4826-6613-4A6F-B53D-11761422A9FC}" type="datetime1">
              <a:rPr lang="hr-HR" smtClean="0"/>
              <a:t>10.7.2025.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885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042B-28D4-4EE9-A191-0F90C01EB3D9}" type="datetime1">
              <a:rPr lang="hr-HR" smtClean="0"/>
              <a:t>10.7.2025.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9311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97EE-C1D5-4E52-876C-358FABA2E6DD}" type="datetime1">
              <a:rPr lang="hr-HR" smtClean="0"/>
              <a:t>10.7.2025.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2573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014D-1E5A-4CE6-87B2-A696E1D2C514}" type="datetime1">
              <a:rPr lang="hr-HR" smtClean="0"/>
              <a:t>10.7.2025.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468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E49A88E-18D6-498E-8265-50D671D76CD0}" type="datetime1">
              <a:rPr lang="hr-HR" smtClean="0"/>
              <a:t>10.7.2025.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F44E4AE-4F6C-4F0B-AD47-A5E219CBC21D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3755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08829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ceedings.neurips.cc/paper_files/paper/2024/hash/6de71272e0be559af3f76b884e94794b-Abstract-Conference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arxiv.org/abs/2503.0882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5EDA-9C80-8E20-925A-0489CE3E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177" y="758952"/>
            <a:ext cx="10315851" cy="4041648"/>
          </a:xfrm>
        </p:spPr>
        <p:txBody>
          <a:bodyPr anchor="b">
            <a:normAutofit/>
          </a:bodyPr>
          <a:lstStyle/>
          <a:p>
            <a:r>
              <a:rPr lang="hr-HR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Varijacijsko učenje na zašumljenim oznakama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22362-F1A1-CF1A-E4F9-C24BDB89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3178" y="4800600"/>
            <a:ext cx="10315851" cy="1691640"/>
          </a:xfrm>
        </p:spPr>
        <p:txBody>
          <a:bodyPr anchor="t">
            <a:normAutofit/>
          </a:bodyPr>
          <a:lstStyle/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Autor: Dominik </a:t>
            </a:r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Jambrovi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ć</a:t>
            </a:r>
          </a:p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Voditelji: Ivan Sabolić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Siniša Šegvić</a:t>
            </a:r>
          </a:p>
        </p:txBody>
      </p:sp>
    </p:spTree>
    <p:extLst>
      <p:ext uri="{BB962C8B-B14F-4D97-AF65-F5344CB8AC3E}">
        <p14:creationId xmlns:p14="http://schemas.microsoft.com/office/powerpoint/2010/main" val="280581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17BC-F7BD-0701-56EA-D6A1FE21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33C4-ED8A-1EB1-D91E-FFB64A9A2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93668"/>
            <a:ext cx="8595360" cy="473500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Uvod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Napadi umetanjem stražnjih vrata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Zašumljene oznake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Okvir VIBE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Konzistencijski gubitak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Eksperimenti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Zaključak i budući rad</a:t>
            </a:r>
          </a:p>
          <a:p>
            <a:pPr marL="514350" indent="-514350">
              <a:buFont typeface="+mj-lt"/>
              <a:buAutoNum type="arabicPeriod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Diskusija</a:t>
            </a:r>
          </a:p>
        </p:txBody>
      </p:sp>
    </p:spTree>
    <p:extLst>
      <p:ext uri="{BB962C8B-B14F-4D97-AF65-F5344CB8AC3E}">
        <p14:creationId xmlns:p14="http://schemas.microsoft.com/office/powerpoint/2010/main" val="88811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1540-0D18-8AC0-3086-5E721DFC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11E8-3F26-E20F-3BDD-E742F4DD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Uvod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C59D-E496-9CBA-0635-771803DBB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Odluke pri</a:t>
            </a:r>
            <a:r>
              <a:rPr lang="en-US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nadziranom učenju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dubokih modela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arhitektura </a:t>
            </a:r>
            <a:endParaRPr lang="en-US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algoritam učenja</a:t>
            </a:r>
          </a:p>
          <a:p>
            <a:pPr lvl="1"/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hiperparametri</a:t>
            </a:r>
          </a:p>
          <a:p>
            <a:pPr lvl="1"/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skup podataka</a:t>
            </a:r>
          </a:p>
          <a:p>
            <a:pPr lvl="1"/>
            <a:endParaRPr lang="hr-HR" sz="26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Opasnosti pri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stvaranju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skupa podataka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napadi umetanjem stražnjih vrata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pogreške označivača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zašumljene oznake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1C4EE-5BF9-DF3A-185E-3ADED1E4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C05C61E-BA12-0A1F-0003-1040242DC829}"/>
              </a:ext>
            </a:extLst>
          </p:cNvPr>
          <p:cNvSpPr/>
          <p:nvPr/>
        </p:nvSpPr>
        <p:spPr>
          <a:xfrm>
            <a:off x="5043054" y="5762484"/>
            <a:ext cx="332509" cy="19497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093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E524-DAAF-CC17-77CC-AC8D87E5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A391-9BF3-F25A-A23D-C9C8F0E5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Napadi umetanjem stražnjih vrata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19CD-35B9-6690-5D9E-5958859F7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970844"/>
            <a:ext cx="9572383" cy="4795082"/>
          </a:xfrm>
        </p:spPr>
        <p:txBody>
          <a:bodyPr>
            <a:normAutofit/>
          </a:bodyPr>
          <a:lstStyle/>
          <a:p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zatrovani podatci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– izmijenjeni podatci za učenje koji navode optimizaciju da u model ugradi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stražnja vrata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stražnja vrata omogućavaju manipuliranje naučenim modelom</a:t>
            </a: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trovanje uvijek uključuje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dodavanje okidača u podatke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većina metoda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mijenja i oznake</a:t>
            </a: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neke metode ne mijenjaju oznake, već dodatno perturbiraju podatke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tijekom zaključivanja, model daje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krivo predviđanje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ako je na ulazu ispitna slika s okidačem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D51F9-CE2A-DACE-DD0D-EFEAC0D4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4893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845E-584B-E7F9-46E8-C6E7BCFA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49BC-9A5C-3340-A93D-3768CE08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Neke vrste okidača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5D638-E42E-8EE2-74C9-7EB279A9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5B7D69-C76C-9024-181C-95521077BA96}"/>
              </a:ext>
            </a:extLst>
          </p:cNvPr>
          <p:cNvGrpSpPr/>
          <p:nvPr/>
        </p:nvGrpSpPr>
        <p:grpSpPr>
          <a:xfrm>
            <a:off x="461639" y="2322608"/>
            <a:ext cx="10831201" cy="3178313"/>
            <a:chOff x="461639" y="2597816"/>
            <a:chExt cx="10831201" cy="317831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9E099A-28CD-E388-B4B7-4E538E2A0F11}"/>
                </a:ext>
              </a:extLst>
            </p:cNvPr>
            <p:cNvGrpSpPr/>
            <p:nvPr/>
          </p:nvGrpSpPr>
          <p:grpSpPr>
            <a:xfrm>
              <a:off x="461639" y="2597816"/>
              <a:ext cx="10831201" cy="2622254"/>
              <a:chOff x="0" y="2117315"/>
              <a:chExt cx="11259607" cy="2859293"/>
            </a:xfrm>
          </p:grpSpPr>
          <p:pic>
            <p:nvPicPr>
              <p:cNvPr id="9" name="Picture 8" descr="A blue bird on a branch&#10;&#10;AI-generated content may be incorrect.">
                <a:extLst>
                  <a:ext uri="{FF2B5EF4-FFF2-40B4-BE49-F238E27FC236}">
                    <a16:creationId xmlns:a16="http://schemas.microsoft.com/office/drawing/2014/main" id="{8962D0FF-52B5-A0C0-C7DE-3836406A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41028" y="2117315"/>
                <a:ext cx="5718579" cy="2859289"/>
              </a:xfrm>
              <a:prstGeom prst="rect">
                <a:avLst/>
              </a:prstGeom>
            </p:spPr>
          </p:pic>
          <p:pic>
            <p:nvPicPr>
              <p:cNvPr id="6" name="Picture 5" descr="A blue bird sitting on a branch&#10;&#10;AI-generated content may be incorrect.">
                <a:extLst>
                  <a:ext uri="{FF2B5EF4-FFF2-40B4-BE49-F238E27FC236}">
                    <a16:creationId xmlns:a16="http://schemas.microsoft.com/office/drawing/2014/main" id="{B51E7BE8-BFEF-2DBC-18D9-88F1A1A905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70514" y="2117315"/>
                <a:ext cx="5718579" cy="2859289"/>
              </a:xfrm>
              <a:prstGeom prst="rect">
                <a:avLst/>
              </a:prstGeom>
            </p:spPr>
          </p:pic>
          <p:pic>
            <p:nvPicPr>
              <p:cNvPr id="11" name="Picture 10" descr="A blue bird on a branch&#10;&#10;AI-generated content may be incorrect.">
                <a:extLst>
                  <a:ext uri="{FF2B5EF4-FFF2-40B4-BE49-F238E27FC236}">
                    <a16:creationId xmlns:a16="http://schemas.microsoft.com/office/drawing/2014/main" id="{200E2F04-BB54-C967-B1A2-F6841A70A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117319"/>
                <a:ext cx="5718580" cy="2859289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16AEF6-FB61-0CEF-AC2A-459967475680}"/>
                </a:ext>
              </a:extLst>
            </p:cNvPr>
            <p:cNvSpPr txBox="1"/>
            <p:nvPr/>
          </p:nvSpPr>
          <p:spPr>
            <a:xfrm>
              <a:off x="6422043" y="5283686"/>
              <a:ext cx="1447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Blend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FB0EF2-2199-4259-092A-6A3DDD8915CE}"/>
                </a:ext>
              </a:extLst>
            </p:cNvPr>
            <p:cNvSpPr txBox="1"/>
            <p:nvPr/>
          </p:nvSpPr>
          <p:spPr>
            <a:xfrm>
              <a:off x="1180517" y="5283685"/>
              <a:ext cx="1447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Original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0B18B9-0AA9-C329-187C-D431F7BD99A4}"/>
                </a:ext>
              </a:extLst>
            </p:cNvPr>
            <p:cNvSpPr txBox="1"/>
            <p:nvPr/>
          </p:nvSpPr>
          <p:spPr>
            <a:xfrm>
              <a:off x="3693111" y="5283685"/>
              <a:ext cx="1660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BadNets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602169-BFD0-767F-6026-2EAE02807DFC}"/>
                </a:ext>
              </a:extLst>
            </p:cNvPr>
            <p:cNvSpPr txBox="1"/>
            <p:nvPr/>
          </p:nvSpPr>
          <p:spPr>
            <a:xfrm>
              <a:off x="9042806" y="5283686"/>
              <a:ext cx="1447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WaNet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CF8755A-AEFA-1C94-F7F5-B733BD7C0C19}"/>
              </a:ext>
            </a:extLst>
          </p:cNvPr>
          <p:cNvGrpSpPr/>
          <p:nvPr/>
        </p:nvGrpSpPr>
        <p:grpSpPr>
          <a:xfrm>
            <a:off x="3675355" y="5576510"/>
            <a:ext cx="6206589" cy="892552"/>
            <a:chOff x="3693111" y="5479702"/>
            <a:chExt cx="6206589" cy="8925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F14803-9D3D-F402-5D50-2DC9EAF336A3}"/>
                </a:ext>
              </a:extLst>
            </p:cNvPr>
            <p:cNvSpPr txBox="1"/>
            <p:nvPr/>
          </p:nvSpPr>
          <p:spPr>
            <a:xfrm>
              <a:off x="7220494" y="5479702"/>
              <a:ext cx="267920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teže primjenjivi u stvarnom svijetu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A88C3A-D218-8B54-F54A-8B9BAB8E718E}"/>
                </a:ext>
              </a:extLst>
            </p:cNvPr>
            <p:cNvSpPr txBox="1"/>
            <p:nvPr/>
          </p:nvSpPr>
          <p:spPr>
            <a:xfrm>
              <a:off x="3693111" y="5679757"/>
              <a:ext cx="166012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vidljiv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3991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117-7D22-8750-1092-91504375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7F1AA-F26C-3A7E-4BDD-34358BB4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Zašumljene oznake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30A64-8E96-6C8E-3459-65E1BE2C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593274"/>
            <a:ext cx="9692639" cy="4586864"/>
          </a:xfrm>
        </p:spPr>
        <p:txBody>
          <a:bodyPr>
            <a:normAutofit/>
          </a:bodyPr>
          <a:lstStyle/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posljedica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netočnog označavanja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razlikujemo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 simetrično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(gore) 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asimetrično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(dolje) zašumljivanje</a:t>
            </a: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CEE37-3FD2-7B31-A0A9-1C19FBC2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D22B6A-8919-1AB5-09B6-61F879B0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95" y="3841624"/>
            <a:ext cx="9667782" cy="2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228C-2389-9170-82D2-915D8DAA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5551-D168-4FC9-FE63-A5BF6A6B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Okvir VIBE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ACFC-6758-DE29-7509-8ACE824B0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735002"/>
          </a:xfrm>
        </p:spPr>
        <p:txBody>
          <a:bodyPr>
            <a:normAutofit/>
          </a:bodyPr>
          <a:lstStyle/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cilj: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učenje modela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bez stražnjih vrata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 zatrovanim podatcima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optimizacija varijacijskog cilja koristeći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algoritam maksimizacije očekivanja</a:t>
            </a:r>
            <a:endParaRPr lang="hr-HR" sz="26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D508C-DA53-CDC2-E637-76AC9FD9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E1422-5D01-8D22-F793-7D7B997C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28" y="3517221"/>
            <a:ext cx="9842352" cy="135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1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D621-C0C9-42FB-03CD-313BB353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F7BE-BB66-8B40-08A5-681B2DEA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Okvir VIBE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9997-24F3-C098-A02E-FA0EFB9B6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799"/>
            <a:ext cx="9692640" cy="4937125"/>
          </a:xfrm>
        </p:spPr>
        <p:txBody>
          <a:bodyPr>
            <a:normAutofit/>
          </a:bodyPr>
          <a:lstStyle/>
          <a:p>
            <a:r>
              <a:rPr lang="en-US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ekstraktor značajki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, skup čistih prototipova</a:t>
            </a:r>
            <a:r>
              <a:rPr lang="en-US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600" b="1" i="1" noProof="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600" i="1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, skup zatrovanih prototipova </a:t>
            </a:r>
            <a:r>
              <a:rPr lang="el-GR" sz="2600" b="1" i="1" noProof="0" dirty="0">
                <a:latin typeface="Arial" panose="020B0604020202020204" pitchFamily="34" charset="0"/>
                <a:cs typeface="Arial" panose="020B0604020202020204" pitchFamily="34" charset="0"/>
              </a:rPr>
              <a:t>η</a:t>
            </a:r>
            <a:r>
              <a:rPr lang="en-US" sz="2600" i="1" baseline="-25000" noProof="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hr-HR" sz="26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E korak: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aproksimacija čistih pseudooznaka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(algoritam SK)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M korak: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ažuriranje parametara modela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(gradijentni spust)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F4E7C-1CAF-80DB-BAF8-FD542415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6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539D21-AAAA-D0D6-FFF8-8DFAF02C3A53}"/>
              </a:ext>
            </a:extLst>
          </p:cNvPr>
          <p:cNvGrpSpPr/>
          <p:nvPr/>
        </p:nvGrpSpPr>
        <p:grpSpPr>
          <a:xfrm>
            <a:off x="2633179" y="2735846"/>
            <a:ext cx="6925642" cy="2814376"/>
            <a:chOff x="2633179" y="2735846"/>
            <a:chExt cx="6925642" cy="281437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0F0D49-A854-E309-B1DF-462B0242C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25"/>
            <a:stretch>
              <a:fillRect/>
            </a:stretch>
          </p:blipFill>
          <p:spPr>
            <a:xfrm>
              <a:off x="2752542" y="2735846"/>
              <a:ext cx="6697010" cy="126700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B42B2E-EE9B-904B-B4FD-9264CC0BB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33179" y="4140325"/>
              <a:ext cx="6925642" cy="1409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197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91E6A-93E2-CEF2-7ACA-726C4993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37DB-77BF-3940-D056-CC1D48A6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Okvir VIBE</a:t>
            </a: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7DCF3-5E34-BB41-57CB-ABCF2D70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7</a:t>
            </a:r>
          </a:p>
        </p:txBody>
      </p:sp>
      <p:pic>
        <p:nvPicPr>
          <p:cNvPr id="8" name="Picture 7" descr="A diagram of a bird&#10;&#10;AI-generated content may be incorrect.">
            <a:extLst>
              <a:ext uri="{FF2B5EF4-FFF2-40B4-BE49-F238E27FC236}">
                <a16:creationId xmlns:a16="http://schemas.microsoft.com/office/drawing/2014/main" id="{21D202AF-056A-3282-83D7-9E8DEB212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90" y="2334827"/>
            <a:ext cx="10791450" cy="3446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8E3E9-19BE-142E-0026-27CB290AB2E2}"/>
              </a:ext>
            </a:extLst>
          </p:cNvPr>
          <p:cNvSpPr txBox="1"/>
          <p:nvPr/>
        </p:nvSpPr>
        <p:spPr>
          <a:xfrm>
            <a:off x="2354555" y="5873373"/>
            <a:ext cx="7085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sz="26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reuzeto iz </a:t>
            </a:r>
            <a:r>
              <a:rPr lang="en-US" sz="260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60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sabolic25iccv</a:t>
            </a:r>
            <a:r>
              <a:rPr lang="en-US" sz="2600" noProof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hr-HR" sz="2600" noProof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471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79DC0-028A-FC80-FDF1-FA8AEAD0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8E85-BDA4-7EB5-511C-62EAD823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Konzistencijski gubitak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5AFB7-9C7E-F25E-00CD-1CC2A10E8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735002"/>
          </a:xfrm>
        </p:spPr>
        <p:txBody>
          <a:bodyPr>
            <a:normAutofit/>
          </a:bodyPr>
          <a:lstStyle/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cilj: osigurati da model z</a:t>
            </a:r>
            <a:r>
              <a:rPr lang="en-US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različite perturbacije istog ulaza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daje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 isti izlaz</a:t>
            </a: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dva pogleda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na podatke: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slabe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jake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augmentacije</a:t>
            </a:r>
          </a:p>
          <a:p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povećavanje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invarijantnosti na perturbacije ulaza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, sprječavanje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prenaučenosti</a:t>
            </a:r>
            <a:endParaRPr lang="hr-HR" sz="26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r-HR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F7740-24FB-E7AA-570E-A745E1ED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95EC41-835B-7249-819C-F56930CD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257" y="4217404"/>
            <a:ext cx="657316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0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F662-7F05-F101-CFCD-E27FA172E8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Eksperimenti</a:t>
            </a:r>
          </a:p>
        </p:txBody>
      </p:sp>
    </p:spTree>
    <p:extLst>
      <p:ext uri="{BB962C8B-B14F-4D97-AF65-F5344CB8AC3E}">
        <p14:creationId xmlns:p14="http://schemas.microsoft.com/office/powerpoint/2010/main" val="421727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210E-596F-E748-8C35-1EAE13641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BB60-F370-ADCB-3E8A-5928FA8E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Skup podataka CIFAR-10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CE90-BB8F-C58E-44E7-AC131DE8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614055"/>
            <a:ext cx="10287977" cy="49497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slike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dimenzija 32 x 32</a:t>
            </a: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10 razreda</a:t>
            </a:r>
          </a:p>
          <a:p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 000 primjera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 skupu za učenje,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10 000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 skupu za ispitivanje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59D13-EB30-4350-4FAD-40148677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9</a:t>
            </a:r>
          </a:p>
        </p:txBody>
      </p:sp>
      <p:pic>
        <p:nvPicPr>
          <p:cNvPr id="7" name="Picture 6" descr="A collage of images of animals&#10;&#10;AI-generated content may be incorrect.">
            <a:extLst>
              <a:ext uri="{FF2B5EF4-FFF2-40B4-BE49-F238E27FC236}">
                <a16:creationId xmlns:a16="http://schemas.microsoft.com/office/drawing/2014/main" id="{FE05BE1E-2270-E1F0-58CB-713F6D707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332"/>
          <a:stretch>
            <a:fillRect/>
          </a:stretch>
        </p:blipFill>
        <p:spPr>
          <a:xfrm>
            <a:off x="1064302" y="4119676"/>
            <a:ext cx="9654770" cy="234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BA72-F8FC-6563-3E0C-B5FDA0718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24E7-9633-FB85-06F9-F2C0DBC0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Postavke eksperimenata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A883-A8AE-7B1F-1ED4-64107D08D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267046" cy="4814455"/>
          </a:xfrm>
        </p:spPr>
        <p:txBody>
          <a:bodyPr>
            <a:normAutofit/>
          </a:bodyPr>
          <a:lstStyle/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3 ponavljanja pojedinih eksperimenata</a:t>
            </a:r>
          </a:p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Zašumljene oznake</a:t>
            </a:r>
          </a:p>
          <a:p>
            <a:pPr lvl="1"/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imetrično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 zašumljivanje uz stopu šuma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20%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</a:p>
          <a:p>
            <a:pPr lvl="1"/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asimetrično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zašumljivanje uz stopu šuma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</a:p>
          <a:p>
            <a:pPr lvl="1"/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vrednovanje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točnost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 čistom skupu</a:t>
            </a:r>
            <a:endParaRPr lang="hr-HR" sz="26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Napadi umetanjem stražnjih vrata</a:t>
            </a:r>
          </a:p>
          <a:p>
            <a:pPr lvl="1"/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napadi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BadNets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Ble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WaNet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uz stopu trovanja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</a:p>
          <a:p>
            <a:pPr lvl="1"/>
            <a:r>
              <a:rPr lang="hr-HR" sz="2600" b="1" i="1" dirty="0">
                <a:latin typeface="Arial" panose="020B0604020202020204" pitchFamily="34" charset="0"/>
                <a:cs typeface="Arial" panose="020B0604020202020204" pitchFamily="34" charset="0"/>
              </a:rPr>
              <a:t>all-to-one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 izmjena oznaka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uz ciljni razred </a:t>
            </a:r>
            <a:r>
              <a:rPr lang="hr-HR" sz="2600" b="1" i="1" dirty="0">
                <a:latin typeface="Arial" panose="020B0604020202020204" pitchFamily="34" charset="0"/>
                <a:cs typeface="Arial" panose="020B0604020202020204" pitchFamily="34" charset="0"/>
              </a:rPr>
              <a:t>airplane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vrednovanje: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točnost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 čistom skupu,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udio uspješnih napada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(engl. </a:t>
            </a:r>
            <a:r>
              <a:rPr lang="hr-HR" sz="2600" i="1" dirty="0">
                <a:latin typeface="Arial" panose="020B0604020202020204" pitchFamily="34" charset="0"/>
                <a:cs typeface="Arial" panose="020B0604020202020204" pitchFamily="34" charset="0"/>
              </a:rPr>
              <a:t>attack success rate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– ASR)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9FC41-BE0F-E3F3-3223-2366B7B4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A77EA-4449-0F2C-6C38-4C9B64332ED9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9684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72D6-C03B-5AFB-6481-B3F78BB4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FFE8-0963-75FD-A7A2-DA50C1FB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Postavke eksperimenata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246B9-74CB-0ABA-3A49-490A8D32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222657" cy="4735002"/>
          </a:xfrm>
        </p:spPr>
        <p:txBody>
          <a:bodyPr>
            <a:normAutofit lnSpcReduction="10000"/>
          </a:bodyPr>
          <a:lstStyle/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arhitektura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ResNet18</a:t>
            </a:r>
          </a:p>
          <a:p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samonadzirana inicijalizacija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modela okvirom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All4One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inicijalizacija čistih i zatrovanih prototipova na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centroide pripadnih razreda</a:t>
            </a:r>
            <a:endParaRPr lang="hr-HR" sz="26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učenje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30 000 iteracija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okvirom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VIBE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uz optimizator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SGD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stopom učenja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iznosa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 0.01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i strategijom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kosinusnog kaljenja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bez restarta</a:t>
            </a:r>
          </a:p>
          <a:p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skup podijeljen na 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minigrupe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veličine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 256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provođenje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E koraka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učenja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svakih 1000 iteracija</a:t>
            </a:r>
          </a:p>
          <a:p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faktor konzistencijskog gubitka </a:t>
            </a:r>
            <a:r>
              <a:rPr lang="hr-HR" sz="2600" noProof="0" dirty="0">
                <a:latin typeface="Arial" panose="020B0604020202020204" pitchFamily="34" charset="0"/>
                <a:cs typeface="Arial" panose="020B0604020202020204" pitchFamily="34" charset="0"/>
              </a:rPr>
              <a:t>iznosa</a:t>
            </a:r>
            <a:r>
              <a:rPr lang="hr-HR" sz="26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hr-HR" sz="26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96B62-BE47-1DBB-D7A7-59EE9D39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  <a:r>
              <a:rPr lang="hr-HR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CE49C-7183-98A8-00E6-7BD89AE0F6A1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28681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C142-48F7-E6F2-4F4D-F2399F2E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95A67E5-079A-6313-575A-9F908929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950" y="4259702"/>
            <a:ext cx="3248478" cy="20767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B1359D-A2F4-20F0-6300-FAB958F1C541}"/>
              </a:ext>
            </a:extLst>
          </p:cNvPr>
          <p:cNvSpPr txBox="1">
            <a:spLocks/>
          </p:cNvSpPr>
          <p:nvPr/>
        </p:nvSpPr>
        <p:spPr>
          <a:xfrm>
            <a:off x="1261871" y="1473693"/>
            <a:ext cx="9222657" cy="5090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Stanje tehnike</a:t>
            </a:r>
          </a:p>
          <a:p>
            <a:pPr lvl="1"/>
            <a:r>
              <a:rPr lang="hr-HR" sz="2600" i="1" dirty="0">
                <a:latin typeface="Arial" panose="020B0604020202020204" pitchFamily="34" charset="0"/>
                <a:cs typeface="Arial" panose="020B0604020202020204" pitchFamily="34" charset="0"/>
              </a:rPr>
              <a:t>Sparse over-parameterization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SOP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/>
            <a:r>
              <a:rPr lang="hr-HR" sz="2600" i="1" dirty="0">
                <a:latin typeface="Arial" panose="020B0604020202020204" pitchFamily="34" charset="0"/>
                <a:cs typeface="Arial" panose="020B0604020202020204" pitchFamily="34" charset="0"/>
              </a:rPr>
              <a:t>Imprecise label learning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ILL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SOP uz konzistencijski gubitak i gubitak ravnoteže razreda: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SOP+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15B25-5FCC-941C-2A2D-C2B8121C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775834" cy="1397124"/>
          </a:xfrm>
        </p:spPr>
        <p:txBody>
          <a:bodyPr>
            <a:normAutofit/>
          </a:bodyPr>
          <a:lstStyle/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Čisti skup, usporedba sa SotA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B705C-288F-4F9E-5589-47CF7E68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92DE8-972E-8B50-D00F-2BF8E34B752A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06364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A129-F628-0021-2916-4EAA6E59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0B81-A4C5-6CBC-7F20-059A234C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775834" cy="1397124"/>
          </a:xfrm>
        </p:spPr>
        <p:txBody>
          <a:bodyPr>
            <a:normAutofit/>
          </a:bodyPr>
          <a:lstStyle/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Zašumljene oznake, usporedba sa SotA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B05B9-30AB-34B6-E853-C52B3D8B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051114-9FAB-ECD3-574E-5F88CF5C9E40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E2528B-CAAA-8B27-CC59-FAA7B4001872}"/>
              </a:ext>
            </a:extLst>
          </p:cNvPr>
          <p:cNvGrpSpPr/>
          <p:nvPr/>
        </p:nvGrpSpPr>
        <p:grpSpPr>
          <a:xfrm>
            <a:off x="791569" y="2505759"/>
            <a:ext cx="10359850" cy="3751926"/>
            <a:chOff x="877569" y="2504075"/>
            <a:chExt cx="10359850" cy="37519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924F0A2-8B55-BC04-6C9E-2F58244C3025}"/>
                </a:ext>
              </a:extLst>
            </p:cNvPr>
            <p:cNvGrpSpPr/>
            <p:nvPr/>
          </p:nvGrpSpPr>
          <p:grpSpPr>
            <a:xfrm>
              <a:off x="877569" y="2504075"/>
              <a:ext cx="5818018" cy="3751926"/>
              <a:chOff x="596189" y="2504075"/>
              <a:chExt cx="5818018" cy="375192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E83B980-F48B-E3BA-B57A-0F89DCCAC1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695"/>
              <a:stretch>
                <a:fillRect/>
              </a:stretch>
            </p:blipFill>
            <p:spPr>
              <a:xfrm>
                <a:off x="596189" y="3178997"/>
                <a:ext cx="5818018" cy="3077004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0F6ED8-F856-7668-D143-B0F3237E447B}"/>
                  </a:ext>
                </a:extLst>
              </p:cNvPr>
              <p:cNvSpPr txBox="1"/>
              <p:nvPr/>
            </p:nvSpPr>
            <p:spPr>
              <a:xfrm>
                <a:off x="1234282" y="2504075"/>
                <a:ext cx="454183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r-HR" sz="2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Simetrično zašumljivanje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949B59-3227-2718-5513-CA295B1C8C86}"/>
                </a:ext>
              </a:extLst>
            </p:cNvPr>
            <p:cNvGrpSpPr/>
            <p:nvPr/>
          </p:nvGrpSpPr>
          <p:grpSpPr>
            <a:xfrm>
              <a:off x="6695587" y="2505661"/>
              <a:ext cx="4541832" cy="3750340"/>
              <a:chOff x="6245690" y="2505661"/>
              <a:chExt cx="4541832" cy="375034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0FA2FEA-7BEA-E62A-C430-ABF611962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1419" y="3493365"/>
                <a:ext cx="3210373" cy="276263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9791A7-68A4-7211-9B53-9E5BF6FF9236}"/>
                  </a:ext>
                </a:extLst>
              </p:cNvPr>
              <p:cNvSpPr txBox="1"/>
              <p:nvPr/>
            </p:nvSpPr>
            <p:spPr>
              <a:xfrm>
                <a:off x="6245690" y="2505661"/>
                <a:ext cx="4541832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r-HR" sz="2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Asimetrično zašumljivanje,</a:t>
                </a:r>
              </a:p>
              <a:p>
                <a:pPr algn="ctr"/>
                <a:r>
                  <a:rPr lang="hr-HR" sz="2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stopa šuma 40%</a:t>
                </a: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61EFA3-AB36-013E-65D4-EB55E2BF6CAD}"/>
              </a:ext>
            </a:extLst>
          </p:cNvPr>
          <p:cNvSpPr txBox="1">
            <a:spLocks/>
          </p:cNvSpPr>
          <p:nvPr/>
        </p:nvSpPr>
        <p:spPr>
          <a:xfrm>
            <a:off x="1038170" y="1615736"/>
            <a:ext cx="10143831" cy="750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oznaka </a:t>
            </a:r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 prije imena algoritma – rezultat iz rada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hr-HR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chen24neurips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hr-HR" sz="2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35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37ED-2E23-2DD0-BB70-C02326F8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0789-C644-35FA-BA66-1D6B1A75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775834" cy="1397124"/>
          </a:xfrm>
        </p:spPr>
        <p:txBody>
          <a:bodyPr>
            <a:normAutofit/>
          </a:bodyPr>
          <a:lstStyle/>
          <a:p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Zašumljene oznake, validacija VIBE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B1577-BDC0-CBEF-44A8-E41624B7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98630-F672-5C62-48CB-90DB6179F117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54A31-BDBD-F96A-80E0-00AFC08C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348" y="1988413"/>
            <a:ext cx="5553850" cy="2105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C65AD1-5842-2E7A-2ABB-9E3C1D6C3818}"/>
              </a:ext>
            </a:extLst>
          </p:cNvPr>
          <p:cNvSpPr txBox="1"/>
          <p:nvPr/>
        </p:nvSpPr>
        <p:spPr>
          <a:xfrm>
            <a:off x="2697721" y="4564914"/>
            <a:ext cx="617310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kosinusno kaljenje</a:t>
            </a:r>
            <a:endParaRPr lang="hr-HR" sz="2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konzistencijski gubitak</a:t>
            </a:r>
          </a:p>
          <a:p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 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konzistencijskog gubitka</a:t>
            </a:r>
          </a:p>
          <a:p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hr-H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augmentacija nasumičnog brisanja</a:t>
            </a:r>
            <a:endParaRPr 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58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5EBC-073D-517B-E248-70DBF9FE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584BCB-5F06-51D3-B90B-1CDB2D64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947" y="5229395"/>
            <a:ext cx="5706271" cy="106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0D81D-8C95-0230-DEE8-466204BCC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66" y="2099630"/>
            <a:ext cx="9745435" cy="2124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762BA8-1347-C00A-D4A1-B49C8DFC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294198"/>
            <a:ext cx="10126565" cy="1397124"/>
          </a:xfrm>
        </p:spPr>
        <p:txBody>
          <a:bodyPr>
            <a:noAutofit/>
          </a:bodyPr>
          <a:lstStyle/>
          <a:p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Zašumljene oznake, validacija SotA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F8701-D8F5-C0E7-6702-BF4069BFE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EED21-DB1C-2B5E-33BA-61CD8CD7D67E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A5770F-0A1D-E444-C177-F807D77522BA}"/>
              </a:ext>
            </a:extLst>
          </p:cNvPr>
          <p:cNvSpPr txBox="1"/>
          <p:nvPr/>
        </p:nvSpPr>
        <p:spPr>
          <a:xfrm>
            <a:off x="3556169" y="1607187"/>
            <a:ext cx="4541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SOP+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2F103-EEC4-9CEB-5F08-DCB3F2DEB1F0}"/>
              </a:ext>
            </a:extLst>
          </p:cNvPr>
          <p:cNvSpPr txBox="1"/>
          <p:nvPr/>
        </p:nvSpPr>
        <p:spPr>
          <a:xfrm>
            <a:off x="3556169" y="4736952"/>
            <a:ext cx="4541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ILL</a:t>
            </a:r>
          </a:p>
        </p:txBody>
      </p:sp>
    </p:spTree>
    <p:extLst>
      <p:ext uri="{BB962C8B-B14F-4D97-AF65-F5344CB8AC3E}">
        <p14:creationId xmlns:p14="http://schemas.microsoft.com/office/powerpoint/2010/main" val="395131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6CCA-F5B1-4AB2-3585-B28D5D24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247E-C733-AAE7-7F97-10810314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294198"/>
            <a:ext cx="10126565" cy="1397124"/>
          </a:xfrm>
        </p:spPr>
        <p:txBody>
          <a:bodyPr>
            <a:noAutofit/>
          </a:bodyPr>
          <a:lstStyle/>
          <a:p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sz="4000" dirty="0">
                <a:latin typeface="Arial" panose="020B0604020202020204" pitchFamily="34" charset="0"/>
                <a:cs typeface="Arial" panose="020B0604020202020204" pitchFamily="34" charset="0"/>
              </a:rPr>
              <a:t>Zašumljene oznake, validacija CE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sz="4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C0CBB-AFB1-8391-B6C8-0FCC7193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3D876-80B6-2E5E-A8E7-B1C35C1284F8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452F31-ADA5-19AE-CA10-5ED078396C29}"/>
              </a:ext>
            </a:extLst>
          </p:cNvPr>
          <p:cNvSpPr txBox="1"/>
          <p:nvPr/>
        </p:nvSpPr>
        <p:spPr>
          <a:xfrm>
            <a:off x="3686540" y="1664304"/>
            <a:ext cx="45418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adzirano učenje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1EF54-08AA-7D61-D8D1-F5E586D0EA92}"/>
              </a:ext>
            </a:extLst>
          </p:cNvPr>
          <p:cNvSpPr txBox="1"/>
          <p:nvPr/>
        </p:nvSpPr>
        <p:spPr>
          <a:xfrm>
            <a:off x="2126621" y="4253824"/>
            <a:ext cx="7661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Nadzirano učenje s konzistencijskim gubitkom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13248-CD5B-5CD1-13F5-7A7E8CB6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13" y="2246175"/>
            <a:ext cx="6982799" cy="1467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345826-227D-2445-F058-BDBAEE756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97" y="4830886"/>
            <a:ext cx="691611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87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34F9-0ADB-9EC4-1D97-1016918A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D733-7709-9166-C56B-E4EA70C1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5738"/>
            <a:ext cx="9775834" cy="1382062"/>
          </a:xfrm>
        </p:spPr>
        <p:txBody>
          <a:bodyPr>
            <a:normAutofit fontScale="90000"/>
          </a:bodyPr>
          <a:lstStyle/>
          <a:p>
            <a:b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Napadi, usporedba sa SotA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r-HR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8DC4E-B479-5A44-FAFE-698FE1A3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F4C28-5349-66F9-F1E6-92F7B7A0B351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8E4ED2-4130-4F26-CA7A-B8D32B79D480}"/>
              </a:ext>
            </a:extLst>
          </p:cNvPr>
          <p:cNvSpPr txBox="1">
            <a:spLocks/>
          </p:cNvSpPr>
          <p:nvPr/>
        </p:nvSpPr>
        <p:spPr>
          <a:xfrm>
            <a:off x="1038169" y="1010777"/>
            <a:ext cx="10143831" cy="750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spc="1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oznaka </a:t>
            </a:r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 prije imena algoritma – rezultat iz rada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sabolic25iccv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BB18CE-5CE4-9602-07DA-67086A27AEE8}"/>
              </a:ext>
            </a:extLst>
          </p:cNvPr>
          <p:cNvGrpSpPr/>
          <p:nvPr/>
        </p:nvGrpSpPr>
        <p:grpSpPr>
          <a:xfrm>
            <a:off x="949577" y="1535306"/>
            <a:ext cx="9868538" cy="5165441"/>
            <a:chOff x="949577" y="1535306"/>
            <a:chExt cx="9868538" cy="516544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2243BF8-629F-44DB-0405-E099E156A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9741" y="4624007"/>
              <a:ext cx="4582164" cy="207674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43687AB-90A7-D788-42FE-B7F53CE37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9577" y="2026997"/>
              <a:ext cx="4639322" cy="209579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653B42-6214-3D0F-D63D-5007E0890338}"/>
                </a:ext>
              </a:extLst>
            </p:cNvPr>
            <p:cNvSpPr txBox="1"/>
            <p:nvPr/>
          </p:nvSpPr>
          <p:spPr>
            <a:xfrm>
              <a:off x="2442787" y="1535307"/>
              <a:ext cx="165290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BadNets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44A51E-3430-78F3-E6E6-1A27B147E5BA}"/>
                </a:ext>
              </a:extLst>
            </p:cNvPr>
            <p:cNvSpPr txBox="1"/>
            <p:nvPr/>
          </p:nvSpPr>
          <p:spPr>
            <a:xfrm>
              <a:off x="7681529" y="1535306"/>
              <a:ext cx="165290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Blend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607CDCD-2CCC-7111-0B0F-3C56C6354B35}"/>
                </a:ext>
              </a:extLst>
            </p:cNvPr>
            <p:cNvSpPr txBox="1"/>
            <p:nvPr/>
          </p:nvSpPr>
          <p:spPr>
            <a:xfrm>
              <a:off x="5054372" y="4131564"/>
              <a:ext cx="165290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r-HR" sz="2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WaNet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C6D5ADC-1B79-4DCF-4A3A-DB02FAFDF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7845" y="2026997"/>
              <a:ext cx="4620270" cy="2095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9540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6645-D322-A531-75BD-FE8E86A7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93DB-69FE-5597-1038-5CB5BD5F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Zaključak i budući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2FBCF-6FB3-4A04-3A73-23E3114B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966635" cy="4735002"/>
          </a:xfrm>
        </p:spPr>
        <p:txBody>
          <a:bodyPr>
            <a:normAutofit lnSpcReduction="10000"/>
          </a:bodyPr>
          <a:lstStyle/>
          <a:p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osnovnu inačicu VIBE-a nadogradili smo korištenjem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kosinusnog kaljenja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te dodavanjem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konzistencijskog gubitka</a:t>
            </a:r>
          </a:p>
          <a:p>
            <a:pPr marL="0" indent="0">
              <a:buNone/>
            </a:pP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Zašumljene oznake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osnovna inačica VIBE-a postiže lošije rezultate od SotA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nadograđena inačica VIBE-a postiže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najbolje rezultate u teškim postavima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dodavanje konzistencijskog gubitka nadziranom učenju može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značajno povećati točnost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naučenih modela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9BA0C-F9A5-26FD-2A89-4DFCC3A5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AF7285-2C2A-3F7E-F910-A7BADBD2725F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90422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3F277-45B8-6CFD-9D7C-B98DCDAA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3256-68C7-2EB3-EC28-D09A0FAD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>
                <a:latin typeface="Arial" panose="020B0604020202020204" pitchFamily="34" charset="0"/>
                <a:cs typeface="Arial" panose="020B0604020202020204" pitchFamily="34" charset="0"/>
              </a:rPr>
              <a:t>Zaključak i budući rad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AB14-0488-B4DC-5B1D-4C2E87B09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44715"/>
            <a:ext cx="9267584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Napadi umetanjem stražnjih vrata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osnovna inačica VIBE-a postiže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najvišu točnost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, ali ne i najniži ASR u usporedbi sa SotA na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3 različita napada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nadograđena inačica VIBE-a postiže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najvišu točnost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, kao i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 najniži ASR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 u usporedbi s osnovnom inačicom VIBE-a te SotA na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/3 r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azličita napada</a:t>
            </a:r>
          </a:p>
          <a:p>
            <a:pPr lvl="1"/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Budući rad</a:t>
            </a: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primjena nadograđene inačice VIBE-a na </a:t>
            </a:r>
            <a:r>
              <a:rPr lang="hr-HR" sz="2600" b="1" dirty="0">
                <a:latin typeface="Arial" panose="020B0604020202020204" pitchFamily="34" charset="0"/>
                <a:cs typeface="Arial" panose="020B0604020202020204" pitchFamily="34" charset="0"/>
              </a:rPr>
              <a:t>problem učenja na djelomičnim oznakama 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(engl. </a:t>
            </a:r>
            <a:r>
              <a:rPr lang="hr-HR" sz="2600" i="1" dirty="0">
                <a:latin typeface="Arial" panose="020B0604020202020204" pitchFamily="34" charset="0"/>
                <a:cs typeface="Arial" panose="020B0604020202020204" pitchFamily="34" charset="0"/>
              </a:rPr>
              <a:t>partial label learning</a:t>
            </a: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hr-H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dodatni eksperimenti u vezi dodavanja konzistencijskog gubitka nadziranom učenju</a:t>
            </a:r>
          </a:p>
          <a:p>
            <a:pPr marL="0" indent="0">
              <a:buNone/>
            </a:pPr>
            <a:endParaRPr lang="hr-H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699EC-F442-0E43-B766-D3E31E56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425D5-3F46-1A20-29B4-55183106D2EC}"/>
              </a:ext>
            </a:extLst>
          </p:cNvPr>
          <p:cNvSpPr txBox="1"/>
          <p:nvPr/>
        </p:nvSpPr>
        <p:spPr>
          <a:xfrm>
            <a:off x="10228507" y="6073019"/>
            <a:ext cx="8091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4112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C9F9-911B-E360-F68E-AC14538E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27CA-E20B-2F39-A3AF-D15DDDD3C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Diskusija</a:t>
            </a:r>
          </a:p>
        </p:txBody>
      </p:sp>
    </p:spTree>
    <p:extLst>
      <p:ext uri="{BB962C8B-B14F-4D97-AF65-F5344CB8AC3E}">
        <p14:creationId xmlns:p14="http://schemas.microsoft.com/office/powerpoint/2010/main" val="3897778742"/>
      </p:ext>
    </p:extLst>
  </p:cSld>
  <p:clrMapOvr>
    <a:masterClrMapping/>
  </p:clrMapOvr>
</p:sld>
</file>

<file path=ppt/theme/theme1.xml><?xml version="1.0" encoding="utf-8"?>
<a:theme xmlns:a="http://schemas.openxmlformats.org/drawingml/2006/main" name="Seminar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minar" id="{8905F78F-715B-44EB-B91B-BC9638ADD0FA}" vid="{2B12E160-07C0-455A-A8E7-66913EDE5A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Seminar</Template>
  <TotalTime>797</TotalTime>
  <Words>688</Words>
  <Application>Microsoft Office PowerPoint</Application>
  <PresentationFormat>Widescreen</PresentationFormat>
  <Paragraphs>156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Century Schoolbook</vt:lpstr>
      <vt:lpstr>Wingdings 2</vt:lpstr>
      <vt:lpstr>Seminar</vt:lpstr>
      <vt:lpstr>Varijacijsko učenje na zašumljenim oznakama</vt:lpstr>
      <vt:lpstr>Sadržaj</vt:lpstr>
      <vt:lpstr>Uvod</vt:lpstr>
      <vt:lpstr>Napadi umetanjem stražnjih vrata</vt:lpstr>
      <vt:lpstr>Neke vrste okidača</vt:lpstr>
      <vt:lpstr>Zašumljene oznake</vt:lpstr>
      <vt:lpstr>Okvir VIBE</vt:lpstr>
      <vt:lpstr>Okvir VIBE</vt:lpstr>
      <vt:lpstr>Okvir VIBE</vt:lpstr>
      <vt:lpstr>Konzistencijski gubitak</vt:lpstr>
      <vt:lpstr>Eksperimenti</vt:lpstr>
      <vt:lpstr>Skup podataka CIFAR-10</vt:lpstr>
      <vt:lpstr>Postavke eksperimenata</vt:lpstr>
      <vt:lpstr>Postavke eksperimenata</vt:lpstr>
      <vt:lpstr>Čisti skup, usporedba sa SotA </vt:lpstr>
      <vt:lpstr>Zašumljene oznake, usporedba sa SotA </vt:lpstr>
      <vt:lpstr>Zašumljene oznake, validacija VIBE </vt:lpstr>
      <vt:lpstr> Zašumljene oznake, validacija SotA </vt:lpstr>
      <vt:lpstr> Zašumljene oznake, validacija CE </vt:lpstr>
      <vt:lpstr> Napadi, usporedba sa SotA </vt:lpstr>
      <vt:lpstr>Zaključak i budući rad</vt:lpstr>
      <vt:lpstr>Zaključak i budući rad</vt:lpstr>
      <vt:lpstr>Diskusija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27</cp:revision>
  <dcterms:created xsi:type="dcterms:W3CDTF">2025-01-25T17:12:03Z</dcterms:created>
  <dcterms:modified xsi:type="dcterms:W3CDTF">2025-07-10T00:52:47Z</dcterms:modified>
</cp:coreProperties>
</file>